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embeddedFontLst>
    <p:embeddedFont>
      <p:font typeface="MiSans" pitchFamily="2" charset="-122"/>
      <p:regular r:id="rId16"/>
    </p:embeddedFont>
    <p:embeddedFont>
      <p:font typeface="Liter" panose="02000503030000020004" pitchFamily="2" charset="0"/>
      <p:regular r:id="rId17"/>
    </p:embeddedFont>
    <p:embeddedFont>
      <p:font typeface="Quattrocento Sans" panose="020B0502050000020003" pitchFamily="34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90" d="100"/>
          <a:sy n="90" d="100"/>
        </p:scale>
        <p:origin x="4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Supplied Socratic AI Design Thinking Assistant architecture deck</a:t>
            </a:r>
          </a:p>
          <a:p>
            <a:r>
              <a:t>- README.md</a:t>
            </a:r>
          </a:p>
          <a:p>
            <a:r>
              <a:t>- docs/research/METHODOLOGY.md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Repository implementation and docs/IMPLEMENTATION_STATUS.md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Original Replit/deck comparison</a:t>
            </a:r>
          </a:p>
          <a:p>
            <a:r>
              <a:t>- docs/LOCAL_DEMO_IMPLEMENTATION.md</a:t>
            </a:r>
          </a:p>
          <a:p>
            <a:r>
              <a:t>- docs/IMPLEMENTATION_STATUS.md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backend/student_journey.py</a:t>
            </a:r>
          </a:p>
          <a:p>
            <a:r>
              <a:t>- backend/workflow.py</a:t>
            </a:r>
          </a:p>
          <a:p>
            <a:r>
              <a:t>- backend/prompts/stages/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Yang, Bai &amp; Yeung (2025), DOI 10.1109/TALE66047.2025.11346605</a:t>
            </a:r>
          </a:p>
          <a:p>
            <a:r>
              <a:t>- Lo (2023), DOI 10.1016/j.acalib.2023.102720</a:t>
            </a:r>
          </a:p>
          <a:p>
            <a:r>
              <a:t>- Facione (1990); Facione &amp; Facione (1994)</a:t>
            </a:r>
          </a:p>
          <a:p>
            <a:r>
              <a:t>- Jang, Choi &amp; Kim (2022), DOI 10.1007/s10639-022-11086-5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ui/studio.py</a:t>
            </a:r>
          </a:p>
          <a:p>
            <a:r>
              <a:t>- ui/chat.py</a:t>
            </a:r>
          </a:p>
          <a:p>
            <a:r>
              <a:t>- ui/sources.py</a:t>
            </a:r>
          </a:p>
          <a:p>
            <a:r>
              <a:t>- ui/professor.py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backend/application.py</a:t>
            </a:r>
          </a:p>
          <a:p>
            <a:r>
              <a:t>- backend/workflow.py</a:t>
            </a:r>
          </a:p>
          <a:p>
            <a:r>
              <a:t>- backend/student_store.py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backend/api.py</a:t>
            </a:r>
          </a:p>
          <a:p>
            <a:r>
              <a:t>- backend/auth_routes.py</a:t>
            </a:r>
          </a:p>
          <a:p>
            <a:r>
              <a:t>- backend/providers.py</a:t>
            </a:r>
          </a:p>
          <a:p>
            <a:r>
              <a:t>- docs/providers/BEDROCK_ADAPTER.md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backend/student_store.py</a:t>
            </a:r>
          </a:p>
          <a:p>
            <a:r>
              <a:t>- backend/persistence/dsql_schema.py</a:t>
            </a:r>
          </a:p>
          <a:p>
            <a:r>
              <a:t>- docs/operations/RESEARCH_DATA_RESET.md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backend/professor_analytics/research.py</a:t>
            </a:r>
          </a:p>
          <a:p>
            <a:r>
              <a:t>- backend/research/models.py</a:t>
            </a:r>
          </a:p>
          <a:p>
            <a:r>
              <a:t>- ui/professor.py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tests/ deterministic suite (456 passed on 2026-08-14)</a:t>
            </a:r>
          </a:p>
          <a:p>
            <a:r>
              <a:t>- docs/IMPLEMENTATION_STATUS.md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docs/research/METHODOLOGY.md</a:t>
            </a:r>
          </a:p>
          <a:p>
            <a:r>
              <a:t>- docs/providers/BEDROCK_ADAPTER.md</a:t>
            </a:r>
          </a:p>
          <a:p>
            <a:r>
              <a:t>- docs/IMPLEMENTATION_STATUS.md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Repository implementation and research methodology documentation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FC3C310C-F271-452F-B53F-D8635ABC34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1A1D21">
                  <a:alpha val="95000"/>
                </a:srgbClr>
              </a:gs>
              <a:gs pos="50000">
                <a:srgbClr val="4A6D8A">
                  <a:alpha val="2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B04C58B1-FB5D-41BF-8424-ABB555F8F2F3}"/>
              </a:ext>
            </a:extLst>
          </p:cNvPr>
          <p:cNvSpPr>
            <a:spLocks noGrp="1"/>
          </p:cNvSpPr>
          <p:nvPr/>
        </p:nvSpPr>
        <p:spPr>
          <a:xfrm>
            <a:off x="533400" y="1380490"/>
            <a:ext cx="3213100" cy="508000"/>
          </a:xfrm>
          <a:custGeom>
            <a:avLst/>
            <a:gdLst/>
            <a:ahLst/>
            <a:cxnLst/>
            <a:rect l="l" t="t" r="r" b="b"/>
            <a:pathLst>
              <a:path w="3213100" h="508000">
                <a:moveTo>
                  <a:pt x="0" y="0"/>
                </a:moveTo>
                <a:lnTo>
                  <a:pt x="3213100" y="0"/>
                </a:lnTo>
                <a:lnTo>
                  <a:pt x="32131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>
              <a:alpha val="1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A58AF3A-38EE-4128-AFEB-9B13549D0849}"/>
              </a:ext>
            </a:extLst>
          </p:cNvPr>
          <p:cNvSpPr>
            <a:spLocks noGrp="1"/>
          </p:cNvSpPr>
          <p:nvPr/>
        </p:nvSpPr>
        <p:spPr>
          <a:xfrm>
            <a:off x="533400" y="138049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D02990-32DD-499F-9D5E-1D9AEE5323DC}"/>
              </a:ext>
            </a:extLst>
          </p:cNvPr>
          <p:cNvSpPr>
            <a:spLocks noGrp="1"/>
          </p:cNvSpPr>
          <p:nvPr/>
        </p:nvSpPr>
        <p:spPr>
          <a:xfrm>
            <a:off x="863600" y="1543050"/>
            <a:ext cx="2667476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 spc="280">
                <a:solidFill>
                  <a:srgbClr val="C8A97E"/>
                </a:solidFill>
                <a:latin typeface="Quattrocento Sans"/>
                <a:ea typeface="Quattrocento Sans"/>
                <a:cs typeface="Quattrocento Sans"/>
              </a:rPr>
              <a:t>SYSTEM DOCUMENTATION</a:t>
            </a:r>
            <a:endParaRPr sz="16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BFA0EA0-85D3-41EF-9F34-4086C1CD4CDC}"/>
              </a:ext>
            </a:extLst>
          </p:cNvPr>
          <p:cNvSpPr>
            <a:spLocks noGrp="1"/>
          </p:cNvSpPr>
          <p:nvPr/>
        </p:nvSpPr>
        <p:spPr>
          <a:xfrm>
            <a:off x="508000" y="2193290"/>
            <a:ext cx="11836400" cy="302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90000"/>
              </a:lnSpc>
              <a:buNone/>
            </a:pPr>
            <a:r>
              <a:rPr sz="72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CDE2300</a:t>
            </a:r>
            <a:endParaRPr sz="1600"/>
          </a:p>
          <a:p>
            <a:pPr>
              <a:lnSpc>
                <a:spcPct val="90000"/>
              </a:lnSpc>
              <a:buNone/>
            </a:pPr>
            <a:r>
              <a:rPr sz="72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Design Thinking</a:t>
            </a:r>
            <a:endParaRPr sz="1600"/>
          </a:p>
          <a:p>
            <a:pPr>
              <a:lnSpc>
                <a:spcPct val="90000"/>
              </a:lnSpc>
              <a:buNone/>
            </a:pPr>
            <a:r>
              <a:rPr sz="72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Companion</a:t>
            </a:r>
            <a:endParaRPr sz="16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E71DE3B-149C-4AB2-9383-5A873101F1C8}"/>
              </a:ext>
            </a:extLst>
          </p:cNvPr>
          <p:cNvSpPr>
            <a:spLocks noGrp="1"/>
          </p:cNvSpPr>
          <p:nvPr/>
        </p:nvSpPr>
        <p:spPr>
          <a:xfrm>
            <a:off x="508000" y="5617210"/>
            <a:ext cx="86614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40000"/>
              </a:lnSpc>
              <a:buNone/>
            </a:pPr>
            <a:r>
              <a:rPr sz="2000" dirty="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A research-ready learning workspace that develops project reasoning through Socratic coaching, evidence and reflection</a:t>
            </a:r>
            <a:endParaRPr sz="16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CD90ED1D-8F54-4399-A088-3B891CBC2B11}"/>
              </a:ext>
            </a:extLst>
          </p:cNvPr>
          <p:cNvSpPr>
            <a:spLocks noGrp="1"/>
          </p:cNvSpPr>
          <p:nvPr/>
        </p:nvSpPr>
        <p:spPr>
          <a:xfrm>
            <a:off x="508000" y="705231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50801" y="0"/>
                </a:moveTo>
                <a:lnTo>
                  <a:pt x="660399" y="0"/>
                </a:lnTo>
                <a:cubicBezTo>
                  <a:pt x="688456" y="0"/>
                  <a:pt x="711200" y="22744"/>
                  <a:pt x="711200" y="50801"/>
                </a:cubicBezTo>
                <a:lnTo>
                  <a:pt x="711200" y="660399"/>
                </a:lnTo>
                <a:cubicBezTo>
                  <a:pt x="711200" y="688456"/>
                  <a:pt x="688456" y="711200"/>
                  <a:pt x="6603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6D8A">
              <a:alpha val="3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FAED51C5-454B-4C06-AA57-F24E05E20B5F}"/>
              </a:ext>
            </a:extLst>
          </p:cNvPr>
          <p:cNvSpPr>
            <a:spLocks noGrp="1"/>
          </p:cNvSpPr>
          <p:nvPr/>
        </p:nvSpPr>
        <p:spPr>
          <a:xfrm>
            <a:off x="711200" y="725551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061EB5B-86F7-4A15-9C3A-EA6316FE9B3B}"/>
              </a:ext>
            </a:extLst>
          </p:cNvPr>
          <p:cNvSpPr>
            <a:spLocks noGrp="1"/>
          </p:cNvSpPr>
          <p:nvPr/>
        </p:nvSpPr>
        <p:spPr>
          <a:xfrm>
            <a:off x="1371600" y="7077869"/>
            <a:ext cx="635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PHASES</a:t>
            </a:r>
            <a:endParaRPr sz="16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DF9DC1D-38F6-41E0-B163-5064D11D69DC}"/>
              </a:ext>
            </a:extLst>
          </p:cNvPr>
          <p:cNvSpPr>
            <a:spLocks noGrp="1"/>
          </p:cNvSpPr>
          <p:nvPr/>
        </p:nvSpPr>
        <p:spPr>
          <a:xfrm>
            <a:off x="1371600" y="7331710"/>
            <a:ext cx="7112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24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5</a:t>
            </a:r>
            <a:endParaRPr sz="160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99521CD3-B4B8-4373-B344-97DF9D1E6EBD}"/>
              </a:ext>
            </a:extLst>
          </p:cNvPr>
          <p:cNvSpPr>
            <a:spLocks noGrp="1"/>
          </p:cNvSpPr>
          <p:nvPr/>
        </p:nvSpPr>
        <p:spPr>
          <a:xfrm>
            <a:off x="2533650" y="705231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50801" y="0"/>
                </a:moveTo>
                <a:lnTo>
                  <a:pt x="660399" y="0"/>
                </a:lnTo>
                <a:cubicBezTo>
                  <a:pt x="688456" y="0"/>
                  <a:pt x="711200" y="22744"/>
                  <a:pt x="711200" y="50801"/>
                </a:cubicBezTo>
                <a:lnTo>
                  <a:pt x="711200" y="660399"/>
                </a:lnTo>
                <a:cubicBezTo>
                  <a:pt x="711200" y="688456"/>
                  <a:pt x="688456" y="711200"/>
                  <a:pt x="6603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6D8A">
              <a:alpha val="3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CCCD3519-0E59-4478-B6A6-1DAC1E9E7D38}"/>
              </a:ext>
            </a:extLst>
          </p:cNvPr>
          <p:cNvSpPr>
            <a:spLocks noGrp="1"/>
          </p:cNvSpPr>
          <p:nvPr/>
        </p:nvSpPr>
        <p:spPr>
          <a:xfrm>
            <a:off x="2736850" y="725551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21769EF-12DF-4FF2-9B83-154F25460DE2}"/>
              </a:ext>
            </a:extLst>
          </p:cNvPr>
          <p:cNvSpPr>
            <a:spLocks noGrp="1"/>
          </p:cNvSpPr>
          <p:nvPr/>
        </p:nvSpPr>
        <p:spPr>
          <a:xfrm>
            <a:off x="3397250" y="7077869"/>
            <a:ext cx="1778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FRAMEWORKS</a:t>
            </a:r>
            <a:endParaRPr sz="160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5ED8213-D798-4509-9FA0-C9E599E1AF85}"/>
              </a:ext>
            </a:extLst>
          </p:cNvPr>
          <p:cNvSpPr>
            <a:spLocks noGrp="1"/>
          </p:cNvSpPr>
          <p:nvPr/>
        </p:nvSpPr>
        <p:spPr>
          <a:xfrm>
            <a:off x="3397250" y="7345998"/>
            <a:ext cx="215646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2400" b="1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CLEAR,</a:t>
            </a:r>
            <a:r>
              <a:rPr lang="en-US" sz="2400" b="1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 </a:t>
            </a:r>
            <a:r>
              <a:rPr sz="2400" b="1" dirty="0" err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Facione</a:t>
            </a:r>
            <a:endParaRPr sz="16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7B66B4F2-1C8D-4B09-B74B-454119B52877}"/>
              </a:ext>
            </a:extLst>
          </p:cNvPr>
          <p:cNvSpPr>
            <a:spLocks noGrp="1"/>
          </p:cNvSpPr>
          <p:nvPr/>
        </p:nvSpPr>
        <p:spPr>
          <a:xfrm>
            <a:off x="5706110" y="705231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50801" y="0"/>
                </a:moveTo>
                <a:lnTo>
                  <a:pt x="660399" y="0"/>
                </a:lnTo>
                <a:cubicBezTo>
                  <a:pt x="688456" y="0"/>
                  <a:pt x="711200" y="22744"/>
                  <a:pt x="711200" y="50801"/>
                </a:cubicBezTo>
                <a:lnTo>
                  <a:pt x="711200" y="660399"/>
                </a:lnTo>
                <a:cubicBezTo>
                  <a:pt x="711200" y="688456"/>
                  <a:pt x="688456" y="711200"/>
                  <a:pt x="6603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6D8A">
              <a:alpha val="3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DFBF037B-A91F-4B4A-8EEF-BC595FE67957}"/>
              </a:ext>
            </a:extLst>
          </p:cNvPr>
          <p:cNvSpPr>
            <a:spLocks noGrp="1"/>
          </p:cNvSpPr>
          <p:nvPr/>
        </p:nvSpPr>
        <p:spPr>
          <a:xfrm>
            <a:off x="5928360" y="725551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95250"/>
                </a:lnTo>
                <a:cubicBezTo>
                  <a:pt x="0" y="116265"/>
                  <a:pt x="17085" y="133350"/>
                  <a:pt x="38100" y="133350"/>
                </a:cubicBezTo>
                <a:lnTo>
                  <a:pt x="228600" y="133350"/>
                </a:lnTo>
                <a:cubicBezTo>
                  <a:pt x="249615" y="133350"/>
                  <a:pt x="266700" y="116265"/>
                  <a:pt x="266700" y="95250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  <a:moveTo>
                  <a:pt x="166688" y="61912"/>
                </a:moveTo>
                <a:cubicBezTo>
                  <a:pt x="174573" y="61912"/>
                  <a:pt x="180975" y="68315"/>
                  <a:pt x="180975" y="76200"/>
                </a:cubicBezTo>
                <a:cubicBezTo>
                  <a:pt x="180975" y="84085"/>
                  <a:pt x="174573" y="90488"/>
                  <a:pt x="166688" y="90488"/>
                </a:cubicBezTo>
                <a:cubicBezTo>
                  <a:pt x="158802" y="90488"/>
                  <a:pt x="152400" y="84085"/>
                  <a:pt x="152400" y="76200"/>
                </a:cubicBezTo>
                <a:cubicBezTo>
                  <a:pt x="152400" y="68315"/>
                  <a:pt x="158802" y="61912"/>
                  <a:pt x="166688" y="61912"/>
                </a:cubicBezTo>
                <a:close/>
                <a:moveTo>
                  <a:pt x="200025" y="76200"/>
                </a:moveTo>
                <a:cubicBezTo>
                  <a:pt x="200025" y="68315"/>
                  <a:pt x="206427" y="61912"/>
                  <a:pt x="214313" y="61912"/>
                </a:cubicBezTo>
                <a:cubicBezTo>
                  <a:pt x="222198" y="61912"/>
                  <a:pt x="228600" y="68315"/>
                  <a:pt x="228600" y="76200"/>
                </a:cubicBezTo>
                <a:cubicBezTo>
                  <a:pt x="228600" y="84085"/>
                  <a:pt x="222198" y="90488"/>
                  <a:pt x="214313" y="90488"/>
                </a:cubicBezTo>
                <a:cubicBezTo>
                  <a:pt x="206427" y="90488"/>
                  <a:pt x="200025" y="84085"/>
                  <a:pt x="200025" y="76200"/>
                </a:cubicBezTo>
                <a:close/>
                <a:moveTo>
                  <a:pt x="38100" y="171450"/>
                </a:moveTo>
                <a:cubicBezTo>
                  <a:pt x="17085" y="171450"/>
                  <a:pt x="0" y="188535"/>
                  <a:pt x="0" y="2095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209550"/>
                </a:lnTo>
                <a:cubicBezTo>
                  <a:pt x="266700" y="188535"/>
                  <a:pt x="249615" y="171450"/>
                  <a:pt x="228600" y="171450"/>
                </a:cubicBezTo>
                <a:lnTo>
                  <a:pt x="38100" y="171450"/>
                </a:lnTo>
                <a:close/>
                <a:moveTo>
                  <a:pt x="166688" y="214313"/>
                </a:moveTo>
                <a:cubicBezTo>
                  <a:pt x="174573" y="214313"/>
                  <a:pt x="180975" y="220715"/>
                  <a:pt x="180975" y="228600"/>
                </a:cubicBezTo>
                <a:cubicBezTo>
                  <a:pt x="180975" y="236485"/>
                  <a:pt x="174573" y="242888"/>
                  <a:pt x="166688" y="242888"/>
                </a:cubicBezTo>
                <a:cubicBezTo>
                  <a:pt x="158802" y="242888"/>
                  <a:pt x="152400" y="236485"/>
                  <a:pt x="152400" y="228600"/>
                </a:cubicBezTo>
                <a:cubicBezTo>
                  <a:pt x="152400" y="220715"/>
                  <a:pt x="158802" y="214313"/>
                  <a:pt x="166688" y="214313"/>
                </a:cubicBezTo>
                <a:close/>
                <a:moveTo>
                  <a:pt x="200025" y="228600"/>
                </a:moveTo>
                <a:cubicBezTo>
                  <a:pt x="200025" y="220715"/>
                  <a:pt x="206427" y="214313"/>
                  <a:pt x="214313" y="214313"/>
                </a:cubicBezTo>
                <a:cubicBezTo>
                  <a:pt x="222198" y="214313"/>
                  <a:pt x="228600" y="220715"/>
                  <a:pt x="228600" y="228600"/>
                </a:cubicBezTo>
                <a:cubicBezTo>
                  <a:pt x="228600" y="236485"/>
                  <a:pt x="222198" y="242888"/>
                  <a:pt x="214313" y="242888"/>
                </a:cubicBezTo>
                <a:cubicBezTo>
                  <a:pt x="206427" y="242888"/>
                  <a:pt x="200025" y="236485"/>
                  <a:pt x="200025" y="228600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009A770-1CA4-4C0E-8C01-2E5439287C00}"/>
              </a:ext>
            </a:extLst>
          </p:cNvPr>
          <p:cNvSpPr>
            <a:spLocks noGrp="1"/>
          </p:cNvSpPr>
          <p:nvPr/>
        </p:nvSpPr>
        <p:spPr>
          <a:xfrm>
            <a:off x="6569710" y="7077869"/>
            <a:ext cx="8255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PLATFORM</a:t>
            </a:r>
            <a:endParaRPr sz="160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8FC62F70-AD10-4480-ADAB-88955BA0DCDB}"/>
              </a:ext>
            </a:extLst>
          </p:cNvPr>
          <p:cNvSpPr>
            <a:spLocks noGrp="1"/>
          </p:cNvSpPr>
          <p:nvPr/>
        </p:nvSpPr>
        <p:spPr>
          <a:xfrm>
            <a:off x="6569710" y="7331710"/>
            <a:ext cx="9017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24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AWS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067884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BAB9EA-1959-41B9-8E41-4067ACE38E7E}"/>
              </a:ext>
            </a:extLst>
          </p:cNvPr>
          <p:cNvSpPr>
            <a:spLocks noGrp="1"/>
          </p:cNvSpPr>
          <p:nvPr/>
        </p:nvSpPr>
        <p:spPr>
          <a:xfrm>
            <a:off x="508000" y="6604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F4C682-BD94-4B24-BBEC-DDCF3EA81099}"/>
              </a:ext>
            </a:extLst>
          </p:cNvPr>
          <p:cNvSpPr>
            <a:spLocks noGrp="1"/>
          </p:cNvSpPr>
          <p:nvPr/>
        </p:nvSpPr>
        <p:spPr>
          <a:xfrm>
            <a:off x="762000" y="508000"/>
            <a:ext cx="6096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spc="7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SYSTEM DOCUMENTATION</a:t>
            </a:r>
            <a:endParaRPr sz="1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CF28F9-93A5-4B16-AA1F-E7BB8A93C81C}"/>
              </a:ext>
            </a:extLst>
          </p:cNvPr>
          <p:cNvSpPr>
            <a:spLocks noGrp="1"/>
          </p:cNvSpPr>
          <p:nvPr/>
        </p:nvSpPr>
        <p:spPr>
          <a:xfrm>
            <a:off x="762000" y="812800"/>
            <a:ext cx="63119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80000"/>
              </a:lnSpc>
              <a:buNone/>
            </a:pPr>
            <a:r>
              <a:rPr sz="48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Project Overview</a:t>
            </a:r>
            <a:endParaRPr sz="1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27F4C12-C151-4BC2-B1FE-A22F729CFA42}"/>
              </a:ext>
            </a:extLst>
          </p:cNvPr>
          <p:cNvSpPr>
            <a:spLocks noGrp="1"/>
          </p:cNvSpPr>
          <p:nvPr/>
        </p:nvSpPr>
        <p:spPr>
          <a:xfrm>
            <a:off x="508000" y="18288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50800" y="0"/>
                </a:moveTo>
                <a:lnTo>
                  <a:pt x="762000" y="0"/>
                </a:lnTo>
                <a:cubicBezTo>
                  <a:pt x="790037" y="0"/>
                  <a:pt x="812800" y="22763"/>
                  <a:pt x="812800" y="50800"/>
                </a:cubicBezTo>
                <a:lnTo>
                  <a:pt x="812800" y="762000"/>
                </a:lnTo>
                <a:cubicBezTo>
                  <a:pt x="812800" y="790037"/>
                  <a:pt x="790037" y="812800"/>
                  <a:pt x="7620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D8A">
              <a:alpha val="3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1E456C4-5AB1-4465-BF91-607B4661416F}"/>
              </a:ext>
            </a:extLst>
          </p:cNvPr>
          <p:cNvSpPr>
            <a:spLocks noGrp="1"/>
          </p:cNvSpPr>
          <p:nvPr/>
        </p:nvSpPr>
        <p:spPr>
          <a:xfrm>
            <a:off x="730250" y="2006600"/>
            <a:ext cx="55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00000"/>
              </a:lnSpc>
              <a:buNone/>
            </a:pPr>
            <a:r>
              <a:rPr sz="3000" b="1">
                <a:solidFill>
                  <a:srgbClr val="C8A97E"/>
                </a:solidFill>
                <a:latin typeface="Quattrocento Sans"/>
                <a:ea typeface="Quattrocento Sans"/>
                <a:cs typeface="Quattrocento Sans"/>
              </a:rPr>
              <a:t>01</a:t>
            </a:r>
            <a:endParaRPr sz="16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7E25703-3A94-4239-8AD9-E5F488A7EF17}"/>
              </a:ext>
            </a:extLst>
          </p:cNvPr>
          <p:cNvSpPr>
            <a:spLocks noGrp="1"/>
          </p:cNvSpPr>
          <p:nvPr/>
        </p:nvSpPr>
        <p:spPr>
          <a:xfrm>
            <a:off x="1524000" y="1828800"/>
            <a:ext cx="65278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20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Project Purpose</a:t>
            </a:r>
            <a:endParaRPr sz="16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37C2DB3-5B34-4502-8A56-71B98ECF457D}"/>
              </a:ext>
            </a:extLst>
          </p:cNvPr>
          <p:cNvSpPr>
            <a:spLocks noGrp="1"/>
          </p:cNvSpPr>
          <p:nvPr/>
        </p:nvSpPr>
        <p:spPr>
          <a:xfrm>
            <a:off x="1524000" y="2286000"/>
            <a:ext cx="65024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Socratic coaching for CDE2300 project thinking, evidence, assumptions and reflection</a:t>
            </a:r>
            <a:endParaRPr sz="16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09C22B6-D552-490E-B926-95A2AD8758D7}"/>
              </a:ext>
            </a:extLst>
          </p:cNvPr>
          <p:cNvSpPr>
            <a:spLocks noGrp="1"/>
          </p:cNvSpPr>
          <p:nvPr/>
        </p:nvSpPr>
        <p:spPr>
          <a:xfrm>
            <a:off x="8331200" y="18288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50800" y="0"/>
                </a:moveTo>
                <a:lnTo>
                  <a:pt x="762000" y="0"/>
                </a:lnTo>
                <a:cubicBezTo>
                  <a:pt x="790037" y="0"/>
                  <a:pt x="812800" y="22763"/>
                  <a:pt x="812800" y="50800"/>
                </a:cubicBezTo>
                <a:lnTo>
                  <a:pt x="812800" y="762000"/>
                </a:lnTo>
                <a:cubicBezTo>
                  <a:pt x="812800" y="790037"/>
                  <a:pt x="790037" y="812800"/>
                  <a:pt x="7620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D8A">
              <a:alpha val="3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A86FDED-80AD-4DDE-9713-C8350659EE4C}"/>
              </a:ext>
            </a:extLst>
          </p:cNvPr>
          <p:cNvSpPr>
            <a:spLocks noGrp="1"/>
          </p:cNvSpPr>
          <p:nvPr/>
        </p:nvSpPr>
        <p:spPr>
          <a:xfrm>
            <a:off x="8516938" y="2006600"/>
            <a:ext cx="635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00000"/>
              </a:lnSpc>
              <a:buNone/>
            </a:pPr>
            <a:r>
              <a:rPr sz="3000" b="1">
                <a:solidFill>
                  <a:srgbClr val="C8A97E"/>
                </a:solidFill>
                <a:latin typeface="Quattrocento Sans"/>
                <a:ea typeface="Quattrocento Sans"/>
                <a:cs typeface="Quattrocento Sans"/>
              </a:rPr>
              <a:t>02</a:t>
            </a:r>
            <a:endParaRPr sz="16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DA62460-BA85-4899-833A-0AC05752436E}"/>
              </a:ext>
            </a:extLst>
          </p:cNvPr>
          <p:cNvSpPr>
            <a:spLocks noGrp="1"/>
          </p:cNvSpPr>
          <p:nvPr/>
        </p:nvSpPr>
        <p:spPr>
          <a:xfrm>
            <a:off x="9347200" y="1828800"/>
            <a:ext cx="65278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20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Educational Brain</a:t>
            </a:r>
            <a:endParaRPr sz="16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7431041-78AF-4B6A-B966-7A0AA64270BF}"/>
              </a:ext>
            </a:extLst>
          </p:cNvPr>
          <p:cNvSpPr>
            <a:spLocks noGrp="1"/>
          </p:cNvSpPr>
          <p:nvPr/>
        </p:nvSpPr>
        <p:spPr>
          <a:xfrm>
            <a:off x="9347200" y="2286000"/>
            <a:ext cx="65024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Five phase prompts, Quick/Strict profiles, Facione reasoning and controlled progression</a:t>
            </a:r>
            <a:endParaRPr sz="16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3F7135A-81D3-43E1-AA25-7903AF0632A3}"/>
              </a:ext>
            </a:extLst>
          </p:cNvPr>
          <p:cNvSpPr>
            <a:spLocks noGrp="1"/>
          </p:cNvSpPr>
          <p:nvPr/>
        </p:nvSpPr>
        <p:spPr>
          <a:xfrm>
            <a:off x="508000" y="32004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50800" y="0"/>
                </a:moveTo>
                <a:lnTo>
                  <a:pt x="762000" y="0"/>
                </a:lnTo>
                <a:cubicBezTo>
                  <a:pt x="790037" y="0"/>
                  <a:pt x="812800" y="22763"/>
                  <a:pt x="812800" y="50800"/>
                </a:cubicBezTo>
                <a:lnTo>
                  <a:pt x="812800" y="762000"/>
                </a:lnTo>
                <a:cubicBezTo>
                  <a:pt x="812800" y="790037"/>
                  <a:pt x="790037" y="812800"/>
                  <a:pt x="7620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D8A">
              <a:alpha val="3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FADBDCB-CEF7-4999-8A99-7C6D7C9CFD83}"/>
              </a:ext>
            </a:extLst>
          </p:cNvPr>
          <p:cNvSpPr>
            <a:spLocks noGrp="1"/>
          </p:cNvSpPr>
          <p:nvPr/>
        </p:nvSpPr>
        <p:spPr>
          <a:xfrm>
            <a:off x="688816" y="3378200"/>
            <a:ext cx="6477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00000"/>
              </a:lnSpc>
              <a:buNone/>
            </a:pPr>
            <a:r>
              <a:rPr sz="3000" b="1">
                <a:solidFill>
                  <a:srgbClr val="C8A97E"/>
                </a:solidFill>
                <a:latin typeface="Quattrocento Sans"/>
                <a:ea typeface="Quattrocento Sans"/>
                <a:cs typeface="Quattrocento Sans"/>
              </a:rPr>
              <a:t>03</a:t>
            </a:r>
            <a:endParaRPr sz="16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41ACD04-35D5-498E-BA5B-83D4D34DD93D}"/>
              </a:ext>
            </a:extLst>
          </p:cNvPr>
          <p:cNvSpPr>
            <a:spLocks noGrp="1"/>
          </p:cNvSpPr>
          <p:nvPr/>
        </p:nvSpPr>
        <p:spPr>
          <a:xfrm>
            <a:off x="1524000" y="3200400"/>
            <a:ext cx="65278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20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Student Workspace</a:t>
            </a:r>
            <a:endParaRPr sz="16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ABD1EFB-FC35-4E41-A593-DE4A62EF3400}"/>
              </a:ext>
            </a:extLst>
          </p:cNvPr>
          <p:cNvSpPr>
            <a:spLocks noGrp="1"/>
          </p:cNvSpPr>
          <p:nvPr/>
        </p:nvSpPr>
        <p:spPr>
          <a:xfrm>
            <a:off x="1524000" y="3657600"/>
            <a:ext cx="65024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Thinking Path, conversation, sources, notebooks and Review in one learning workspace</a:t>
            </a:r>
            <a:endParaRPr sz="16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B759005-666F-4A1A-9394-45CCD7C0112D}"/>
              </a:ext>
            </a:extLst>
          </p:cNvPr>
          <p:cNvSpPr>
            <a:spLocks noGrp="1"/>
          </p:cNvSpPr>
          <p:nvPr/>
        </p:nvSpPr>
        <p:spPr>
          <a:xfrm>
            <a:off x="8331200" y="32004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50800" y="0"/>
                </a:moveTo>
                <a:lnTo>
                  <a:pt x="762000" y="0"/>
                </a:lnTo>
                <a:cubicBezTo>
                  <a:pt x="790037" y="0"/>
                  <a:pt x="812800" y="22763"/>
                  <a:pt x="812800" y="50800"/>
                </a:cubicBezTo>
                <a:lnTo>
                  <a:pt x="812800" y="762000"/>
                </a:lnTo>
                <a:cubicBezTo>
                  <a:pt x="812800" y="790037"/>
                  <a:pt x="790037" y="812800"/>
                  <a:pt x="7620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D8A">
              <a:alpha val="3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A9BAFCB-D458-49BC-A2BA-856B84F618F2}"/>
              </a:ext>
            </a:extLst>
          </p:cNvPr>
          <p:cNvSpPr>
            <a:spLocks noGrp="1"/>
          </p:cNvSpPr>
          <p:nvPr/>
        </p:nvSpPr>
        <p:spPr>
          <a:xfrm>
            <a:off x="8517096" y="3378200"/>
            <a:ext cx="635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00000"/>
              </a:lnSpc>
              <a:buNone/>
            </a:pPr>
            <a:r>
              <a:rPr sz="3000" b="1">
                <a:solidFill>
                  <a:srgbClr val="C8A97E"/>
                </a:solidFill>
                <a:latin typeface="Quattrocento Sans"/>
                <a:ea typeface="Quattrocento Sans"/>
                <a:cs typeface="Quattrocento Sans"/>
              </a:rPr>
              <a:t>04</a:t>
            </a:r>
            <a:endParaRPr sz="16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68FA82F-2E93-429F-BBDE-7B99F9856107}"/>
              </a:ext>
            </a:extLst>
          </p:cNvPr>
          <p:cNvSpPr>
            <a:spLocks noGrp="1"/>
          </p:cNvSpPr>
          <p:nvPr/>
        </p:nvSpPr>
        <p:spPr>
          <a:xfrm>
            <a:off x="9347200" y="3200400"/>
            <a:ext cx="65278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20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Research &amp; Lecturer</a:t>
            </a:r>
            <a:endParaRPr sz="16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A454584-7E87-44FA-9634-71C58ECD73A1}"/>
              </a:ext>
            </a:extLst>
          </p:cNvPr>
          <p:cNvSpPr>
            <a:spLocks noGrp="1"/>
          </p:cNvSpPr>
          <p:nvPr/>
        </p:nvSpPr>
        <p:spPr>
          <a:xfrm>
            <a:off x="9347200" y="3657600"/>
            <a:ext cx="65024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Evidence-linked observations, attributable review, adjudication, audit and export</a:t>
            </a:r>
            <a:endParaRPr sz="16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EE81AB9-9D74-4226-971B-77EDA40BBD50}"/>
              </a:ext>
            </a:extLst>
          </p:cNvPr>
          <p:cNvSpPr>
            <a:spLocks noGrp="1"/>
          </p:cNvSpPr>
          <p:nvPr/>
        </p:nvSpPr>
        <p:spPr>
          <a:xfrm>
            <a:off x="508000" y="4572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50800" y="0"/>
                </a:moveTo>
                <a:lnTo>
                  <a:pt x="762000" y="0"/>
                </a:lnTo>
                <a:cubicBezTo>
                  <a:pt x="790037" y="0"/>
                  <a:pt x="812800" y="22763"/>
                  <a:pt x="812800" y="50800"/>
                </a:cubicBezTo>
                <a:lnTo>
                  <a:pt x="812800" y="762000"/>
                </a:lnTo>
                <a:cubicBezTo>
                  <a:pt x="812800" y="790037"/>
                  <a:pt x="790037" y="812800"/>
                  <a:pt x="7620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D8A">
              <a:alpha val="3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B47FE67-9E16-4D06-BBE5-42C3C77CDA01}"/>
              </a:ext>
            </a:extLst>
          </p:cNvPr>
          <p:cNvSpPr>
            <a:spLocks noGrp="1"/>
          </p:cNvSpPr>
          <p:nvPr/>
        </p:nvSpPr>
        <p:spPr>
          <a:xfrm>
            <a:off x="688181" y="4749800"/>
            <a:ext cx="6477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00000"/>
              </a:lnSpc>
              <a:buNone/>
            </a:pPr>
            <a:r>
              <a:rPr sz="3000" b="1">
                <a:solidFill>
                  <a:srgbClr val="C8A97E"/>
                </a:solidFill>
                <a:latin typeface="Quattrocento Sans"/>
                <a:ea typeface="Quattrocento Sans"/>
                <a:cs typeface="Quattrocento Sans"/>
              </a:rPr>
              <a:t>05</a:t>
            </a:r>
            <a:endParaRPr sz="16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C79FDFA-620D-4D2C-B095-D3FBD182D6BA}"/>
              </a:ext>
            </a:extLst>
          </p:cNvPr>
          <p:cNvSpPr>
            <a:spLocks noGrp="1"/>
          </p:cNvSpPr>
          <p:nvPr/>
        </p:nvSpPr>
        <p:spPr>
          <a:xfrm>
            <a:off x="1524000" y="4572000"/>
            <a:ext cx="65278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20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Architecture &amp; Data</a:t>
            </a:r>
            <a:endParaRPr sz="16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BAF7D1F-67FE-457C-8B6B-21C4734B78C0}"/>
              </a:ext>
            </a:extLst>
          </p:cNvPr>
          <p:cNvSpPr>
            <a:spLocks noGrp="1"/>
          </p:cNvSpPr>
          <p:nvPr/>
        </p:nvSpPr>
        <p:spPr>
          <a:xfrm>
            <a:off x="1524000" y="5029200"/>
            <a:ext cx="65024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Streamlit, FastAPI, provider-neutral workflow, SQLite locally and DSQL/S3 in production</a:t>
            </a:r>
            <a:endParaRPr sz="160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D68BAFC-8429-44A5-A74C-781278DC9138}"/>
              </a:ext>
            </a:extLst>
          </p:cNvPr>
          <p:cNvSpPr>
            <a:spLocks noGrp="1"/>
          </p:cNvSpPr>
          <p:nvPr/>
        </p:nvSpPr>
        <p:spPr>
          <a:xfrm>
            <a:off x="8331200" y="4572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50800" y="0"/>
                </a:moveTo>
                <a:lnTo>
                  <a:pt x="762000" y="0"/>
                </a:lnTo>
                <a:cubicBezTo>
                  <a:pt x="790037" y="0"/>
                  <a:pt x="812800" y="22763"/>
                  <a:pt x="812800" y="50800"/>
                </a:cubicBezTo>
                <a:lnTo>
                  <a:pt x="812800" y="762000"/>
                </a:lnTo>
                <a:cubicBezTo>
                  <a:pt x="812800" y="790037"/>
                  <a:pt x="790037" y="812800"/>
                  <a:pt x="7620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D8A">
              <a:alpha val="3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FFF3011-D184-4BF1-88E9-81B3AE98B9F6}"/>
              </a:ext>
            </a:extLst>
          </p:cNvPr>
          <p:cNvSpPr>
            <a:spLocks noGrp="1"/>
          </p:cNvSpPr>
          <p:nvPr/>
        </p:nvSpPr>
        <p:spPr>
          <a:xfrm>
            <a:off x="8509000" y="4749800"/>
            <a:ext cx="6477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00000"/>
              </a:lnSpc>
              <a:buNone/>
            </a:pPr>
            <a:r>
              <a:rPr sz="3000" b="1">
                <a:solidFill>
                  <a:srgbClr val="C8A97E"/>
                </a:solidFill>
                <a:latin typeface="Quattrocento Sans"/>
                <a:ea typeface="Quattrocento Sans"/>
                <a:cs typeface="Quattrocento Sans"/>
              </a:rPr>
              <a:t>06</a:t>
            </a:r>
            <a:endParaRPr sz="16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555883C-DDCD-41F7-906A-7B94AE77064D}"/>
              </a:ext>
            </a:extLst>
          </p:cNvPr>
          <p:cNvSpPr>
            <a:spLocks noGrp="1"/>
          </p:cNvSpPr>
          <p:nvPr/>
        </p:nvSpPr>
        <p:spPr>
          <a:xfrm>
            <a:off x="9347200" y="4572000"/>
            <a:ext cx="65278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20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Assurance &amp; Roadmap</a:t>
            </a:r>
            <a:endParaRPr sz="16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92B1BA1-E168-431B-8E06-9915DCE109C3}"/>
              </a:ext>
            </a:extLst>
          </p:cNvPr>
          <p:cNvSpPr>
            <a:spLocks noGrp="1"/>
          </p:cNvSpPr>
          <p:nvPr/>
        </p:nvSpPr>
        <p:spPr>
          <a:xfrm>
            <a:off x="9347200" y="5029200"/>
            <a:ext cx="65024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Cognito, ownership, atomic persistence, deterministic QA and study-readiness limits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468549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F19C0F-BACE-444E-9AF1-74F22E976F8E}"/>
              </a:ext>
            </a:extLst>
          </p:cNvPr>
          <p:cNvSpPr>
            <a:spLocks noGrp="1"/>
          </p:cNvSpPr>
          <p:nvPr/>
        </p:nvSpPr>
        <p:spPr>
          <a:xfrm>
            <a:off x="445981" y="445981"/>
            <a:ext cx="44598" cy="445981"/>
          </a:xfrm>
          <a:custGeom>
            <a:avLst/>
            <a:gdLst/>
            <a:ahLst/>
            <a:cxnLst/>
            <a:rect l="l" t="t" r="r" b="b"/>
            <a:pathLst>
              <a:path w="44598" h="445981">
                <a:moveTo>
                  <a:pt x="0" y="0"/>
                </a:moveTo>
                <a:lnTo>
                  <a:pt x="44598" y="0"/>
                </a:lnTo>
                <a:lnTo>
                  <a:pt x="44598" y="445981"/>
                </a:lnTo>
                <a:lnTo>
                  <a:pt x="0" y="445981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44BD50A-B3F2-4208-9C3B-0CE9E1C3D7B0}"/>
              </a:ext>
            </a:extLst>
          </p:cNvPr>
          <p:cNvSpPr>
            <a:spLocks noGrp="1"/>
          </p:cNvSpPr>
          <p:nvPr/>
        </p:nvSpPr>
        <p:spPr>
          <a:xfrm>
            <a:off x="624373" y="557476"/>
            <a:ext cx="1984615" cy="2229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29" spc="61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CHANGE HISTORY</a:t>
            </a:r>
            <a:endParaRPr sz="1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254C158-26F0-435A-907D-19F0812AF300}"/>
              </a:ext>
            </a:extLst>
          </p:cNvPr>
          <p:cNvSpPr>
            <a:spLocks noGrp="1"/>
          </p:cNvSpPr>
          <p:nvPr/>
        </p:nvSpPr>
        <p:spPr>
          <a:xfrm>
            <a:off x="445981" y="981158"/>
            <a:ext cx="15564730" cy="4459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90000"/>
              </a:lnSpc>
              <a:buNone/>
            </a:pPr>
            <a:r>
              <a:rPr sz="316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Original → Current System</a:t>
            </a:r>
            <a:endParaRPr sz="16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6AE1D41-63E9-49C2-917A-652B7350DBC7}"/>
              </a:ext>
            </a:extLst>
          </p:cNvPr>
          <p:cNvSpPr>
            <a:spLocks noGrp="1"/>
          </p:cNvSpPr>
          <p:nvPr/>
        </p:nvSpPr>
        <p:spPr>
          <a:xfrm>
            <a:off x="445981" y="1516335"/>
            <a:ext cx="15453235" cy="2675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405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The educational intent stayed; the platform, controls and research boundary matured.</a:t>
            </a:r>
            <a:endParaRPr sz="16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9C87605-C4C4-4E60-9908-AF94F88DB024}"/>
              </a:ext>
            </a:extLst>
          </p:cNvPr>
          <p:cNvSpPr>
            <a:spLocks noGrp="1"/>
          </p:cNvSpPr>
          <p:nvPr/>
        </p:nvSpPr>
        <p:spPr>
          <a:xfrm>
            <a:off x="473855" y="2062661"/>
            <a:ext cx="200691" cy="200691"/>
          </a:xfrm>
          <a:custGeom>
            <a:avLst/>
            <a:gdLst/>
            <a:ahLst/>
            <a:cxnLst/>
            <a:rect l="l" t="t" r="r" b="b"/>
            <a:pathLst>
              <a:path w="200691" h="200691">
                <a:moveTo>
                  <a:pt x="91134" y="2038"/>
                </a:moveTo>
                <a:cubicBezTo>
                  <a:pt x="96975" y="-666"/>
                  <a:pt x="103717" y="-666"/>
                  <a:pt x="109557" y="2038"/>
                </a:cubicBezTo>
                <a:lnTo>
                  <a:pt x="195243" y="41628"/>
                </a:lnTo>
                <a:cubicBezTo>
                  <a:pt x="198575" y="43156"/>
                  <a:pt x="200691" y="46488"/>
                  <a:pt x="200691" y="50173"/>
                </a:cubicBezTo>
                <a:cubicBezTo>
                  <a:pt x="200691" y="53857"/>
                  <a:pt x="198575" y="57189"/>
                  <a:pt x="195243" y="58718"/>
                </a:cubicBezTo>
                <a:lnTo>
                  <a:pt x="109557" y="98307"/>
                </a:lnTo>
                <a:cubicBezTo>
                  <a:pt x="103717" y="101012"/>
                  <a:pt x="96975" y="101012"/>
                  <a:pt x="91134" y="98307"/>
                </a:cubicBezTo>
                <a:lnTo>
                  <a:pt x="5448" y="58718"/>
                </a:lnTo>
                <a:cubicBezTo>
                  <a:pt x="2117" y="57150"/>
                  <a:pt x="0" y="53818"/>
                  <a:pt x="0" y="50173"/>
                </a:cubicBezTo>
                <a:cubicBezTo>
                  <a:pt x="0" y="46527"/>
                  <a:pt x="2117" y="43156"/>
                  <a:pt x="5448" y="41628"/>
                </a:cubicBezTo>
                <a:lnTo>
                  <a:pt x="91134" y="2038"/>
                </a:lnTo>
                <a:close/>
                <a:moveTo>
                  <a:pt x="18854" y="85607"/>
                </a:moveTo>
                <a:lnTo>
                  <a:pt x="83256" y="115358"/>
                </a:lnTo>
                <a:cubicBezTo>
                  <a:pt x="94113" y="120376"/>
                  <a:pt x="106617" y="120376"/>
                  <a:pt x="117475" y="115358"/>
                </a:cubicBezTo>
                <a:lnTo>
                  <a:pt x="181877" y="85607"/>
                </a:lnTo>
                <a:lnTo>
                  <a:pt x="195243" y="91801"/>
                </a:lnTo>
                <a:cubicBezTo>
                  <a:pt x="198575" y="93329"/>
                  <a:pt x="200691" y="96661"/>
                  <a:pt x="200691" y="100346"/>
                </a:cubicBezTo>
                <a:cubicBezTo>
                  <a:pt x="200691" y="104030"/>
                  <a:pt x="198575" y="107362"/>
                  <a:pt x="195243" y="108891"/>
                </a:cubicBezTo>
                <a:lnTo>
                  <a:pt x="109557" y="148480"/>
                </a:lnTo>
                <a:cubicBezTo>
                  <a:pt x="103717" y="151185"/>
                  <a:pt x="96975" y="151185"/>
                  <a:pt x="91134" y="148480"/>
                </a:cubicBezTo>
                <a:lnTo>
                  <a:pt x="5448" y="108891"/>
                </a:lnTo>
                <a:cubicBezTo>
                  <a:pt x="2117" y="107323"/>
                  <a:pt x="0" y="103991"/>
                  <a:pt x="0" y="100346"/>
                </a:cubicBezTo>
                <a:cubicBezTo>
                  <a:pt x="0" y="96700"/>
                  <a:pt x="2117" y="93329"/>
                  <a:pt x="5448" y="91801"/>
                </a:cubicBezTo>
                <a:lnTo>
                  <a:pt x="18815" y="85607"/>
                </a:lnTo>
                <a:close/>
                <a:moveTo>
                  <a:pt x="5448" y="141973"/>
                </a:moveTo>
                <a:lnTo>
                  <a:pt x="18815" y="135780"/>
                </a:lnTo>
                <a:lnTo>
                  <a:pt x="83216" y="165531"/>
                </a:lnTo>
                <a:cubicBezTo>
                  <a:pt x="94074" y="170548"/>
                  <a:pt x="106578" y="170548"/>
                  <a:pt x="117436" y="165531"/>
                </a:cubicBezTo>
                <a:lnTo>
                  <a:pt x="181837" y="135780"/>
                </a:lnTo>
                <a:lnTo>
                  <a:pt x="195204" y="141973"/>
                </a:lnTo>
                <a:cubicBezTo>
                  <a:pt x="198535" y="143502"/>
                  <a:pt x="200652" y="146834"/>
                  <a:pt x="200652" y="150519"/>
                </a:cubicBezTo>
                <a:cubicBezTo>
                  <a:pt x="200652" y="154203"/>
                  <a:pt x="198535" y="157535"/>
                  <a:pt x="195204" y="159064"/>
                </a:cubicBezTo>
                <a:lnTo>
                  <a:pt x="109518" y="198653"/>
                </a:lnTo>
                <a:cubicBezTo>
                  <a:pt x="103677" y="201358"/>
                  <a:pt x="96935" y="201358"/>
                  <a:pt x="91095" y="198653"/>
                </a:cubicBezTo>
                <a:lnTo>
                  <a:pt x="5448" y="159064"/>
                </a:lnTo>
                <a:cubicBezTo>
                  <a:pt x="2117" y="157496"/>
                  <a:pt x="0" y="154164"/>
                  <a:pt x="0" y="150519"/>
                </a:cubicBezTo>
                <a:cubicBezTo>
                  <a:pt x="0" y="146873"/>
                  <a:pt x="2117" y="143502"/>
                  <a:pt x="5448" y="141973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23AAB17-0316-4D52-87A6-D57AE22E7D6E}"/>
              </a:ext>
            </a:extLst>
          </p:cNvPr>
          <p:cNvSpPr>
            <a:spLocks noGrp="1"/>
          </p:cNvSpPr>
          <p:nvPr/>
        </p:nvSpPr>
        <p:spPr>
          <a:xfrm>
            <a:off x="702420" y="2006914"/>
            <a:ext cx="4816593" cy="3121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58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Original prototype</a:t>
            </a:r>
            <a:endParaRPr sz="1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0C0369C-F1D7-427B-87EC-6136BFEC63E6}"/>
              </a:ext>
            </a:extLst>
          </p:cNvPr>
          <p:cNvSpPr>
            <a:spLocks noGrp="1"/>
          </p:cNvSpPr>
          <p:nvPr/>
        </p:nvSpPr>
        <p:spPr>
          <a:xfrm>
            <a:off x="459360" y="2452894"/>
            <a:ext cx="26759" cy="668971"/>
          </a:xfrm>
          <a:custGeom>
            <a:avLst/>
            <a:gdLst/>
            <a:ahLst/>
            <a:cxnLst/>
            <a:rect l="l" t="t" r="r" b="b"/>
            <a:pathLst>
              <a:path w="26759" h="668971">
                <a:moveTo>
                  <a:pt x="0" y="0"/>
                </a:moveTo>
                <a:lnTo>
                  <a:pt x="26759" y="0"/>
                </a:lnTo>
                <a:lnTo>
                  <a:pt x="26759" y="668971"/>
                </a:lnTo>
                <a:lnTo>
                  <a:pt x="0" y="668971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CD2F6C0-042F-4698-8420-D33C0AB32291}"/>
              </a:ext>
            </a:extLst>
          </p:cNvPr>
          <p:cNvSpPr>
            <a:spLocks noGrp="1"/>
          </p:cNvSpPr>
          <p:nvPr/>
        </p:nvSpPr>
        <p:spPr>
          <a:xfrm>
            <a:off x="606534" y="2542091"/>
            <a:ext cx="4894639" cy="2229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29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Frontend</a:t>
            </a:r>
            <a:endParaRPr sz="16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E3B0A42-2309-496A-A425-CDDA36722052}"/>
              </a:ext>
            </a:extLst>
          </p:cNvPr>
          <p:cNvSpPr>
            <a:spLocks noGrp="1"/>
          </p:cNvSpPr>
          <p:nvPr/>
        </p:nvSpPr>
        <p:spPr>
          <a:xfrm>
            <a:off x="606534" y="2809679"/>
            <a:ext cx="4894639" cy="2229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29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HTML · CSS · JavaScript</a:t>
            </a:r>
            <a:endParaRPr sz="16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FBDC56C-EE99-4A76-AB43-61B2BBAE2F52}"/>
              </a:ext>
            </a:extLst>
          </p:cNvPr>
          <p:cNvSpPr>
            <a:spLocks noGrp="1"/>
          </p:cNvSpPr>
          <p:nvPr/>
        </p:nvSpPr>
        <p:spPr>
          <a:xfrm>
            <a:off x="459360" y="3211062"/>
            <a:ext cx="26759" cy="668971"/>
          </a:xfrm>
          <a:custGeom>
            <a:avLst/>
            <a:gdLst/>
            <a:ahLst/>
            <a:cxnLst/>
            <a:rect l="l" t="t" r="r" b="b"/>
            <a:pathLst>
              <a:path w="26759" h="668971">
                <a:moveTo>
                  <a:pt x="0" y="0"/>
                </a:moveTo>
                <a:lnTo>
                  <a:pt x="26759" y="0"/>
                </a:lnTo>
                <a:lnTo>
                  <a:pt x="26759" y="668971"/>
                </a:lnTo>
                <a:lnTo>
                  <a:pt x="0" y="668971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2288BCA-5A49-4B09-8048-17CC2BDC8119}"/>
              </a:ext>
            </a:extLst>
          </p:cNvPr>
          <p:cNvSpPr>
            <a:spLocks noGrp="1"/>
          </p:cNvSpPr>
          <p:nvPr/>
        </p:nvSpPr>
        <p:spPr>
          <a:xfrm>
            <a:off x="606534" y="3300258"/>
            <a:ext cx="4894639" cy="2229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29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Backend</a:t>
            </a:r>
            <a:endParaRPr sz="16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1F77929-30BC-46D5-9B6C-5A71A6C4967B}"/>
              </a:ext>
            </a:extLst>
          </p:cNvPr>
          <p:cNvSpPr>
            <a:spLocks noGrp="1"/>
          </p:cNvSpPr>
          <p:nvPr/>
        </p:nvSpPr>
        <p:spPr>
          <a:xfrm>
            <a:off x="606534" y="3567846"/>
            <a:ext cx="4894639" cy="2229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29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Flask routes</a:t>
            </a:r>
            <a:endParaRPr sz="16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3D46D93-B38E-49A3-B2DA-61066B948D52}"/>
              </a:ext>
            </a:extLst>
          </p:cNvPr>
          <p:cNvSpPr>
            <a:spLocks noGrp="1"/>
          </p:cNvSpPr>
          <p:nvPr/>
        </p:nvSpPr>
        <p:spPr>
          <a:xfrm>
            <a:off x="459360" y="3969229"/>
            <a:ext cx="26759" cy="668971"/>
          </a:xfrm>
          <a:custGeom>
            <a:avLst/>
            <a:gdLst/>
            <a:ahLst/>
            <a:cxnLst/>
            <a:rect l="l" t="t" r="r" b="b"/>
            <a:pathLst>
              <a:path w="26759" h="668971">
                <a:moveTo>
                  <a:pt x="0" y="0"/>
                </a:moveTo>
                <a:lnTo>
                  <a:pt x="26759" y="0"/>
                </a:lnTo>
                <a:lnTo>
                  <a:pt x="26759" y="668971"/>
                </a:lnTo>
                <a:lnTo>
                  <a:pt x="0" y="668971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980C643-128B-49E3-B875-88836D14C40C}"/>
              </a:ext>
            </a:extLst>
          </p:cNvPr>
          <p:cNvSpPr>
            <a:spLocks noGrp="1"/>
          </p:cNvSpPr>
          <p:nvPr/>
        </p:nvSpPr>
        <p:spPr>
          <a:xfrm>
            <a:off x="606534" y="4058425"/>
            <a:ext cx="4894639" cy="2229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29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AI / ML</a:t>
            </a:r>
            <a:endParaRPr sz="16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78909E8-EF54-43B4-B1C7-64D2E4713853}"/>
              </a:ext>
            </a:extLst>
          </p:cNvPr>
          <p:cNvSpPr>
            <a:spLocks noGrp="1"/>
          </p:cNvSpPr>
          <p:nvPr/>
        </p:nvSpPr>
        <p:spPr>
          <a:xfrm>
            <a:off x="606534" y="4326014"/>
            <a:ext cx="4894639" cy="2229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29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OpenAI single model</a:t>
            </a:r>
            <a:endParaRPr sz="16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03400DA-C282-4853-B37E-B56500BF6602}"/>
              </a:ext>
            </a:extLst>
          </p:cNvPr>
          <p:cNvSpPr>
            <a:spLocks noGrp="1"/>
          </p:cNvSpPr>
          <p:nvPr/>
        </p:nvSpPr>
        <p:spPr>
          <a:xfrm>
            <a:off x="459360" y="4727396"/>
            <a:ext cx="26759" cy="668971"/>
          </a:xfrm>
          <a:custGeom>
            <a:avLst/>
            <a:gdLst/>
            <a:ahLst/>
            <a:cxnLst/>
            <a:rect l="l" t="t" r="r" b="b"/>
            <a:pathLst>
              <a:path w="26759" h="668971">
                <a:moveTo>
                  <a:pt x="0" y="0"/>
                </a:moveTo>
                <a:lnTo>
                  <a:pt x="26759" y="0"/>
                </a:lnTo>
                <a:lnTo>
                  <a:pt x="26759" y="668971"/>
                </a:lnTo>
                <a:lnTo>
                  <a:pt x="0" y="668971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7F8572C-9FC8-4284-A2CE-C4ED3CA37F75}"/>
              </a:ext>
            </a:extLst>
          </p:cNvPr>
          <p:cNvSpPr>
            <a:spLocks noGrp="1"/>
          </p:cNvSpPr>
          <p:nvPr/>
        </p:nvSpPr>
        <p:spPr>
          <a:xfrm>
            <a:off x="606534" y="4816593"/>
            <a:ext cx="4894639" cy="2229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29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Database</a:t>
            </a:r>
            <a:endParaRPr sz="16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3C60043-39A3-4D41-80F8-217D3E8B90E3}"/>
              </a:ext>
            </a:extLst>
          </p:cNvPr>
          <p:cNvSpPr>
            <a:spLocks noGrp="1"/>
          </p:cNvSpPr>
          <p:nvPr/>
        </p:nvSpPr>
        <p:spPr>
          <a:xfrm>
            <a:off x="606534" y="5084181"/>
            <a:ext cx="4894639" cy="2229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29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Replit key-value store</a:t>
            </a:r>
            <a:endParaRPr sz="16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9C6C820-6737-4050-84FA-355E0110BDC9}"/>
              </a:ext>
            </a:extLst>
          </p:cNvPr>
          <p:cNvSpPr>
            <a:spLocks noGrp="1"/>
          </p:cNvSpPr>
          <p:nvPr/>
        </p:nvSpPr>
        <p:spPr>
          <a:xfrm>
            <a:off x="459360" y="5485564"/>
            <a:ext cx="26759" cy="668971"/>
          </a:xfrm>
          <a:custGeom>
            <a:avLst/>
            <a:gdLst/>
            <a:ahLst/>
            <a:cxnLst/>
            <a:rect l="l" t="t" r="r" b="b"/>
            <a:pathLst>
              <a:path w="26759" h="668971">
                <a:moveTo>
                  <a:pt x="0" y="0"/>
                </a:moveTo>
                <a:lnTo>
                  <a:pt x="26759" y="0"/>
                </a:lnTo>
                <a:lnTo>
                  <a:pt x="26759" y="668971"/>
                </a:lnTo>
                <a:lnTo>
                  <a:pt x="0" y="668971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FCAC8E0-AA19-46F2-8E26-3420147B2FCD}"/>
              </a:ext>
            </a:extLst>
          </p:cNvPr>
          <p:cNvSpPr>
            <a:spLocks noGrp="1"/>
          </p:cNvSpPr>
          <p:nvPr/>
        </p:nvSpPr>
        <p:spPr>
          <a:xfrm>
            <a:off x="606534" y="5574760"/>
            <a:ext cx="4894639" cy="2229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29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Hosting</a:t>
            </a:r>
            <a:endParaRPr sz="16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A58FFC6-FCFE-4DE9-9DFE-3AED69CCDDF6}"/>
              </a:ext>
            </a:extLst>
          </p:cNvPr>
          <p:cNvSpPr>
            <a:spLocks noGrp="1"/>
          </p:cNvSpPr>
          <p:nvPr/>
        </p:nvSpPr>
        <p:spPr>
          <a:xfrm>
            <a:off x="606534" y="5842348"/>
            <a:ext cx="4894639" cy="2229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29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Replit</a:t>
            </a:r>
            <a:endParaRPr sz="16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696EDEF-DA51-4DD7-93B9-38DB8029A246}"/>
              </a:ext>
            </a:extLst>
          </p:cNvPr>
          <p:cNvSpPr>
            <a:spLocks noGrp="1"/>
          </p:cNvSpPr>
          <p:nvPr/>
        </p:nvSpPr>
        <p:spPr>
          <a:xfrm>
            <a:off x="459360" y="6243731"/>
            <a:ext cx="26759" cy="668971"/>
          </a:xfrm>
          <a:custGeom>
            <a:avLst/>
            <a:gdLst/>
            <a:ahLst/>
            <a:cxnLst/>
            <a:rect l="l" t="t" r="r" b="b"/>
            <a:pathLst>
              <a:path w="26759" h="668971">
                <a:moveTo>
                  <a:pt x="0" y="0"/>
                </a:moveTo>
                <a:lnTo>
                  <a:pt x="26759" y="0"/>
                </a:lnTo>
                <a:lnTo>
                  <a:pt x="26759" y="668971"/>
                </a:lnTo>
                <a:lnTo>
                  <a:pt x="0" y="668971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88C5BF2-4D51-4F39-B328-D10A9742B92A}"/>
              </a:ext>
            </a:extLst>
          </p:cNvPr>
          <p:cNvSpPr>
            <a:spLocks noGrp="1"/>
          </p:cNvSpPr>
          <p:nvPr/>
        </p:nvSpPr>
        <p:spPr>
          <a:xfrm>
            <a:off x="606534" y="6332927"/>
            <a:ext cx="4894639" cy="2229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29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Identity</a:t>
            </a:r>
            <a:endParaRPr sz="16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5EBC2DD-C485-4060-B5D3-F215B119A5D2}"/>
              </a:ext>
            </a:extLst>
          </p:cNvPr>
          <p:cNvSpPr>
            <a:spLocks noGrp="1"/>
          </p:cNvSpPr>
          <p:nvPr/>
        </p:nvSpPr>
        <p:spPr>
          <a:xfrm>
            <a:off x="606534" y="6600516"/>
            <a:ext cx="4894639" cy="2229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29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Anonymous session IDs</a:t>
            </a:r>
            <a:endParaRPr sz="16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E7BAA87-221A-434F-81FD-23139F61CB50}"/>
              </a:ext>
            </a:extLst>
          </p:cNvPr>
          <p:cNvSpPr>
            <a:spLocks noGrp="1"/>
          </p:cNvSpPr>
          <p:nvPr/>
        </p:nvSpPr>
        <p:spPr>
          <a:xfrm>
            <a:off x="5668695" y="2062661"/>
            <a:ext cx="200691" cy="200691"/>
          </a:xfrm>
          <a:custGeom>
            <a:avLst/>
            <a:gdLst/>
            <a:ahLst/>
            <a:cxnLst/>
            <a:rect l="l" t="t" r="r" b="b"/>
            <a:pathLst>
              <a:path w="200691" h="200691">
                <a:moveTo>
                  <a:pt x="50173" y="125432"/>
                </a:moveTo>
                <a:lnTo>
                  <a:pt x="9603" y="125432"/>
                </a:lnTo>
                <a:cubicBezTo>
                  <a:pt x="-157" y="125432"/>
                  <a:pt x="-6154" y="114810"/>
                  <a:pt x="-1137" y="106421"/>
                </a:cubicBezTo>
                <a:lnTo>
                  <a:pt x="19599" y="71849"/>
                </a:lnTo>
                <a:cubicBezTo>
                  <a:pt x="23009" y="66165"/>
                  <a:pt x="29124" y="62716"/>
                  <a:pt x="35748" y="62716"/>
                </a:cubicBezTo>
                <a:lnTo>
                  <a:pt x="72986" y="62716"/>
                </a:lnTo>
                <a:cubicBezTo>
                  <a:pt x="102815" y="12190"/>
                  <a:pt x="147304" y="9643"/>
                  <a:pt x="177055" y="13994"/>
                </a:cubicBezTo>
                <a:cubicBezTo>
                  <a:pt x="182073" y="14738"/>
                  <a:pt x="185992" y="18658"/>
                  <a:pt x="186698" y="23636"/>
                </a:cubicBezTo>
                <a:cubicBezTo>
                  <a:pt x="191049" y="53387"/>
                  <a:pt x="188501" y="97876"/>
                  <a:pt x="137975" y="127706"/>
                </a:cubicBezTo>
                <a:lnTo>
                  <a:pt x="137975" y="164943"/>
                </a:lnTo>
                <a:cubicBezTo>
                  <a:pt x="137975" y="171568"/>
                  <a:pt x="134526" y="177682"/>
                  <a:pt x="128842" y="181093"/>
                </a:cubicBezTo>
                <a:lnTo>
                  <a:pt x="94270" y="201828"/>
                </a:lnTo>
                <a:cubicBezTo>
                  <a:pt x="85921" y="206845"/>
                  <a:pt x="75259" y="200809"/>
                  <a:pt x="75259" y="191088"/>
                </a:cubicBezTo>
                <a:lnTo>
                  <a:pt x="75259" y="150519"/>
                </a:lnTo>
                <a:cubicBezTo>
                  <a:pt x="75259" y="136682"/>
                  <a:pt x="64010" y="125432"/>
                  <a:pt x="50173" y="125432"/>
                </a:cubicBezTo>
                <a:lnTo>
                  <a:pt x="50134" y="125432"/>
                </a:lnTo>
                <a:close/>
                <a:moveTo>
                  <a:pt x="156790" y="62716"/>
                </a:moveTo>
                <a:cubicBezTo>
                  <a:pt x="156790" y="52332"/>
                  <a:pt x="148359" y="43901"/>
                  <a:pt x="137975" y="43901"/>
                </a:cubicBezTo>
                <a:cubicBezTo>
                  <a:pt x="127591" y="43901"/>
                  <a:pt x="119160" y="52332"/>
                  <a:pt x="119160" y="62716"/>
                </a:cubicBezTo>
                <a:cubicBezTo>
                  <a:pt x="119160" y="73100"/>
                  <a:pt x="127591" y="81531"/>
                  <a:pt x="137975" y="81531"/>
                </a:cubicBezTo>
                <a:cubicBezTo>
                  <a:pt x="148359" y="81531"/>
                  <a:pt x="156790" y="73100"/>
                  <a:pt x="156790" y="62716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0218E22-1240-4F70-8D4F-79ADD8DF37FB}"/>
              </a:ext>
            </a:extLst>
          </p:cNvPr>
          <p:cNvSpPr>
            <a:spLocks noGrp="1"/>
          </p:cNvSpPr>
          <p:nvPr/>
        </p:nvSpPr>
        <p:spPr>
          <a:xfrm>
            <a:off x="5897260" y="2006914"/>
            <a:ext cx="10012269" cy="3121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58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Current research-ready system</a:t>
            </a:r>
            <a:endParaRPr sz="160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EF6169D-3EAF-417B-9A7C-D6B15FD42B32}"/>
              </a:ext>
            </a:extLst>
          </p:cNvPr>
          <p:cNvSpPr>
            <a:spLocks noGrp="1"/>
          </p:cNvSpPr>
          <p:nvPr/>
        </p:nvSpPr>
        <p:spPr>
          <a:xfrm>
            <a:off x="5654200" y="2452894"/>
            <a:ext cx="26759" cy="891962"/>
          </a:xfrm>
          <a:custGeom>
            <a:avLst/>
            <a:gdLst/>
            <a:ahLst/>
            <a:cxnLst/>
            <a:rect l="l" t="t" r="r" b="b"/>
            <a:pathLst>
              <a:path w="26759" h="891962">
                <a:moveTo>
                  <a:pt x="0" y="0"/>
                </a:moveTo>
                <a:lnTo>
                  <a:pt x="26759" y="0"/>
                </a:lnTo>
                <a:lnTo>
                  <a:pt x="26759" y="891962"/>
                </a:lnTo>
                <a:lnTo>
                  <a:pt x="0" y="891962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CD34AF2A-B2AE-4710-BEB2-36B3C559741B}"/>
              </a:ext>
            </a:extLst>
          </p:cNvPr>
          <p:cNvSpPr>
            <a:spLocks noGrp="1"/>
          </p:cNvSpPr>
          <p:nvPr/>
        </p:nvSpPr>
        <p:spPr>
          <a:xfrm>
            <a:off x="5801374" y="2542091"/>
            <a:ext cx="356785" cy="356785"/>
          </a:xfrm>
          <a:custGeom>
            <a:avLst/>
            <a:gdLst/>
            <a:ahLst/>
            <a:cxnLst/>
            <a:rect l="l" t="t" r="r" b="b"/>
            <a:pathLst>
              <a:path w="356785" h="356785">
                <a:moveTo>
                  <a:pt x="178392" y="0"/>
                </a:moveTo>
                <a:lnTo>
                  <a:pt x="178392" y="0"/>
                </a:lnTo>
                <a:cubicBezTo>
                  <a:pt x="276850" y="0"/>
                  <a:pt x="356785" y="79935"/>
                  <a:pt x="356785" y="178392"/>
                </a:cubicBezTo>
                <a:lnTo>
                  <a:pt x="356785" y="178392"/>
                </a:lnTo>
                <a:cubicBezTo>
                  <a:pt x="356785" y="276850"/>
                  <a:pt x="276850" y="356785"/>
                  <a:pt x="178392" y="356785"/>
                </a:cubicBezTo>
                <a:lnTo>
                  <a:pt x="178392" y="356785"/>
                </a:lnTo>
                <a:cubicBezTo>
                  <a:pt x="79935" y="356785"/>
                  <a:pt x="0" y="276850"/>
                  <a:pt x="0" y="178392"/>
                </a:cubicBezTo>
                <a:lnTo>
                  <a:pt x="0" y="178392"/>
                </a:lnTo>
                <a:cubicBezTo>
                  <a:pt x="0" y="79935"/>
                  <a:pt x="79935" y="0"/>
                  <a:pt x="178392" y="0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38C500A-76B4-4DC0-827B-61CF6E451769}"/>
              </a:ext>
            </a:extLst>
          </p:cNvPr>
          <p:cNvSpPr>
            <a:spLocks noGrp="1"/>
          </p:cNvSpPr>
          <p:nvPr/>
        </p:nvSpPr>
        <p:spPr>
          <a:xfrm>
            <a:off x="5751201" y="2542091"/>
            <a:ext cx="457130" cy="35678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580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1</a:t>
            </a:r>
            <a:endParaRPr sz="16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E3F7B99-522D-4579-A4E1-34675543781B}"/>
              </a:ext>
            </a:extLst>
          </p:cNvPr>
          <p:cNvSpPr>
            <a:spLocks noGrp="1"/>
          </p:cNvSpPr>
          <p:nvPr/>
        </p:nvSpPr>
        <p:spPr>
          <a:xfrm>
            <a:off x="6291953" y="2542091"/>
            <a:ext cx="4448658" cy="2229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29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Student workspace</a:t>
            </a:r>
            <a:endParaRPr sz="16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A8DB4452-9C11-4147-A698-F9E3D4CBE3E0}"/>
              </a:ext>
            </a:extLst>
          </p:cNvPr>
          <p:cNvSpPr>
            <a:spLocks noGrp="1"/>
          </p:cNvSpPr>
          <p:nvPr/>
        </p:nvSpPr>
        <p:spPr>
          <a:xfrm>
            <a:off x="6291953" y="2809679"/>
            <a:ext cx="4448658" cy="4459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29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Streamlit three-panel UI with notebooks, sources and themes</a:t>
            </a:r>
            <a:endParaRPr sz="160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8EDA3912-7905-4F40-A435-A99DBF1A4217}"/>
              </a:ext>
            </a:extLst>
          </p:cNvPr>
          <p:cNvSpPr>
            <a:spLocks noGrp="1"/>
          </p:cNvSpPr>
          <p:nvPr/>
        </p:nvSpPr>
        <p:spPr>
          <a:xfrm>
            <a:off x="10804443" y="2452894"/>
            <a:ext cx="26759" cy="891962"/>
          </a:xfrm>
          <a:custGeom>
            <a:avLst/>
            <a:gdLst/>
            <a:ahLst/>
            <a:cxnLst/>
            <a:rect l="l" t="t" r="r" b="b"/>
            <a:pathLst>
              <a:path w="26759" h="891962">
                <a:moveTo>
                  <a:pt x="0" y="0"/>
                </a:moveTo>
                <a:lnTo>
                  <a:pt x="26759" y="0"/>
                </a:lnTo>
                <a:lnTo>
                  <a:pt x="26759" y="891962"/>
                </a:lnTo>
                <a:lnTo>
                  <a:pt x="0" y="891962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CF7871D8-6254-4C86-A924-78CB7885EB69}"/>
              </a:ext>
            </a:extLst>
          </p:cNvPr>
          <p:cNvSpPr>
            <a:spLocks noGrp="1"/>
          </p:cNvSpPr>
          <p:nvPr/>
        </p:nvSpPr>
        <p:spPr>
          <a:xfrm>
            <a:off x="10951616" y="2542091"/>
            <a:ext cx="356785" cy="356785"/>
          </a:xfrm>
          <a:custGeom>
            <a:avLst/>
            <a:gdLst/>
            <a:ahLst/>
            <a:cxnLst/>
            <a:rect l="l" t="t" r="r" b="b"/>
            <a:pathLst>
              <a:path w="356785" h="356785">
                <a:moveTo>
                  <a:pt x="178392" y="0"/>
                </a:moveTo>
                <a:lnTo>
                  <a:pt x="178392" y="0"/>
                </a:lnTo>
                <a:cubicBezTo>
                  <a:pt x="276850" y="0"/>
                  <a:pt x="356785" y="79935"/>
                  <a:pt x="356785" y="178392"/>
                </a:cubicBezTo>
                <a:lnTo>
                  <a:pt x="356785" y="178392"/>
                </a:lnTo>
                <a:cubicBezTo>
                  <a:pt x="356785" y="276850"/>
                  <a:pt x="276850" y="356785"/>
                  <a:pt x="178392" y="356785"/>
                </a:cubicBezTo>
                <a:lnTo>
                  <a:pt x="178392" y="356785"/>
                </a:lnTo>
                <a:cubicBezTo>
                  <a:pt x="79935" y="356785"/>
                  <a:pt x="0" y="276850"/>
                  <a:pt x="0" y="178392"/>
                </a:cubicBezTo>
                <a:lnTo>
                  <a:pt x="0" y="178392"/>
                </a:lnTo>
                <a:cubicBezTo>
                  <a:pt x="0" y="79935"/>
                  <a:pt x="79935" y="0"/>
                  <a:pt x="178392" y="0"/>
                </a:cubicBez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A4FA9EEA-3DB1-4D88-98BD-C367AE54D6C5}"/>
              </a:ext>
            </a:extLst>
          </p:cNvPr>
          <p:cNvSpPr>
            <a:spLocks noGrp="1"/>
          </p:cNvSpPr>
          <p:nvPr/>
        </p:nvSpPr>
        <p:spPr>
          <a:xfrm>
            <a:off x="10901443" y="2542091"/>
            <a:ext cx="457130" cy="35678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58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2</a:t>
            </a:r>
            <a:endParaRPr sz="160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7D8CAAB-BFFE-41EA-BD16-124C047FE919}"/>
              </a:ext>
            </a:extLst>
          </p:cNvPr>
          <p:cNvSpPr>
            <a:spLocks noGrp="1"/>
          </p:cNvSpPr>
          <p:nvPr/>
        </p:nvSpPr>
        <p:spPr>
          <a:xfrm>
            <a:off x="11442195" y="2542091"/>
            <a:ext cx="4448658" cy="2229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29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Controlled coaching</a:t>
            </a:r>
            <a:endParaRPr sz="160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A562B8CB-2400-4A6B-A43C-2206D098BE69}"/>
              </a:ext>
            </a:extLst>
          </p:cNvPr>
          <p:cNvSpPr>
            <a:spLocks noGrp="1"/>
          </p:cNvSpPr>
          <p:nvPr/>
        </p:nvSpPr>
        <p:spPr>
          <a:xfrm>
            <a:off x="11442195" y="2809679"/>
            <a:ext cx="4448658" cy="4459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29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One LangGraph workflow across five specialized phase prompts</a:t>
            </a:r>
            <a:endParaRPr sz="160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6BCB5F12-DD62-41A2-81A8-D09ACDD709D1}"/>
              </a:ext>
            </a:extLst>
          </p:cNvPr>
          <p:cNvSpPr>
            <a:spLocks noGrp="1"/>
          </p:cNvSpPr>
          <p:nvPr/>
        </p:nvSpPr>
        <p:spPr>
          <a:xfrm>
            <a:off x="5654200" y="3478650"/>
            <a:ext cx="26759" cy="891962"/>
          </a:xfrm>
          <a:custGeom>
            <a:avLst/>
            <a:gdLst/>
            <a:ahLst/>
            <a:cxnLst/>
            <a:rect l="l" t="t" r="r" b="b"/>
            <a:pathLst>
              <a:path w="26759" h="891962">
                <a:moveTo>
                  <a:pt x="0" y="0"/>
                </a:moveTo>
                <a:lnTo>
                  <a:pt x="26759" y="0"/>
                </a:lnTo>
                <a:lnTo>
                  <a:pt x="26759" y="891962"/>
                </a:lnTo>
                <a:lnTo>
                  <a:pt x="0" y="891962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43F86160-48EC-4342-A5D3-0CB4B793B1C6}"/>
              </a:ext>
            </a:extLst>
          </p:cNvPr>
          <p:cNvSpPr>
            <a:spLocks noGrp="1"/>
          </p:cNvSpPr>
          <p:nvPr/>
        </p:nvSpPr>
        <p:spPr>
          <a:xfrm>
            <a:off x="5801374" y="3567846"/>
            <a:ext cx="356785" cy="356785"/>
          </a:xfrm>
          <a:custGeom>
            <a:avLst/>
            <a:gdLst/>
            <a:ahLst/>
            <a:cxnLst/>
            <a:rect l="l" t="t" r="r" b="b"/>
            <a:pathLst>
              <a:path w="356785" h="356785">
                <a:moveTo>
                  <a:pt x="178392" y="0"/>
                </a:moveTo>
                <a:lnTo>
                  <a:pt x="178392" y="0"/>
                </a:lnTo>
                <a:cubicBezTo>
                  <a:pt x="276850" y="0"/>
                  <a:pt x="356785" y="79935"/>
                  <a:pt x="356785" y="178392"/>
                </a:cubicBezTo>
                <a:lnTo>
                  <a:pt x="356785" y="178392"/>
                </a:lnTo>
                <a:cubicBezTo>
                  <a:pt x="356785" y="276850"/>
                  <a:pt x="276850" y="356785"/>
                  <a:pt x="178392" y="356785"/>
                </a:cubicBezTo>
                <a:lnTo>
                  <a:pt x="178392" y="356785"/>
                </a:lnTo>
                <a:cubicBezTo>
                  <a:pt x="79935" y="356785"/>
                  <a:pt x="0" y="276850"/>
                  <a:pt x="0" y="178392"/>
                </a:cubicBezTo>
                <a:lnTo>
                  <a:pt x="0" y="178392"/>
                </a:lnTo>
                <a:cubicBezTo>
                  <a:pt x="0" y="79935"/>
                  <a:pt x="79935" y="0"/>
                  <a:pt x="178392" y="0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9BDB0360-5328-4A04-95B7-3F7AF240BA88}"/>
              </a:ext>
            </a:extLst>
          </p:cNvPr>
          <p:cNvSpPr>
            <a:spLocks noGrp="1"/>
          </p:cNvSpPr>
          <p:nvPr/>
        </p:nvSpPr>
        <p:spPr>
          <a:xfrm>
            <a:off x="5751201" y="3567846"/>
            <a:ext cx="457130" cy="35678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580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3</a:t>
            </a:r>
            <a:endParaRPr sz="160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214B8323-0639-43AB-92EA-3DF78547A7F1}"/>
              </a:ext>
            </a:extLst>
          </p:cNvPr>
          <p:cNvSpPr>
            <a:spLocks noGrp="1"/>
          </p:cNvSpPr>
          <p:nvPr/>
        </p:nvSpPr>
        <p:spPr>
          <a:xfrm>
            <a:off x="6291953" y="3567846"/>
            <a:ext cx="4392911" cy="2229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29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Structured assessment</a:t>
            </a:r>
            <a:endParaRPr sz="160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5971BD99-B522-4C7C-BEC2-D51C2106911E}"/>
              </a:ext>
            </a:extLst>
          </p:cNvPr>
          <p:cNvSpPr>
            <a:spLocks noGrp="1"/>
          </p:cNvSpPr>
          <p:nvPr/>
        </p:nvSpPr>
        <p:spPr>
          <a:xfrm>
            <a:off x="6291953" y="3835435"/>
            <a:ext cx="4392911" cy="2229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29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Validated coaching plus optional provisional research coding</a:t>
            </a:r>
            <a:endParaRPr sz="160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F0492BC7-D26B-45CC-AB9D-91B7B697691E}"/>
              </a:ext>
            </a:extLst>
          </p:cNvPr>
          <p:cNvSpPr>
            <a:spLocks noGrp="1"/>
          </p:cNvSpPr>
          <p:nvPr/>
        </p:nvSpPr>
        <p:spPr>
          <a:xfrm>
            <a:off x="10804443" y="3478650"/>
            <a:ext cx="26759" cy="891962"/>
          </a:xfrm>
          <a:custGeom>
            <a:avLst/>
            <a:gdLst/>
            <a:ahLst/>
            <a:cxnLst/>
            <a:rect l="l" t="t" r="r" b="b"/>
            <a:pathLst>
              <a:path w="26759" h="891962">
                <a:moveTo>
                  <a:pt x="0" y="0"/>
                </a:moveTo>
                <a:lnTo>
                  <a:pt x="26759" y="0"/>
                </a:lnTo>
                <a:lnTo>
                  <a:pt x="26759" y="891962"/>
                </a:lnTo>
                <a:lnTo>
                  <a:pt x="0" y="891962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B4419F33-9514-4F38-9365-1E1F65B706B2}"/>
              </a:ext>
            </a:extLst>
          </p:cNvPr>
          <p:cNvSpPr>
            <a:spLocks noGrp="1"/>
          </p:cNvSpPr>
          <p:nvPr/>
        </p:nvSpPr>
        <p:spPr>
          <a:xfrm>
            <a:off x="10951616" y="3567846"/>
            <a:ext cx="356785" cy="356785"/>
          </a:xfrm>
          <a:custGeom>
            <a:avLst/>
            <a:gdLst/>
            <a:ahLst/>
            <a:cxnLst/>
            <a:rect l="l" t="t" r="r" b="b"/>
            <a:pathLst>
              <a:path w="356785" h="356785">
                <a:moveTo>
                  <a:pt x="178392" y="0"/>
                </a:moveTo>
                <a:lnTo>
                  <a:pt x="178392" y="0"/>
                </a:lnTo>
                <a:cubicBezTo>
                  <a:pt x="276850" y="0"/>
                  <a:pt x="356785" y="79935"/>
                  <a:pt x="356785" y="178392"/>
                </a:cubicBezTo>
                <a:lnTo>
                  <a:pt x="356785" y="178392"/>
                </a:lnTo>
                <a:cubicBezTo>
                  <a:pt x="356785" y="276850"/>
                  <a:pt x="276850" y="356785"/>
                  <a:pt x="178392" y="356785"/>
                </a:cubicBezTo>
                <a:lnTo>
                  <a:pt x="178392" y="356785"/>
                </a:lnTo>
                <a:cubicBezTo>
                  <a:pt x="79935" y="356785"/>
                  <a:pt x="0" y="276850"/>
                  <a:pt x="0" y="178392"/>
                </a:cubicBezTo>
                <a:lnTo>
                  <a:pt x="0" y="178392"/>
                </a:lnTo>
                <a:cubicBezTo>
                  <a:pt x="0" y="79935"/>
                  <a:pt x="79935" y="0"/>
                  <a:pt x="178392" y="0"/>
                </a:cubicBez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391EEE83-4BA5-482E-90C6-D4768CB1B35D}"/>
              </a:ext>
            </a:extLst>
          </p:cNvPr>
          <p:cNvSpPr>
            <a:spLocks noGrp="1"/>
          </p:cNvSpPr>
          <p:nvPr/>
        </p:nvSpPr>
        <p:spPr>
          <a:xfrm>
            <a:off x="10901443" y="3567846"/>
            <a:ext cx="457130" cy="35678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58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4</a:t>
            </a:r>
            <a:endParaRPr sz="160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0FC25F59-9D62-4597-8F30-C9AE1F49AF2A}"/>
              </a:ext>
            </a:extLst>
          </p:cNvPr>
          <p:cNvSpPr>
            <a:spLocks noGrp="1"/>
          </p:cNvSpPr>
          <p:nvPr/>
        </p:nvSpPr>
        <p:spPr>
          <a:xfrm>
            <a:off x="11442195" y="3567846"/>
            <a:ext cx="4448658" cy="2229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29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Durable persistence</a:t>
            </a:r>
            <a:endParaRPr sz="160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17A4D33E-C95E-4068-AC0D-0F8E78CF5548}"/>
              </a:ext>
            </a:extLst>
          </p:cNvPr>
          <p:cNvSpPr>
            <a:spLocks noGrp="1"/>
          </p:cNvSpPr>
          <p:nvPr/>
        </p:nvSpPr>
        <p:spPr>
          <a:xfrm>
            <a:off x="11442195" y="3835435"/>
            <a:ext cx="4448658" cy="4459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29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SQLite locally; Aurora DSQL and S3 production adapters</a:t>
            </a:r>
            <a:endParaRPr sz="160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D8F0C43E-B666-4E21-980E-F6F569ED30D8}"/>
              </a:ext>
            </a:extLst>
          </p:cNvPr>
          <p:cNvSpPr>
            <a:spLocks noGrp="1"/>
          </p:cNvSpPr>
          <p:nvPr/>
        </p:nvSpPr>
        <p:spPr>
          <a:xfrm>
            <a:off x="5654200" y="4504406"/>
            <a:ext cx="26759" cy="668971"/>
          </a:xfrm>
          <a:custGeom>
            <a:avLst/>
            <a:gdLst/>
            <a:ahLst/>
            <a:cxnLst/>
            <a:rect l="l" t="t" r="r" b="b"/>
            <a:pathLst>
              <a:path w="26759" h="668971">
                <a:moveTo>
                  <a:pt x="0" y="0"/>
                </a:moveTo>
                <a:lnTo>
                  <a:pt x="26759" y="0"/>
                </a:lnTo>
                <a:lnTo>
                  <a:pt x="26759" y="668971"/>
                </a:lnTo>
                <a:lnTo>
                  <a:pt x="0" y="668971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6308B524-6B8B-4B15-B0C5-66EB3E1AC2ED}"/>
              </a:ext>
            </a:extLst>
          </p:cNvPr>
          <p:cNvSpPr>
            <a:spLocks noGrp="1"/>
          </p:cNvSpPr>
          <p:nvPr/>
        </p:nvSpPr>
        <p:spPr>
          <a:xfrm>
            <a:off x="5801374" y="4593602"/>
            <a:ext cx="356785" cy="356785"/>
          </a:xfrm>
          <a:custGeom>
            <a:avLst/>
            <a:gdLst/>
            <a:ahLst/>
            <a:cxnLst/>
            <a:rect l="l" t="t" r="r" b="b"/>
            <a:pathLst>
              <a:path w="356785" h="356785">
                <a:moveTo>
                  <a:pt x="178392" y="0"/>
                </a:moveTo>
                <a:lnTo>
                  <a:pt x="178392" y="0"/>
                </a:lnTo>
                <a:cubicBezTo>
                  <a:pt x="276850" y="0"/>
                  <a:pt x="356785" y="79935"/>
                  <a:pt x="356785" y="178392"/>
                </a:cubicBezTo>
                <a:lnTo>
                  <a:pt x="356785" y="178392"/>
                </a:lnTo>
                <a:cubicBezTo>
                  <a:pt x="356785" y="276850"/>
                  <a:pt x="276850" y="356785"/>
                  <a:pt x="178392" y="356785"/>
                </a:cubicBezTo>
                <a:lnTo>
                  <a:pt x="178392" y="356785"/>
                </a:lnTo>
                <a:cubicBezTo>
                  <a:pt x="79935" y="356785"/>
                  <a:pt x="0" y="276850"/>
                  <a:pt x="0" y="178392"/>
                </a:cubicBezTo>
                <a:lnTo>
                  <a:pt x="0" y="178392"/>
                </a:lnTo>
                <a:cubicBezTo>
                  <a:pt x="0" y="79935"/>
                  <a:pt x="79935" y="0"/>
                  <a:pt x="178392" y="0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846448CB-7233-455A-B4E5-4A9559F07E92}"/>
              </a:ext>
            </a:extLst>
          </p:cNvPr>
          <p:cNvSpPr>
            <a:spLocks noGrp="1"/>
          </p:cNvSpPr>
          <p:nvPr/>
        </p:nvSpPr>
        <p:spPr>
          <a:xfrm>
            <a:off x="5751201" y="4593602"/>
            <a:ext cx="457130" cy="35678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580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5</a:t>
            </a:r>
            <a:endParaRPr sz="160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0D21F297-CE19-4363-8485-7053D05238E0}"/>
              </a:ext>
            </a:extLst>
          </p:cNvPr>
          <p:cNvSpPr>
            <a:spLocks noGrp="1"/>
          </p:cNvSpPr>
          <p:nvPr/>
        </p:nvSpPr>
        <p:spPr>
          <a:xfrm>
            <a:off x="6291953" y="4593602"/>
            <a:ext cx="3556697" cy="2229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29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Cognito identity</a:t>
            </a:r>
            <a:endParaRPr sz="160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99BDCEFE-D6D8-4548-A21D-B1BFE3ED7320}"/>
              </a:ext>
            </a:extLst>
          </p:cNvPr>
          <p:cNvSpPr>
            <a:spLocks noGrp="1"/>
          </p:cNvSpPr>
          <p:nvPr/>
        </p:nvSpPr>
        <p:spPr>
          <a:xfrm>
            <a:off x="6291953" y="4861191"/>
            <a:ext cx="3556697" cy="2229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29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Authenticated student, lecturer and admin roles</a:t>
            </a:r>
            <a:endParaRPr sz="160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C069DF2A-CDD6-4188-A109-07A2CD212BF6}"/>
              </a:ext>
            </a:extLst>
          </p:cNvPr>
          <p:cNvSpPr>
            <a:spLocks noGrp="1"/>
          </p:cNvSpPr>
          <p:nvPr/>
        </p:nvSpPr>
        <p:spPr>
          <a:xfrm>
            <a:off x="10804443" y="4504406"/>
            <a:ext cx="26759" cy="668971"/>
          </a:xfrm>
          <a:custGeom>
            <a:avLst/>
            <a:gdLst/>
            <a:ahLst/>
            <a:cxnLst/>
            <a:rect l="l" t="t" r="r" b="b"/>
            <a:pathLst>
              <a:path w="26759" h="668971">
                <a:moveTo>
                  <a:pt x="0" y="0"/>
                </a:moveTo>
                <a:lnTo>
                  <a:pt x="26759" y="0"/>
                </a:lnTo>
                <a:lnTo>
                  <a:pt x="26759" y="668971"/>
                </a:lnTo>
                <a:lnTo>
                  <a:pt x="0" y="668971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AE10F456-C373-4228-B2BA-81D1A169730A}"/>
              </a:ext>
            </a:extLst>
          </p:cNvPr>
          <p:cNvSpPr>
            <a:spLocks noGrp="1"/>
          </p:cNvSpPr>
          <p:nvPr/>
        </p:nvSpPr>
        <p:spPr>
          <a:xfrm>
            <a:off x="10951616" y="4593602"/>
            <a:ext cx="356785" cy="356785"/>
          </a:xfrm>
          <a:custGeom>
            <a:avLst/>
            <a:gdLst/>
            <a:ahLst/>
            <a:cxnLst/>
            <a:rect l="l" t="t" r="r" b="b"/>
            <a:pathLst>
              <a:path w="356785" h="356785">
                <a:moveTo>
                  <a:pt x="178392" y="0"/>
                </a:moveTo>
                <a:lnTo>
                  <a:pt x="178392" y="0"/>
                </a:lnTo>
                <a:cubicBezTo>
                  <a:pt x="276850" y="0"/>
                  <a:pt x="356785" y="79935"/>
                  <a:pt x="356785" y="178392"/>
                </a:cubicBezTo>
                <a:lnTo>
                  <a:pt x="356785" y="178392"/>
                </a:lnTo>
                <a:cubicBezTo>
                  <a:pt x="356785" y="276850"/>
                  <a:pt x="276850" y="356785"/>
                  <a:pt x="178392" y="356785"/>
                </a:cubicBezTo>
                <a:lnTo>
                  <a:pt x="178392" y="356785"/>
                </a:lnTo>
                <a:cubicBezTo>
                  <a:pt x="79935" y="356785"/>
                  <a:pt x="0" y="276850"/>
                  <a:pt x="0" y="178392"/>
                </a:cubicBezTo>
                <a:lnTo>
                  <a:pt x="0" y="178392"/>
                </a:lnTo>
                <a:cubicBezTo>
                  <a:pt x="0" y="79935"/>
                  <a:pt x="79935" y="0"/>
                  <a:pt x="178392" y="0"/>
                </a:cubicBez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45D3E322-F9C5-43BB-A16A-181201654F9D}"/>
              </a:ext>
            </a:extLst>
          </p:cNvPr>
          <p:cNvSpPr>
            <a:spLocks noGrp="1"/>
          </p:cNvSpPr>
          <p:nvPr/>
        </p:nvSpPr>
        <p:spPr>
          <a:xfrm>
            <a:off x="10901443" y="4593602"/>
            <a:ext cx="457130" cy="35678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58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6</a:t>
            </a:r>
            <a:endParaRPr sz="160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EDCD33A9-9818-4F5F-BE46-5AD8F755C12C}"/>
              </a:ext>
            </a:extLst>
          </p:cNvPr>
          <p:cNvSpPr>
            <a:spLocks noGrp="1"/>
          </p:cNvSpPr>
          <p:nvPr/>
        </p:nvSpPr>
        <p:spPr>
          <a:xfrm>
            <a:off x="11442195" y="4593602"/>
            <a:ext cx="4024977" cy="2229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29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Research workbench</a:t>
            </a:r>
            <a:endParaRPr sz="160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E61A9EAC-98F2-4620-8AA1-294979E29CA9}"/>
              </a:ext>
            </a:extLst>
          </p:cNvPr>
          <p:cNvSpPr>
            <a:spLocks noGrp="1"/>
          </p:cNvSpPr>
          <p:nvPr/>
        </p:nvSpPr>
        <p:spPr>
          <a:xfrm>
            <a:off x="11442195" y="4861191"/>
            <a:ext cx="4024977" cy="2229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29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Attributable queue, transcript, review, audit and CSV</a:t>
            </a:r>
            <a:endParaRPr sz="160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BF2FA615-37CC-436A-92E1-D9852C6ECB76}"/>
              </a:ext>
            </a:extLst>
          </p:cNvPr>
          <p:cNvSpPr>
            <a:spLocks noGrp="1"/>
          </p:cNvSpPr>
          <p:nvPr/>
        </p:nvSpPr>
        <p:spPr>
          <a:xfrm>
            <a:off x="468280" y="7135693"/>
            <a:ext cx="15341739" cy="1560933"/>
          </a:xfrm>
          <a:custGeom>
            <a:avLst/>
            <a:gdLst/>
            <a:ahLst/>
            <a:cxnLst/>
            <a:rect l="l" t="t" r="r" b="b"/>
            <a:pathLst>
              <a:path w="15341739" h="1560933">
                <a:moveTo>
                  <a:pt x="0" y="0"/>
                </a:moveTo>
                <a:lnTo>
                  <a:pt x="15341739" y="0"/>
                </a:lnTo>
                <a:lnTo>
                  <a:pt x="15341739" y="1560933"/>
                </a:lnTo>
                <a:lnTo>
                  <a:pt x="0" y="1560933"/>
                </a:lnTo>
                <a:lnTo>
                  <a:pt x="0" y="0"/>
                </a:lnTo>
                <a:close/>
              </a:path>
            </a:pathLst>
          </a:custGeom>
          <a:solidFill>
            <a:srgbClr val="4A6D8A">
              <a:alpha val="5098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1A147A80-2C32-4105-ADED-FD4FB3976B88}"/>
              </a:ext>
            </a:extLst>
          </p:cNvPr>
          <p:cNvSpPr>
            <a:spLocks noGrp="1"/>
          </p:cNvSpPr>
          <p:nvPr/>
        </p:nvSpPr>
        <p:spPr>
          <a:xfrm>
            <a:off x="468280" y="7135693"/>
            <a:ext cx="44598" cy="1560933"/>
          </a:xfrm>
          <a:custGeom>
            <a:avLst/>
            <a:gdLst/>
            <a:ahLst/>
            <a:cxnLst/>
            <a:rect l="l" t="t" r="r" b="b"/>
            <a:pathLst>
              <a:path w="44598" h="1560933">
                <a:moveTo>
                  <a:pt x="0" y="0"/>
                </a:moveTo>
                <a:lnTo>
                  <a:pt x="44598" y="0"/>
                </a:lnTo>
                <a:lnTo>
                  <a:pt x="44598" y="1560933"/>
                </a:lnTo>
                <a:lnTo>
                  <a:pt x="0" y="1560933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39AB26F1-42E2-425F-BE10-BCF218FE28C8}"/>
              </a:ext>
            </a:extLst>
          </p:cNvPr>
          <p:cNvSpPr>
            <a:spLocks noGrp="1"/>
          </p:cNvSpPr>
          <p:nvPr/>
        </p:nvSpPr>
        <p:spPr>
          <a:xfrm>
            <a:off x="719144" y="7358683"/>
            <a:ext cx="167243" cy="222990"/>
          </a:xfrm>
          <a:custGeom>
            <a:avLst/>
            <a:gdLst/>
            <a:ahLst/>
            <a:cxnLst/>
            <a:rect l="l" t="t" r="r" b="b"/>
            <a:pathLst>
              <a:path w="167243" h="222990">
                <a:moveTo>
                  <a:pt x="127566" y="167243"/>
                </a:moveTo>
                <a:cubicBezTo>
                  <a:pt x="130746" y="157531"/>
                  <a:pt x="137104" y="148733"/>
                  <a:pt x="144290" y="141155"/>
                </a:cubicBezTo>
                <a:cubicBezTo>
                  <a:pt x="158532" y="126172"/>
                  <a:pt x="167243" y="105920"/>
                  <a:pt x="167243" y="83621"/>
                </a:cubicBezTo>
                <a:cubicBezTo>
                  <a:pt x="167243" y="37455"/>
                  <a:pt x="129787" y="0"/>
                  <a:pt x="83621" y="0"/>
                </a:cubicBezTo>
                <a:cubicBezTo>
                  <a:pt x="37455" y="0"/>
                  <a:pt x="0" y="37455"/>
                  <a:pt x="0" y="83621"/>
                </a:cubicBezTo>
                <a:cubicBezTo>
                  <a:pt x="0" y="105920"/>
                  <a:pt x="8711" y="126172"/>
                  <a:pt x="22952" y="141155"/>
                </a:cubicBezTo>
                <a:cubicBezTo>
                  <a:pt x="30139" y="148733"/>
                  <a:pt x="36541" y="157531"/>
                  <a:pt x="39677" y="167243"/>
                </a:cubicBezTo>
                <a:lnTo>
                  <a:pt x="127523" y="167243"/>
                </a:lnTo>
                <a:close/>
                <a:moveTo>
                  <a:pt x="125432" y="188148"/>
                </a:moveTo>
                <a:lnTo>
                  <a:pt x="41811" y="188148"/>
                </a:lnTo>
                <a:lnTo>
                  <a:pt x="41811" y="195117"/>
                </a:lnTo>
                <a:cubicBezTo>
                  <a:pt x="41811" y="214367"/>
                  <a:pt x="57403" y="229959"/>
                  <a:pt x="76653" y="229959"/>
                </a:cubicBezTo>
                <a:lnTo>
                  <a:pt x="90590" y="229959"/>
                </a:lnTo>
                <a:cubicBezTo>
                  <a:pt x="109840" y="229959"/>
                  <a:pt x="125432" y="214367"/>
                  <a:pt x="125432" y="195117"/>
                </a:cubicBezTo>
                <a:lnTo>
                  <a:pt x="125432" y="188148"/>
                </a:lnTo>
                <a:close/>
                <a:moveTo>
                  <a:pt x="80137" y="48779"/>
                </a:moveTo>
                <a:cubicBezTo>
                  <a:pt x="62803" y="48779"/>
                  <a:pt x="48779" y="62803"/>
                  <a:pt x="48779" y="80137"/>
                </a:cubicBezTo>
                <a:cubicBezTo>
                  <a:pt x="48779" y="85930"/>
                  <a:pt x="44119" y="90590"/>
                  <a:pt x="38326" y="90590"/>
                </a:cubicBezTo>
                <a:cubicBezTo>
                  <a:pt x="32534" y="90590"/>
                  <a:pt x="27874" y="85930"/>
                  <a:pt x="27874" y="80137"/>
                </a:cubicBezTo>
                <a:cubicBezTo>
                  <a:pt x="27874" y="51262"/>
                  <a:pt x="51262" y="27874"/>
                  <a:pt x="80137" y="27874"/>
                </a:cubicBezTo>
                <a:cubicBezTo>
                  <a:pt x="85930" y="27874"/>
                  <a:pt x="90590" y="32534"/>
                  <a:pt x="90590" y="38326"/>
                </a:cubicBezTo>
                <a:cubicBezTo>
                  <a:pt x="90590" y="44119"/>
                  <a:pt x="85930" y="48779"/>
                  <a:pt x="80137" y="48779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249C4B8C-6F8A-4A12-9024-A1A3C1CE1C9C}"/>
              </a:ext>
            </a:extLst>
          </p:cNvPr>
          <p:cNvSpPr>
            <a:spLocks noGrp="1"/>
          </p:cNvSpPr>
          <p:nvPr/>
        </p:nvSpPr>
        <p:spPr>
          <a:xfrm>
            <a:off x="1020878" y="7314085"/>
            <a:ext cx="14884609" cy="31218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58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Why the evolution matters</a:t>
            </a:r>
            <a:endParaRPr sz="1600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A4D50D2B-0641-4450-8731-3AF8ECC796C1}"/>
              </a:ext>
            </a:extLst>
          </p:cNvPr>
          <p:cNvSpPr>
            <a:spLocks noGrp="1"/>
          </p:cNvSpPr>
          <p:nvPr/>
        </p:nvSpPr>
        <p:spPr>
          <a:xfrm>
            <a:off x="1020878" y="7715468"/>
            <a:ext cx="3657043" cy="8027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405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Educational continuity: Socratic questioning and design-thinking phases remain central</a:t>
            </a:r>
            <a:endParaRPr sz="1600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525F5311-E063-4B3B-A867-4545F333D69D}"/>
              </a:ext>
            </a:extLst>
          </p:cNvPr>
          <p:cNvSpPr>
            <a:spLocks noGrp="1"/>
          </p:cNvSpPr>
          <p:nvPr/>
        </p:nvSpPr>
        <p:spPr>
          <a:xfrm>
            <a:off x="4762100" y="7715468"/>
            <a:ext cx="3657043" cy="8027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405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Data integrity: atomic turns, revision isolation and restart-safe idempotency</a:t>
            </a:r>
            <a:endParaRPr sz="1600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496133C0-CF7B-4596-890C-F15172766B8E}"/>
              </a:ext>
            </a:extLst>
          </p:cNvPr>
          <p:cNvSpPr>
            <a:spLocks noGrp="1"/>
          </p:cNvSpPr>
          <p:nvPr/>
        </p:nvSpPr>
        <p:spPr>
          <a:xfrm>
            <a:off x="8503321" y="7715468"/>
            <a:ext cx="3657043" cy="8027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405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Security: authenticated ownership replaces anonymous administrative access</a:t>
            </a:r>
            <a:endParaRPr sz="1600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8C167511-F703-4545-98D0-86DD9CA300C1}"/>
              </a:ext>
            </a:extLst>
          </p:cNvPr>
          <p:cNvSpPr>
            <a:spLocks noGrp="1"/>
          </p:cNvSpPr>
          <p:nvPr/>
        </p:nvSpPr>
        <p:spPr>
          <a:xfrm>
            <a:off x="12244542" y="7715468"/>
            <a:ext cx="3657043" cy="8027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405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Research readiness: automated observation is separated from human judgement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182743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8D1887-FD18-43B4-A54E-C3E74F0DF1F8}"/>
              </a:ext>
            </a:extLst>
          </p:cNvPr>
          <p:cNvSpPr>
            <a:spLocks noGrp="1"/>
          </p:cNvSpPr>
          <p:nvPr/>
        </p:nvSpPr>
        <p:spPr>
          <a:xfrm>
            <a:off x="508000" y="5080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0CBB547-397C-4FD7-A80E-AA2F2C92072C}"/>
              </a:ext>
            </a:extLst>
          </p:cNvPr>
          <p:cNvSpPr>
            <a:spLocks noGrp="1"/>
          </p:cNvSpPr>
          <p:nvPr/>
        </p:nvSpPr>
        <p:spPr>
          <a:xfrm>
            <a:off x="711200" y="635000"/>
            <a:ext cx="19558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spc="7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PHASE MODEL</a:t>
            </a:r>
            <a:endParaRPr sz="1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A100D3A-6991-489C-BC64-9C8582B75E80}"/>
              </a:ext>
            </a:extLst>
          </p:cNvPr>
          <p:cNvSpPr>
            <a:spLocks noGrp="1"/>
          </p:cNvSpPr>
          <p:nvPr/>
        </p:nvSpPr>
        <p:spPr>
          <a:xfrm>
            <a:off x="508000" y="11176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90000"/>
              </a:lnSpc>
              <a:buNone/>
            </a:pPr>
            <a:r>
              <a:rPr sz="36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Five Specialized Coaching Agents</a:t>
            </a:r>
            <a:endParaRPr sz="16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D72698C-40B1-43C3-B3C9-EF089DB1B265}"/>
              </a:ext>
            </a:extLst>
          </p:cNvPr>
          <p:cNvSpPr>
            <a:spLocks noGrp="1"/>
          </p:cNvSpPr>
          <p:nvPr/>
        </p:nvSpPr>
        <p:spPr>
          <a:xfrm>
            <a:off x="508000" y="17272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Pedagogically distinct phases, implemented through one controlled workflow</a:t>
            </a:r>
            <a:endParaRPr sz="16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2CE4F79-B14F-4C31-B88A-642696886BA9}"/>
              </a:ext>
            </a:extLst>
          </p:cNvPr>
          <p:cNvSpPr>
            <a:spLocks noGrp="1"/>
          </p:cNvSpPr>
          <p:nvPr/>
        </p:nvSpPr>
        <p:spPr>
          <a:xfrm>
            <a:off x="508000" y="2260600"/>
            <a:ext cx="2921000" cy="50800"/>
          </a:xfrm>
          <a:custGeom>
            <a:avLst/>
            <a:gdLst/>
            <a:ahLst/>
            <a:cxnLst/>
            <a:rect l="l" t="t" r="r" b="b"/>
            <a:pathLst>
              <a:path w="2921000" h="50800">
                <a:moveTo>
                  <a:pt x="0" y="0"/>
                </a:moveTo>
                <a:lnTo>
                  <a:pt x="2921000" y="0"/>
                </a:lnTo>
                <a:lnTo>
                  <a:pt x="2921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BC737B4-1EA5-4ECF-86BE-264566ECE445}"/>
              </a:ext>
            </a:extLst>
          </p:cNvPr>
          <p:cNvSpPr>
            <a:spLocks noGrp="1"/>
          </p:cNvSpPr>
          <p:nvPr/>
        </p:nvSpPr>
        <p:spPr>
          <a:xfrm>
            <a:off x="508000" y="2438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BDA206A-8A25-4586-9606-456A827AEF4A}"/>
              </a:ext>
            </a:extLst>
          </p:cNvPr>
          <p:cNvSpPr>
            <a:spLocks noGrp="1"/>
          </p:cNvSpPr>
          <p:nvPr/>
        </p:nvSpPr>
        <p:spPr>
          <a:xfrm>
            <a:off x="444500" y="2438400"/>
            <a:ext cx="635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000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1</a:t>
            </a:r>
            <a:endParaRPr sz="16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0217377-1399-4ABD-B1F9-5A4A3597788A}"/>
              </a:ext>
            </a:extLst>
          </p:cNvPr>
          <p:cNvSpPr>
            <a:spLocks noGrp="1"/>
          </p:cNvSpPr>
          <p:nvPr/>
        </p:nvSpPr>
        <p:spPr>
          <a:xfrm>
            <a:off x="1168400" y="2514600"/>
            <a:ext cx="23368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8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Problem Identification</a:t>
            </a:r>
            <a:endParaRPr sz="16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7A85B08-ED9C-4F66-B4DD-B11DABD7880B}"/>
              </a:ext>
            </a:extLst>
          </p:cNvPr>
          <p:cNvSpPr>
            <a:spLocks noGrp="1"/>
          </p:cNvSpPr>
          <p:nvPr/>
        </p:nvSpPr>
        <p:spPr>
          <a:xfrm>
            <a:off x="508000" y="3048000"/>
            <a:ext cx="3009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• Frame the design problem</a:t>
            </a:r>
            <a:endParaRPr sz="16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6E1D4CF-E273-4659-9111-5685250DCBB1}"/>
              </a:ext>
            </a:extLst>
          </p:cNvPr>
          <p:cNvSpPr>
            <a:spLocks noGrp="1"/>
          </p:cNvSpPr>
          <p:nvPr/>
        </p:nvSpPr>
        <p:spPr>
          <a:xfrm>
            <a:off x="508000" y="3352800"/>
            <a:ext cx="3009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• Identify people affected</a:t>
            </a:r>
            <a:endParaRPr sz="16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C0BD88C-75DB-4E5C-B25F-EA8BFCBCF216}"/>
              </a:ext>
            </a:extLst>
          </p:cNvPr>
          <p:cNvSpPr>
            <a:spLocks noGrp="1"/>
          </p:cNvSpPr>
          <p:nvPr/>
        </p:nvSpPr>
        <p:spPr>
          <a:xfrm>
            <a:off x="508000" y="3657600"/>
            <a:ext cx="3009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• Clarify context and evidence</a:t>
            </a:r>
            <a:endParaRPr sz="16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8AD5279-CD2B-47CE-A816-EF3E801AE96E}"/>
              </a:ext>
            </a:extLst>
          </p:cNvPr>
          <p:cNvSpPr>
            <a:spLocks noGrp="1"/>
          </p:cNvSpPr>
          <p:nvPr/>
        </p:nvSpPr>
        <p:spPr>
          <a:xfrm>
            <a:off x="3586480" y="2260600"/>
            <a:ext cx="2921000" cy="50800"/>
          </a:xfrm>
          <a:custGeom>
            <a:avLst/>
            <a:gdLst/>
            <a:ahLst/>
            <a:cxnLst/>
            <a:rect l="l" t="t" r="r" b="b"/>
            <a:pathLst>
              <a:path w="2921000" h="50800">
                <a:moveTo>
                  <a:pt x="0" y="0"/>
                </a:moveTo>
                <a:lnTo>
                  <a:pt x="2921000" y="0"/>
                </a:lnTo>
                <a:lnTo>
                  <a:pt x="2921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52B03D1-6111-475C-B567-6000F8BAA7BD}"/>
              </a:ext>
            </a:extLst>
          </p:cNvPr>
          <p:cNvSpPr>
            <a:spLocks noGrp="1"/>
          </p:cNvSpPr>
          <p:nvPr/>
        </p:nvSpPr>
        <p:spPr>
          <a:xfrm>
            <a:off x="3586480" y="2438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7793FB6-3978-4AD7-8AD8-4A7470DF769B}"/>
              </a:ext>
            </a:extLst>
          </p:cNvPr>
          <p:cNvSpPr>
            <a:spLocks noGrp="1"/>
          </p:cNvSpPr>
          <p:nvPr/>
        </p:nvSpPr>
        <p:spPr>
          <a:xfrm>
            <a:off x="3522980" y="2438400"/>
            <a:ext cx="635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0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2</a:t>
            </a:r>
            <a:endParaRPr sz="16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F62AB90-51A3-4EE4-AC9C-E5AAA35B25F5}"/>
              </a:ext>
            </a:extLst>
          </p:cNvPr>
          <p:cNvSpPr>
            <a:spLocks noGrp="1"/>
          </p:cNvSpPr>
          <p:nvPr/>
        </p:nvSpPr>
        <p:spPr>
          <a:xfrm>
            <a:off x="4246880" y="2514600"/>
            <a:ext cx="2133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8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Concept Generation</a:t>
            </a:r>
            <a:endParaRPr sz="16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8FB15F7-FEBB-4AB7-A100-0A4A53B1C741}"/>
              </a:ext>
            </a:extLst>
          </p:cNvPr>
          <p:cNvSpPr>
            <a:spLocks noGrp="1"/>
          </p:cNvSpPr>
          <p:nvPr/>
        </p:nvSpPr>
        <p:spPr>
          <a:xfrm>
            <a:off x="3586480" y="3048000"/>
            <a:ext cx="3009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• Generate alternatives</a:t>
            </a:r>
            <a:endParaRPr sz="16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8977EEF-C731-41E7-8884-803E7196DF79}"/>
              </a:ext>
            </a:extLst>
          </p:cNvPr>
          <p:cNvSpPr>
            <a:spLocks noGrp="1"/>
          </p:cNvSpPr>
          <p:nvPr/>
        </p:nvSpPr>
        <p:spPr>
          <a:xfrm>
            <a:off x="3586480" y="3352800"/>
            <a:ext cx="3009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• Compare assumptions</a:t>
            </a:r>
            <a:endParaRPr sz="16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B0B9613-2491-4A1A-9CC1-20D87242C45B}"/>
              </a:ext>
            </a:extLst>
          </p:cNvPr>
          <p:cNvSpPr>
            <a:spLocks noGrp="1"/>
          </p:cNvSpPr>
          <p:nvPr/>
        </p:nvSpPr>
        <p:spPr>
          <a:xfrm>
            <a:off x="3586480" y="3657600"/>
            <a:ext cx="3009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• Avoid premature closure</a:t>
            </a:r>
            <a:endParaRPr sz="16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52BA771-FA55-4A3D-83E0-F48BD8C0F5A8}"/>
              </a:ext>
            </a:extLst>
          </p:cNvPr>
          <p:cNvSpPr>
            <a:spLocks noGrp="1"/>
          </p:cNvSpPr>
          <p:nvPr/>
        </p:nvSpPr>
        <p:spPr>
          <a:xfrm>
            <a:off x="6664960" y="2260600"/>
            <a:ext cx="2921000" cy="50800"/>
          </a:xfrm>
          <a:custGeom>
            <a:avLst/>
            <a:gdLst/>
            <a:ahLst/>
            <a:cxnLst/>
            <a:rect l="l" t="t" r="r" b="b"/>
            <a:pathLst>
              <a:path w="2921000" h="50800">
                <a:moveTo>
                  <a:pt x="0" y="0"/>
                </a:moveTo>
                <a:lnTo>
                  <a:pt x="2921000" y="0"/>
                </a:lnTo>
                <a:lnTo>
                  <a:pt x="2921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804E9CC-6AD9-4944-A4BF-9D2C7B3393EE}"/>
              </a:ext>
            </a:extLst>
          </p:cNvPr>
          <p:cNvSpPr>
            <a:spLocks noGrp="1"/>
          </p:cNvSpPr>
          <p:nvPr/>
        </p:nvSpPr>
        <p:spPr>
          <a:xfrm>
            <a:off x="6664960" y="2438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B37F64E-5EE5-4B83-BD53-1F2665A597D2}"/>
              </a:ext>
            </a:extLst>
          </p:cNvPr>
          <p:cNvSpPr>
            <a:spLocks noGrp="1"/>
          </p:cNvSpPr>
          <p:nvPr/>
        </p:nvSpPr>
        <p:spPr>
          <a:xfrm>
            <a:off x="6601460" y="2438400"/>
            <a:ext cx="635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000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3</a:t>
            </a:r>
            <a:endParaRPr sz="16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6F7AE3C-B72C-4B5B-A27F-0AAE453DCBC1}"/>
              </a:ext>
            </a:extLst>
          </p:cNvPr>
          <p:cNvSpPr>
            <a:spLocks noGrp="1"/>
          </p:cNvSpPr>
          <p:nvPr/>
        </p:nvSpPr>
        <p:spPr>
          <a:xfrm>
            <a:off x="7325360" y="2514600"/>
            <a:ext cx="21971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8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Design Specification</a:t>
            </a:r>
            <a:endParaRPr sz="16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9FECDBF-7EF2-422F-95C7-C90B4944BB62}"/>
              </a:ext>
            </a:extLst>
          </p:cNvPr>
          <p:cNvSpPr>
            <a:spLocks noGrp="1"/>
          </p:cNvSpPr>
          <p:nvPr/>
        </p:nvSpPr>
        <p:spPr>
          <a:xfrm>
            <a:off x="6664960" y="3048000"/>
            <a:ext cx="3009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• Define criteria</a:t>
            </a:r>
            <a:endParaRPr sz="16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6A838BC-BF6B-4483-829E-2EBEFDC7F61B}"/>
              </a:ext>
            </a:extLst>
          </p:cNvPr>
          <p:cNvSpPr>
            <a:spLocks noGrp="1"/>
          </p:cNvSpPr>
          <p:nvPr/>
        </p:nvSpPr>
        <p:spPr>
          <a:xfrm>
            <a:off x="6664960" y="3352800"/>
            <a:ext cx="3009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• Test feasibility</a:t>
            </a:r>
            <a:endParaRPr sz="16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4C832C3-E404-4825-B09A-C19DD685F04B}"/>
              </a:ext>
            </a:extLst>
          </p:cNvPr>
          <p:cNvSpPr>
            <a:spLocks noGrp="1"/>
          </p:cNvSpPr>
          <p:nvPr/>
        </p:nvSpPr>
        <p:spPr>
          <a:xfrm>
            <a:off x="6664960" y="3657600"/>
            <a:ext cx="3009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• Explain trade-offs</a:t>
            </a:r>
            <a:endParaRPr sz="160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B3C0CA0-0AF7-407A-BA95-F04CF596FF66}"/>
              </a:ext>
            </a:extLst>
          </p:cNvPr>
          <p:cNvSpPr>
            <a:spLocks noGrp="1"/>
          </p:cNvSpPr>
          <p:nvPr/>
        </p:nvSpPr>
        <p:spPr>
          <a:xfrm>
            <a:off x="9743440" y="2260600"/>
            <a:ext cx="2921000" cy="50800"/>
          </a:xfrm>
          <a:custGeom>
            <a:avLst/>
            <a:gdLst/>
            <a:ahLst/>
            <a:cxnLst/>
            <a:rect l="l" t="t" r="r" b="b"/>
            <a:pathLst>
              <a:path w="2921000" h="50800">
                <a:moveTo>
                  <a:pt x="0" y="0"/>
                </a:moveTo>
                <a:lnTo>
                  <a:pt x="2921000" y="0"/>
                </a:lnTo>
                <a:lnTo>
                  <a:pt x="2921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312755A2-2056-4CC7-BF40-ABA2962109EF}"/>
              </a:ext>
            </a:extLst>
          </p:cNvPr>
          <p:cNvSpPr>
            <a:spLocks noGrp="1"/>
          </p:cNvSpPr>
          <p:nvPr/>
        </p:nvSpPr>
        <p:spPr>
          <a:xfrm>
            <a:off x="9743440" y="2540000"/>
            <a:ext cx="469900" cy="508000"/>
          </a:xfrm>
          <a:custGeom>
            <a:avLst/>
            <a:gdLst/>
            <a:ahLst/>
            <a:cxnLst/>
            <a:rect l="l" t="t" r="r" b="b"/>
            <a:pathLst>
              <a:path w="469900" h="508000">
                <a:moveTo>
                  <a:pt x="234950" y="0"/>
                </a:moveTo>
                <a:lnTo>
                  <a:pt x="234950" y="0"/>
                </a:lnTo>
                <a:cubicBezTo>
                  <a:pt x="364622" y="0"/>
                  <a:pt x="469900" y="105278"/>
                  <a:pt x="469900" y="234950"/>
                </a:cubicBezTo>
                <a:lnTo>
                  <a:pt x="469900" y="273050"/>
                </a:lnTo>
                <a:cubicBezTo>
                  <a:pt x="469900" y="402722"/>
                  <a:pt x="364622" y="508000"/>
                  <a:pt x="234950" y="508000"/>
                </a:cubicBezTo>
                <a:lnTo>
                  <a:pt x="234950" y="508000"/>
                </a:lnTo>
                <a:cubicBezTo>
                  <a:pt x="105278" y="508000"/>
                  <a:pt x="0" y="402722"/>
                  <a:pt x="0" y="273050"/>
                </a:cubicBezTo>
                <a:lnTo>
                  <a:pt x="0" y="234950"/>
                </a:lnTo>
                <a:cubicBezTo>
                  <a:pt x="0" y="105278"/>
                  <a:pt x="105278" y="0"/>
                  <a:pt x="234950" y="0"/>
                </a:cubicBez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F7446C4-70AA-47CC-B57F-F5A3D72D1DF1}"/>
              </a:ext>
            </a:extLst>
          </p:cNvPr>
          <p:cNvSpPr>
            <a:spLocks noGrp="1"/>
          </p:cNvSpPr>
          <p:nvPr/>
        </p:nvSpPr>
        <p:spPr>
          <a:xfrm>
            <a:off x="9679940" y="2540000"/>
            <a:ext cx="5969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0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4</a:t>
            </a:r>
            <a:endParaRPr sz="16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DEC04BE-9FC6-460F-800F-BF34C8C75A8E}"/>
              </a:ext>
            </a:extLst>
          </p:cNvPr>
          <p:cNvSpPr>
            <a:spLocks noGrp="1"/>
          </p:cNvSpPr>
          <p:nvPr/>
        </p:nvSpPr>
        <p:spPr>
          <a:xfrm>
            <a:off x="10361454" y="2438400"/>
            <a:ext cx="2425700" cy="711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8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Deep Analysis</a:t>
            </a:r>
            <a:endParaRPr sz="16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A162388-F7F6-4AAF-9408-3BD4684C7CBD}"/>
              </a:ext>
            </a:extLst>
          </p:cNvPr>
          <p:cNvSpPr>
            <a:spLocks noGrp="1"/>
          </p:cNvSpPr>
          <p:nvPr/>
        </p:nvSpPr>
        <p:spPr>
          <a:xfrm>
            <a:off x="9743440" y="3251200"/>
            <a:ext cx="3009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• Evaluate evidence</a:t>
            </a:r>
            <a:endParaRPr sz="16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536FC52-6662-48A3-9651-1A9A2AA4CCAD}"/>
              </a:ext>
            </a:extLst>
          </p:cNvPr>
          <p:cNvSpPr>
            <a:spLocks noGrp="1"/>
          </p:cNvSpPr>
          <p:nvPr/>
        </p:nvSpPr>
        <p:spPr>
          <a:xfrm>
            <a:off x="9743440" y="3556000"/>
            <a:ext cx="3009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• Surface ethics and risk</a:t>
            </a:r>
            <a:endParaRPr sz="16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5DCAB7A7-DD1D-4487-9378-042D8C14BDA7}"/>
              </a:ext>
            </a:extLst>
          </p:cNvPr>
          <p:cNvSpPr>
            <a:spLocks noGrp="1"/>
          </p:cNvSpPr>
          <p:nvPr/>
        </p:nvSpPr>
        <p:spPr>
          <a:xfrm>
            <a:off x="9743440" y="3860800"/>
            <a:ext cx="3009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• Challenge limitations</a:t>
            </a:r>
            <a:endParaRPr sz="160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34414DEB-7CBD-4712-9FFD-109CA5E57B22}"/>
              </a:ext>
            </a:extLst>
          </p:cNvPr>
          <p:cNvSpPr>
            <a:spLocks noGrp="1"/>
          </p:cNvSpPr>
          <p:nvPr/>
        </p:nvSpPr>
        <p:spPr>
          <a:xfrm>
            <a:off x="12821920" y="2260600"/>
            <a:ext cx="2921000" cy="50800"/>
          </a:xfrm>
          <a:custGeom>
            <a:avLst/>
            <a:gdLst/>
            <a:ahLst/>
            <a:cxnLst/>
            <a:rect l="l" t="t" r="r" b="b"/>
            <a:pathLst>
              <a:path w="2921000" h="50800">
                <a:moveTo>
                  <a:pt x="0" y="0"/>
                </a:moveTo>
                <a:lnTo>
                  <a:pt x="2921000" y="0"/>
                </a:lnTo>
                <a:lnTo>
                  <a:pt x="2921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21DDFDF6-7D4E-4FB6-914E-0B94E81CD809}"/>
              </a:ext>
            </a:extLst>
          </p:cNvPr>
          <p:cNvSpPr>
            <a:spLocks noGrp="1"/>
          </p:cNvSpPr>
          <p:nvPr/>
        </p:nvSpPr>
        <p:spPr>
          <a:xfrm>
            <a:off x="12821920" y="2438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94B8604F-DA9A-48FF-ACAA-9994016E3C15}"/>
              </a:ext>
            </a:extLst>
          </p:cNvPr>
          <p:cNvSpPr>
            <a:spLocks noGrp="1"/>
          </p:cNvSpPr>
          <p:nvPr/>
        </p:nvSpPr>
        <p:spPr>
          <a:xfrm>
            <a:off x="12758420" y="2438400"/>
            <a:ext cx="635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000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5</a:t>
            </a:r>
            <a:endParaRPr sz="160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29F4B184-689F-4DAE-B5AC-26672D129506}"/>
              </a:ext>
            </a:extLst>
          </p:cNvPr>
          <p:cNvSpPr>
            <a:spLocks noGrp="1"/>
          </p:cNvSpPr>
          <p:nvPr/>
        </p:nvSpPr>
        <p:spPr>
          <a:xfrm>
            <a:off x="13482320" y="2514600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8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Reflection</a:t>
            </a:r>
            <a:endParaRPr sz="160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2AC8D99D-C350-4414-8A60-EA1F9B542B4F}"/>
              </a:ext>
            </a:extLst>
          </p:cNvPr>
          <p:cNvSpPr>
            <a:spLocks noGrp="1"/>
          </p:cNvSpPr>
          <p:nvPr/>
        </p:nvSpPr>
        <p:spPr>
          <a:xfrm>
            <a:off x="12821920" y="3048000"/>
            <a:ext cx="3009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• Revisit reasoning</a:t>
            </a:r>
            <a:endParaRPr sz="160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4DAFA76A-B537-4D9E-9DD8-B7BF1AF23D2F}"/>
              </a:ext>
            </a:extLst>
          </p:cNvPr>
          <p:cNvSpPr>
            <a:spLocks noGrp="1"/>
          </p:cNvSpPr>
          <p:nvPr/>
        </p:nvSpPr>
        <p:spPr>
          <a:xfrm>
            <a:off x="12821920" y="3352800"/>
            <a:ext cx="3009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• Integrate feedback</a:t>
            </a:r>
            <a:endParaRPr sz="160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610AB272-14C4-4CB4-B63A-1DB0F7FE11CC}"/>
              </a:ext>
            </a:extLst>
          </p:cNvPr>
          <p:cNvSpPr>
            <a:spLocks noGrp="1"/>
          </p:cNvSpPr>
          <p:nvPr/>
        </p:nvSpPr>
        <p:spPr>
          <a:xfrm>
            <a:off x="12821920" y="3657600"/>
            <a:ext cx="3009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• Synthesize learning</a:t>
            </a:r>
            <a:endParaRPr sz="160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5ADB3A07-C3E5-40DD-AADD-3F0B285C806E}"/>
              </a:ext>
            </a:extLst>
          </p:cNvPr>
          <p:cNvSpPr>
            <a:spLocks noGrp="1"/>
          </p:cNvSpPr>
          <p:nvPr/>
        </p:nvSpPr>
        <p:spPr>
          <a:xfrm>
            <a:off x="533400" y="4318000"/>
            <a:ext cx="7493000" cy="3352800"/>
          </a:xfrm>
          <a:custGeom>
            <a:avLst/>
            <a:gdLst/>
            <a:ahLst/>
            <a:cxnLst/>
            <a:rect l="l" t="t" r="r" b="b"/>
            <a:pathLst>
              <a:path w="7493000" h="3352800">
                <a:moveTo>
                  <a:pt x="0" y="0"/>
                </a:moveTo>
                <a:lnTo>
                  <a:pt x="7493000" y="0"/>
                </a:lnTo>
                <a:lnTo>
                  <a:pt x="74930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>
              <a:alpha val="5098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2E773F13-8C03-443C-81F5-7084334072EE}"/>
              </a:ext>
            </a:extLst>
          </p:cNvPr>
          <p:cNvSpPr>
            <a:spLocks noGrp="1"/>
          </p:cNvSpPr>
          <p:nvPr/>
        </p:nvSpPr>
        <p:spPr>
          <a:xfrm>
            <a:off x="533400" y="4318000"/>
            <a:ext cx="50800" cy="3352800"/>
          </a:xfrm>
          <a:custGeom>
            <a:avLst/>
            <a:gdLst/>
            <a:ahLst/>
            <a:cxnLst/>
            <a:rect l="l" t="t" r="r" b="b"/>
            <a:pathLst>
              <a:path w="50800" h="3352800">
                <a:moveTo>
                  <a:pt x="0" y="0"/>
                </a:moveTo>
                <a:lnTo>
                  <a:pt x="50800" y="0"/>
                </a:lnTo>
                <a:lnTo>
                  <a:pt x="508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6B6EAC96-956B-43FF-AB94-DAA1D9E3C771}"/>
              </a:ext>
            </a:extLst>
          </p:cNvPr>
          <p:cNvSpPr>
            <a:spLocks noGrp="1"/>
          </p:cNvSpPr>
          <p:nvPr/>
        </p:nvSpPr>
        <p:spPr>
          <a:xfrm>
            <a:off x="844550" y="4584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D4DDE05F-5FDC-41D6-96BC-2F34BC608707}"/>
              </a:ext>
            </a:extLst>
          </p:cNvPr>
          <p:cNvSpPr>
            <a:spLocks noGrp="1"/>
          </p:cNvSpPr>
          <p:nvPr/>
        </p:nvSpPr>
        <p:spPr>
          <a:xfrm>
            <a:off x="1104900" y="4521200"/>
            <a:ext cx="70358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8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Workflow Characteristics</a:t>
            </a:r>
            <a:endParaRPr sz="160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F10335DC-7B3F-4813-ACC1-D9E862E629A1}"/>
              </a:ext>
            </a:extLst>
          </p:cNvPr>
          <p:cNvSpPr>
            <a:spLocks noGrp="1"/>
          </p:cNvSpPr>
          <p:nvPr/>
        </p:nvSpPr>
        <p:spPr>
          <a:xfrm>
            <a:off x="812800" y="5029200"/>
            <a:ext cx="73152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One orchestrator: phase prompts share authoritative notebook state</a:t>
            </a:r>
            <a:endParaRPr sz="160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73AE6BE6-BD34-44BE-B7F4-504A9F39BF42}"/>
              </a:ext>
            </a:extLst>
          </p:cNvPr>
          <p:cNvSpPr>
            <a:spLocks noGrp="1"/>
          </p:cNvSpPr>
          <p:nvPr/>
        </p:nvSpPr>
        <p:spPr>
          <a:xfrm>
            <a:off x="812800" y="5740400"/>
            <a:ext cx="73152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Evidence before advancement: the model returns a validated STAY or ADVANCE recommendation</a:t>
            </a:r>
            <a:endParaRPr sz="160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9BEB28CA-C13E-4FA9-A38E-0B079887BD18}"/>
              </a:ext>
            </a:extLst>
          </p:cNvPr>
          <p:cNvSpPr>
            <a:spLocks noGrp="1"/>
          </p:cNvSpPr>
          <p:nvPr/>
        </p:nvSpPr>
        <p:spPr>
          <a:xfrm>
            <a:off x="812800" y="6451600"/>
            <a:ext cx="73152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Phase 1: Next remains explicit; auto-advance only when configured</a:t>
            </a:r>
            <a:endParaRPr sz="160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C49D0026-D04E-49A8-89D1-99B9C3ADA572}"/>
              </a:ext>
            </a:extLst>
          </p:cNvPr>
          <p:cNvSpPr>
            <a:spLocks noGrp="1"/>
          </p:cNvSpPr>
          <p:nvPr/>
        </p:nvSpPr>
        <p:spPr>
          <a:xfrm>
            <a:off x="812800" y="6858000"/>
            <a:ext cx="73152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Phase 2: students may revisit any phase without erasing completion</a:t>
            </a:r>
            <a:endParaRPr sz="160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D6D7CCFD-FCF8-4EBE-8E04-4EFC55AD011C}"/>
              </a:ext>
            </a:extLst>
          </p:cNvPr>
          <p:cNvSpPr>
            <a:spLocks noGrp="1"/>
          </p:cNvSpPr>
          <p:nvPr/>
        </p:nvSpPr>
        <p:spPr>
          <a:xfrm>
            <a:off x="8255000" y="4318000"/>
            <a:ext cx="7493000" cy="3352800"/>
          </a:xfrm>
          <a:custGeom>
            <a:avLst/>
            <a:gdLst/>
            <a:ahLst/>
            <a:cxnLst/>
            <a:rect l="l" t="t" r="r" b="b"/>
            <a:pathLst>
              <a:path w="7493000" h="3352800">
                <a:moveTo>
                  <a:pt x="0" y="0"/>
                </a:moveTo>
                <a:lnTo>
                  <a:pt x="7493000" y="0"/>
                </a:lnTo>
                <a:lnTo>
                  <a:pt x="74930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>
              <a:alpha val="5098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6274D832-B9C1-4C58-8DF2-A0BF0F0EAF66}"/>
              </a:ext>
            </a:extLst>
          </p:cNvPr>
          <p:cNvSpPr>
            <a:spLocks noGrp="1"/>
          </p:cNvSpPr>
          <p:nvPr/>
        </p:nvSpPr>
        <p:spPr>
          <a:xfrm>
            <a:off x="8255000" y="4318000"/>
            <a:ext cx="50800" cy="3352800"/>
          </a:xfrm>
          <a:custGeom>
            <a:avLst/>
            <a:gdLst/>
            <a:ahLst/>
            <a:cxnLst/>
            <a:rect l="l" t="t" r="r" b="b"/>
            <a:pathLst>
              <a:path w="50800" h="3352800">
                <a:moveTo>
                  <a:pt x="0" y="0"/>
                </a:moveTo>
                <a:lnTo>
                  <a:pt x="50800" y="0"/>
                </a:lnTo>
                <a:lnTo>
                  <a:pt x="508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8A50CF6F-C53C-4F4F-A9F0-F0AC69E86922}"/>
              </a:ext>
            </a:extLst>
          </p:cNvPr>
          <p:cNvSpPr>
            <a:spLocks noGrp="1"/>
          </p:cNvSpPr>
          <p:nvPr/>
        </p:nvSpPr>
        <p:spPr>
          <a:xfrm>
            <a:off x="8566150" y="4584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6D805CE7-6D86-43AE-A5E2-4B6494A01F79}"/>
              </a:ext>
            </a:extLst>
          </p:cNvPr>
          <p:cNvSpPr>
            <a:spLocks noGrp="1"/>
          </p:cNvSpPr>
          <p:nvPr/>
        </p:nvSpPr>
        <p:spPr>
          <a:xfrm>
            <a:off x="8826500" y="4521200"/>
            <a:ext cx="70358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8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Why not five autonomous models?</a:t>
            </a:r>
            <a:endParaRPr sz="160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49F91EED-4BD6-4AEC-AA09-7834F5D18B3E}"/>
              </a:ext>
            </a:extLst>
          </p:cNvPr>
          <p:cNvSpPr>
            <a:spLocks noGrp="1"/>
          </p:cNvSpPr>
          <p:nvPr/>
        </p:nvSpPr>
        <p:spPr>
          <a:xfrm>
            <a:off x="8534400" y="5029200"/>
            <a:ext cx="73152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Coherence: one request carries history, sources, phase and coaching profile</a:t>
            </a:r>
            <a:endParaRPr sz="160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0A9DE6A9-43D6-4769-868D-508D82AF1C00}"/>
              </a:ext>
            </a:extLst>
          </p:cNvPr>
          <p:cNvSpPr>
            <a:spLocks noGrp="1"/>
          </p:cNvSpPr>
          <p:nvPr/>
        </p:nvSpPr>
        <p:spPr>
          <a:xfrm>
            <a:off x="8534400" y="5740400"/>
            <a:ext cx="73152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Governance: the backend validates phase, citations and transitions</a:t>
            </a:r>
            <a:endParaRPr sz="160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A6C330D6-0DD1-473C-99E6-34BFD5E53B90}"/>
              </a:ext>
            </a:extLst>
          </p:cNvPr>
          <p:cNvSpPr>
            <a:spLocks noGrp="1"/>
          </p:cNvSpPr>
          <p:nvPr/>
        </p:nvSpPr>
        <p:spPr>
          <a:xfrm>
            <a:off x="8534400" y="6451600"/>
            <a:ext cx="73152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Reliability: one atomic boundary prevents partially persisted progress</a:t>
            </a:r>
            <a:endParaRPr sz="160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78D64483-7C91-4F76-81C4-5C16723AA049}"/>
              </a:ext>
            </a:extLst>
          </p:cNvPr>
          <p:cNvSpPr>
            <a:spLocks noGrp="1"/>
          </p:cNvSpPr>
          <p:nvPr/>
        </p:nvSpPr>
        <p:spPr>
          <a:xfrm>
            <a:off x="8534400" y="6858000"/>
            <a:ext cx="73152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Cost control: one provider invocation per student contribution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72485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4F91A40-0D1A-4882-9590-3AE79F70DCE9}"/>
              </a:ext>
            </a:extLst>
          </p:cNvPr>
          <p:cNvSpPr>
            <a:spLocks noGrp="1"/>
          </p:cNvSpPr>
          <p:nvPr/>
        </p:nvSpPr>
        <p:spPr>
          <a:xfrm>
            <a:off x="465455" y="465455"/>
            <a:ext cx="46545" cy="465455"/>
          </a:xfrm>
          <a:custGeom>
            <a:avLst/>
            <a:gdLst/>
            <a:ahLst/>
            <a:cxnLst/>
            <a:rect l="l" t="t" r="r" b="b"/>
            <a:pathLst>
              <a:path w="46545" h="465455">
                <a:moveTo>
                  <a:pt x="0" y="0"/>
                </a:moveTo>
                <a:lnTo>
                  <a:pt x="46545" y="0"/>
                </a:lnTo>
                <a:lnTo>
                  <a:pt x="46545" y="465455"/>
                </a:lnTo>
                <a:lnTo>
                  <a:pt x="0" y="465455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7B5F12-62E3-43B4-B6AC-B6BDA72C573F}"/>
              </a:ext>
            </a:extLst>
          </p:cNvPr>
          <p:cNvSpPr>
            <a:spLocks noGrp="1"/>
          </p:cNvSpPr>
          <p:nvPr/>
        </p:nvSpPr>
        <p:spPr>
          <a:xfrm>
            <a:off x="651636" y="581818"/>
            <a:ext cx="2385455" cy="23272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83" spc="64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RESEARCH FRAMEWORKS</a:t>
            </a:r>
            <a:endParaRPr sz="1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6477B07-6F33-4AEF-95B3-A90D234ECDD8}"/>
              </a:ext>
            </a:extLst>
          </p:cNvPr>
          <p:cNvSpPr>
            <a:spLocks noGrp="1"/>
          </p:cNvSpPr>
          <p:nvPr/>
        </p:nvSpPr>
        <p:spPr>
          <a:xfrm>
            <a:off x="465455" y="1024000"/>
            <a:ext cx="15534545" cy="46545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90000"/>
              </a:lnSpc>
              <a:buNone/>
            </a:pPr>
            <a:r>
              <a:rPr sz="3299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How the Coach Observes Critical Thinking</a:t>
            </a:r>
            <a:endParaRPr sz="16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575772C-116B-491D-A1F3-807CEFDEED50}"/>
              </a:ext>
            </a:extLst>
          </p:cNvPr>
          <p:cNvSpPr>
            <a:spLocks noGrp="1"/>
          </p:cNvSpPr>
          <p:nvPr/>
        </p:nvSpPr>
        <p:spPr>
          <a:xfrm>
            <a:off x="465455" y="1582545"/>
            <a:ext cx="15418182" cy="27927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466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Multiple research lenses support reflection and validation; none is a grade.</a:t>
            </a:r>
            <a:endParaRPr sz="16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83A88E8-E983-45A1-8906-90149D1F9690}"/>
              </a:ext>
            </a:extLst>
          </p:cNvPr>
          <p:cNvSpPr>
            <a:spLocks noGrp="1"/>
          </p:cNvSpPr>
          <p:nvPr/>
        </p:nvSpPr>
        <p:spPr>
          <a:xfrm>
            <a:off x="523636" y="2141091"/>
            <a:ext cx="174545" cy="232727"/>
          </a:xfrm>
          <a:custGeom>
            <a:avLst/>
            <a:gdLst/>
            <a:ahLst/>
            <a:cxnLst/>
            <a:rect l="l" t="t" r="r" b="b"/>
            <a:pathLst>
              <a:path w="174545" h="232727">
                <a:moveTo>
                  <a:pt x="113591" y="30364"/>
                </a:moveTo>
                <a:cubicBezTo>
                  <a:pt x="118318" y="23864"/>
                  <a:pt x="116864" y="14773"/>
                  <a:pt x="110364" y="10045"/>
                </a:cubicBezTo>
                <a:cubicBezTo>
                  <a:pt x="103864" y="5318"/>
                  <a:pt x="94773" y="6773"/>
                  <a:pt x="90045" y="13273"/>
                </a:cubicBezTo>
                <a:lnTo>
                  <a:pt x="41864" y="79500"/>
                </a:lnTo>
                <a:lnTo>
                  <a:pt x="24818" y="62455"/>
                </a:lnTo>
                <a:cubicBezTo>
                  <a:pt x="19136" y="56773"/>
                  <a:pt x="9909" y="56773"/>
                  <a:pt x="4227" y="62455"/>
                </a:cubicBezTo>
                <a:cubicBezTo>
                  <a:pt x="-1455" y="68136"/>
                  <a:pt x="-1455" y="77364"/>
                  <a:pt x="4227" y="83045"/>
                </a:cubicBezTo>
                <a:lnTo>
                  <a:pt x="33318" y="112136"/>
                </a:lnTo>
                <a:cubicBezTo>
                  <a:pt x="36318" y="115136"/>
                  <a:pt x="40500" y="116682"/>
                  <a:pt x="44727" y="116364"/>
                </a:cubicBezTo>
                <a:cubicBezTo>
                  <a:pt x="48955" y="116045"/>
                  <a:pt x="52864" y="113864"/>
                  <a:pt x="55364" y="110409"/>
                </a:cubicBezTo>
                <a:lnTo>
                  <a:pt x="113545" y="30409"/>
                </a:lnTo>
                <a:close/>
                <a:moveTo>
                  <a:pt x="171773" y="92182"/>
                </a:moveTo>
                <a:cubicBezTo>
                  <a:pt x="176500" y="85682"/>
                  <a:pt x="175045" y="76591"/>
                  <a:pt x="168545" y="71864"/>
                </a:cubicBezTo>
                <a:cubicBezTo>
                  <a:pt x="162045" y="67136"/>
                  <a:pt x="152955" y="68591"/>
                  <a:pt x="148227" y="75091"/>
                </a:cubicBezTo>
                <a:lnTo>
                  <a:pt x="70955" y="181318"/>
                </a:lnTo>
                <a:lnTo>
                  <a:pt x="39364" y="149727"/>
                </a:lnTo>
                <a:cubicBezTo>
                  <a:pt x="33682" y="144045"/>
                  <a:pt x="24455" y="144045"/>
                  <a:pt x="18773" y="149727"/>
                </a:cubicBezTo>
                <a:cubicBezTo>
                  <a:pt x="13091" y="155409"/>
                  <a:pt x="13091" y="164636"/>
                  <a:pt x="18773" y="170318"/>
                </a:cubicBezTo>
                <a:lnTo>
                  <a:pt x="62409" y="213955"/>
                </a:lnTo>
                <a:cubicBezTo>
                  <a:pt x="65409" y="216955"/>
                  <a:pt x="69591" y="218500"/>
                  <a:pt x="73818" y="218182"/>
                </a:cubicBezTo>
                <a:cubicBezTo>
                  <a:pt x="78045" y="217864"/>
                  <a:pt x="81955" y="215682"/>
                  <a:pt x="84455" y="212227"/>
                </a:cubicBezTo>
                <a:lnTo>
                  <a:pt x="171727" y="92227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1E047A7-0E29-4920-973C-C50D09AAE9BB}"/>
              </a:ext>
            </a:extLst>
          </p:cNvPr>
          <p:cNvSpPr>
            <a:spLocks noGrp="1"/>
          </p:cNvSpPr>
          <p:nvPr/>
        </p:nvSpPr>
        <p:spPr>
          <a:xfrm>
            <a:off x="756364" y="2094545"/>
            <a:ext cx="7377455" cy="32581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833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Socratic Method + CLEAR</a:t>
            </a:r>
            <a:endParaRPr sz="1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F45D17B-BEC3-4328-B25D-E52BDA4444FB}"/>
              </a:ext>
            </a:extLst>
          </p:cNvPr>
          <p:cNvSpPr>
            <a:spLocks noGrp="1"/>
          </p:cNvSpPr>
          <p:nvPr/>
        </p:nvSpPr>
        <p:spPr>
          <a:xfrm>
            <a:off x="488727" y="2560000"/>
            <a:ext cx="7528727" cy="1117091"/>
          </a:xfrm>
          <a:custGeom>
            <a:avLst/>
            <a:gdLst/>
            <a:ahLst/>
            <a:cxnLst/>
            <a:rect l="l" t="t" r="r" b="b"/>
            <a:pathLst>
              <a:path w="7528727" h="1117091">
                <a:moveTo>
                  <a:pt x="0" y="0"/>
                </a:moveTo>
                <a:lnTo>
                  <a:pt x="7528727" y="0"/>
                </a:lnTo>
                <a:lnTo>
                  <a:pt x="7528727" y="1117091"/>
                </a:lnTo>
                <a:lnTo>
                  <a:pt x="0" y="1117091"/>
                </a:lnTo>
                <a:lnTo>
                  <a:pt x="0" y="0"/>
                </a:lnTo>
                <a:close/>
              </a:path>
            </a:pathLst>
          </a:custGeom>
          <a:solidFill>
            <a:srgbClr val="4A6D8A">
              <a:alpha val="5098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A741A43-FE39-4B9E-BB62-C43F61E6921A}"/>
              </a:ext>
            </a:extLst>
          </p:cNvPr>
          <p:cNvSpPr>
            <a:spLocks noGrp="1"/>
          </p:cNvSpPr>
          <p:nvPr/>
        </p:nvSpPr>
        <p:spPr>
          <a:xfrm>
            <a:off x="488727" y="2560000"/>
            <a:ext cx="46545" cy="1117091"/>
          </a:xfrm>
          <a:custGeom>
            <a:avLst/>
            <a:gdLst/>
            <a:ahLst/>
            <a:cxnLst/>
            <a:rect l="l" t="t" r="r" b="b"/>
            <a:pathLst>
              <a:path w="46545" h="1117091">
                <a:moveTo>
                  <a:pt x="0" y="0"/>
                </a:moveTo>
                <a:lnTo>
                  <a:pt x="46545" y="0"/>
                </a:lnTo>
                <a:lnTo>
                  <a:pt x="46545" y="1117091"/>
                </a:lnTo>
                <a:lnTo>
                  <a:pt x="0" y="1117091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561FF4A-8BFD-47A9-A466-F7F4EE99356D}"/>
              </a:ext>
            </a:extLst>
          </p:cNvPr>
          <p:cNvSpPr>
            <a:spLocks noGrp="1"/>
          </p:cNvSpPr>
          <p:nvPr/>
        </p:nvSpPr>
        <p:spPr>
          <a:xfrm>
            <a:off x="698182" y="2699636"/>
            <a:ext cx="7412364" cy="27927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466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Purpose</a:t>
            </a:r>
            <a:endParaRPr sz="16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77A2454-7BEF-4D08-866A-214CF08448C8}"/>
              </a:ext>
            </a:extLst>
          </p:cNvPr>
          <p:cNvSpPr>
            <a:spLocks noGrp="1"/>
          </p:cNvSpPr>
          <p:nvPr/>
        </p:nvSpPr>
        <p:spPr>
          <a:xfrm>
            <a:off x="698182" y="3072000"/>
            <a:ext cx="7400727" cy="46545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83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Questions deepen reasoning; CLEAR describes how a student frames a request.</a:t>
            </a:r>
            <a:endParaRPr sz="16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3185AD3-FF16-4F34-83DD-186997E16A62}"/>
              </a:ext>
            </a:extLst>
          </p:cNvPr>
          <p:cNvSpPr>
            <a:spLocks noGrp="1"/>
          </p:cNvSpPr>
          <p:nvPr/>
        </p:nvSpPr>
        <p:spPr>
          <a:xfrm>
            <a:off x="479418" y="3816727"/>
            <a:ext cx="27927" cy="651636"/>
          </a:xfrm>
          <a:custGeom>
            <a:avLst/>
            <a:gdLst/>
            <a:ahLst/>
            <a:cxnLst/>
            <a:rect l="l" t="t" r="r" b="b"/>
            <a:pathLst>
              <a:path w="27927" h="651636">
                <a:moveTo>
                  <a:pt x="0" y="0"/>
                </a:moveTo>
                <a:lnTo>
                  <a:pt x="27927" y="0"/>
                </a:lnTo>
                <a:lnTo>
                  <a:pt x="27927" y="651636"/>
                </a:lnTo>
                <a:lnTo>
                  <a:pt x="0" y="651636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39E1070-0023-4EE3-B5B6-6715E6CCEF0E}"/>
              </a:ext>
            </a:extLst>
          </p:cNvPr>
          <p:cNvSpPr>
            <a:spLocks noGrp="1"/>
          </p:cNvSpPr>
          <p:nvPr/>
        </p:nvSpPr>
        <p:spPr>
          <a:xfrm>
            <a:off x="633018" y="3909818"/>
            <a:ext cx="7458909" cy="23272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83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Socratic method</a:t>
            </a:r>
            <a:endParaRPr sz="16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2CE9ECC-FE1F-44CE-AAC9-4DD96B73404F}"/>
              </a:ext>
            </a:extLst>
          </p:cNvPr>
          <p:cNvSpPr>
            <a:spLocks noGrp="1"/>
          </p:cNvSpPr>
          <p:nvPr/>
        </p:nvSpPr>
        <p:spPr>
          <a:xfrm>
            <a:off x="633018" y="4189091"/>
            <a:ext cx="7447273" cy="1861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1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Probe assumptions and evidence instead of supplying final answers</a:t>
            </a:r>
            <a:endParaRPr sz="16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9597C6D-61B8-461C-8CDC-13CC925DD84B}"/>
              </a:ext>
            </a:extLst>
          </p:cNvPr>
          <p:cNvSpPr>
            <a:spLocks noGrp="1"/>
          </p:cNvSpPr>
          <p:nvPr/>
        </p:nvSpPr>
        <p:spPr>
          <a:xfrm>
            <a:off x="479418" y="4561313"/>
            <a:ext cx="27927" cy="651636"/>
          </a:xfrm>
          <a:custGeom>
            <a:avLst/>
            <a:gdLst/>
            <a:ahLst/>
            <a:cxnLst/>
            <a:rect l="l" t="t" r="r" b="b"/>
            <a:pathLst>
              <a:path w="27927" h="651636">
                <a:moveTo>
                  <a:pt x="0" y="0"/>
                </a:moveTo>
                <a:lnTo>
                  <a:pt x="27927" y="0"/>
                </a:lnTo>
                <a:lnTo>
                  <a:pt x="27927" y="651636"/>
                </a:lnTo>
                <a:lnTo>
                  <a:pt x="0" y="651636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528B8F5-D046-4DAD-8FC4-DEEE8E5AC7C3}"/>
              </a:ext>
            </a:extLst>
          </p:cNvPr>
          <p:cNvSpPr>
            <a:spLocks noGrp="1"/>
          </p:cNvSpPr>
          <p:nvPr/>
        </p:nvSpPr>
        <p:spPr>
          <a:xfrm>
            <a:off x="633018" y="4654403"/>
            <a:ext cx="7458909" cy="23272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83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CLEAR strategies</a:t>
            </a:r>
            <a:endParaRPr sz="16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2457D3C-5FF2-40E9-AA52-2C56011D3447}"/>
              </a:ext>
            </a:extLst>
          </p:cNvPr>
          <p:cNvSpPr>
            <a:spLocks noGrp="1"/>
          </p:cNvSpPr>
          <p:nvPr/>
        </p:nvSpPr>
        <p:spPr>
          <a:xfrm>
            <a:off x="633018" y="4933676"/>
            <a:ext cx="7447273" cy="1861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1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Concise · Logical · Explicit · Adaptive · Reflective</a:t>
            </a:r>
            <a:endParaRPr sz="16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7FE68BD-3967-4D79-9C65-2717A8413460}"/>
              </a:ext>
            </a:extLst>
          </p:cNvPr>
          <p:cNvSpPr>
            <a:spLocks noGrp="1"/>
          </p:cNvSpPr>
          <p:nvPr/>
        </p:nvSpPr>
        <p:spPr>
          <a:xfrm>
            <a:off x="479418" y="5305892"/>
            <a:ext cx="27927" cy="651636"/>
          </a:xfrm>
          <a:custGeom>
            <a:avLst/>
            <a:gdLst/>
            <a:ahLst/>
            <a:cxnLst/>
            <a:rect l="l" t="t" r="r" b="b"/>
            <a:pathLst>
              <a:path w="27927" h="651636">
                <a:moveTo>
                  <a:pt x="0" y="0"/>
                </a:moveTo>
                <a:lnTo>
                  <a:pt x="27927" y="0"/>
                </a:lnTo>
                <a:lnTo>
                  <a:pt x="27927" y="651636"/>
                </a:lnTo>
                <a:lnTo>
                  <a:pt x="0" y="651636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C1A2174-7DB6-442A-81DC-1AFB4C5645E3}"/>
              </a:ext>
            </a:extLst>
          </p:cNvPr>
          <p:cNvSpPr>
            <a:spLocks noGrp="1"/>
          </p:cNvSpPr>
          <p:nvPr/>
        </p:nvSpPr>
        <p:spPr>
          <a:xfrm>
            <a:off x="633018" y="5398983"/>
            <a:ext cx="7458909" cy="23272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83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Evidence rule</a:t>
            </a:r>
            <a:endParaRPr sz="16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9960679-5116-43E6-9CAD-6B3F240AE524}"/>
              </a:ext>
            </a:extLst>
          </p:cNvPr>
          <p:cNvSpPr>
            <a:spLocks noGrp="1"/>
          </p:cNvSpPr>
          <p:nvPr/>
        </p:nvSpPr>
        <p:spPr>
          <a:xfrm>
            <a:off x="633018" y="5678256"/>
            <a:ext cx="7447273" cy="1861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1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Code only reasoning explicit in the current student utterance</a:t>
            </a:r>
            <a:endParaRPr sz="16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993E905-64DD-40DD-AAB6-37BE7E36435B}"/>
              </a:ext>
            </a:extLst>
          </p:cNvPr>
          <p:cNvSpPr>
            <a:spLocks noGrp="1"/>
          </p:cNvSpPr>
          <p:nvPr/>
        </p:nvSpPr>
        <p:spPr>
          <a:xfrm>
            <a:off x="8246255" y="2141091"/>
            <a:ext cx="290909" cy="232727"/>
          </a:xfrm>
          <a:custGeom>
            <a:avLst/>
            <a:gdLst/>
            <a:ahLst/>
            <a:cxnLst/>
            <a:rect l="l" t="t" r="r" b="b"/>
            <a:pathLst>
              <a:path w="290909" h="232727">
                <a:moveTo>
                  <a:pt x="174545" y="14545"/>
                </a:moveTo>
                <a:lnTo>
                  <a:pt x="232727" y="14545"/>
                </a:lnTo>
                <a:cubicBezTo>
                  <a:pt x="240773" y="14545"/>
                  <a:pt x="247273" y="21045"/>
                  <a:pt x="247273" y="29091"/>
                </a:cubicBezTo>
                <a:cubicBezTo>
                  <a:pt x="247273" y="37136"/>
                  <a:pt x="240773" y="43636"/>
                  <a:pt x="232727" y="43636"/>
                </a:cubicBezTo>
                <a:lnTo>
                  <a:pt x="181091" y="43636"/>
                </a:lnTo>
                <a:cubicBezTo>
                  <a:pt x="178727" y="55364"/>
                  <a:pt x="170682" y="65045"/>
                  <a:pt x="160000" y="69682"/>
                </a:cubicBezTo>
                <a:lnTo>
                  <a:pt x="160000" y="203636"/>
                </a:lnTo>
                <a:lnTo>
                  <a:pt x="232727" y="203636"/>
                </a:lnTo>
                <a:cubicBezTo>
                  <a:pt x="240773" y="203636"/>
                  <a:pt x="247273" y="210136"/>
                  <a:pt x="247273" y="218182"/>
                </a:cubicBezTo>
                <a:cubicBezTo>
                  <a:pt x="247273" y="226227"/>
                  <a:pt x="240773" y="232727"/>
                  <a:pt x="232727" y="232727"/>
                </a:cubicBezTo>
                <a:lnTo>
                  <a:pt x="58182" y="232727"/>
                </a:lnTo>
                <a:cubicBezTo>
                  <a:pt x="50136" y="232727"/>
                  <a:pt x="43636" y="226227"/>
                  <a:pt x="43636" y="218182"/>
                </a:cubicBezTo>
                <a:cubicBezTo>
                  <a:pt x="43636" y="210136"/>
                  <a:pt x="50136" y="203636"/>
                  <a:pt x="58182" y="203636"/>
                </a:cubicBezTo>
                <a:lnTo>
                  <a:pt x="130909" y="203636"/>
                </a:lnTo>
                <a:lnTo>
                  <a:pt x="130909" y="69682"/>
                </a:lnTo>
                <a:cubicBezTo>
                  <a:pt x="120227" y="65000"/>
                  <a:pt x="112182" y="55318"/>
                  <a:pt x="109818" y="43636"/>
                </a:cubicBezTo>
                <a:lnTo>
                  <a:pt x="58182" y="43636"/>
                </a:lnTo>
                <a:cubicBezTo>
                  <a:pt x="50136" y="43636"/>
                  <a:pt x="43636" y="37136"/>
                  <a:pt x="43636" y="29091"/>
                </a:cubicBezTo>
                <a:cubicBezTo>
                  <a:pt x="43636" y="21045"/>
                  <a:pt x="50136" y="14545"/>
                  <a:pt x="58182" y="14545"/>
                </a:cubicBezTo>
                <a:lnTo>
                  <a:pt x="116364" y="14545"/>
                </a:lnTo>
                <a:cubicBezTo>
                  <a:pt x="123000" y="5727"/>
                  <a:pt x="133545" y="0"/>
                  <a:pt x="145455" y="0"/>
                </a:cubicBezTo>
                <a:cubicBezTo>
                  <a:pt x="157364" y="0"/>
                  <a:pt x="167909" y="5727"/>
                  <a:pt x="174545" y="14545"/>
                </a:cubicBezTo>
                <a:close/>
                <a:moveTo>
                  <a:pt x="199818" y="145455"/>
                </a:moveTo>
                <a:lnTo>
                  <a:pt x="265636" y="145455"/>
                </a:lnTo>
                <a:lnTo>
                  <a:pt x="232727" y="89000"/>
                </a:lnTo>
                <a:lnTo>
                  <a:pt x="199818" y="145455"/>
                </a:lnTo>
                <a:close/>
                <a:moveTo>
                  <a:pt x="232727" y="189091"/>
                </a:moveTo>
                <a:cubicBezTo>
                  <a:pt x="204136" y="189091"/>
                  <a:pt x="180364" y="173636"/>
                  <a:pt x="175455" y="153227"/>
                </a:cubicBezTo>
                <a:cubicBezTo>
                  <a:pt x="174273" y="148227"/>
                  <a:pt x="175909" y="143091"/>
                  <a:pt x="178500" y="138636"/>
                </a:cubicBezTo>
                <a:lnTo>
                  <a:pt x="221773" y="64455"/>
                </a:lnTo>
                <a:cubicBezTo>
                  <a:pt x="224045" y="60545"/>
                  <a:pt x="228227" y="58182"/>
                  <a:pt x="232727" y="58182"/>
                </a:cubicBezTo>
                <a:cubicBezTo>
                  <a:pt x="237227" y="58182"/>
                  <a:pt x="241409" y="60591"/>
                  <a:pt x="243682" y="64455"/>
                </a:cubicBezTo>
                <a:lnTo>
                  <a:pt x="286955" y="138636"/>
                </a:lnTo>
                <a:cubicBezTo>
                  <a:pt x="289545" y="143091"/>
                  <a:pt x="291182" y="148227"/>
                  <a:pt x="290000" y="153227"/>
                </a:cubicBezTo>
                <a:cubicBezTo>
                  <a:pt x="285091" y="173591"/>
                  <a:pt x="261318" y="189091"/>
                  <a:pt x="232727" y="189091"/>
                </a:cubicBezTo>
                <a:close/>
                <a:moveTo>
                  <a:pt x="57636" y="89000"/>
                </a:moveTo>
                <a:lnTo>
                  <a:pt x="24727" y="145455"/>
                </a:lnTo>
                <a:lnTo>
                  <a:pt x="90591" y="145455"/>
                </a:lnTo>
                <a:lnTo>
                  <a:pt x="57636" y="89000"/>
                </a:lnTo>
                <a:close/>
                <a:moveTo>
                  <a:pt x="409" y="153227"/>
                </a:moveTo>
                <a:cubicBezTo>
                  <a:pt x="-773" y="148227"/>
                  <a:pt x="864" y="143091"/>
                  <a:pt x="3455" y="138636"/>
                </a:cubicBezTo>
                <a:lnTo>
                  <a:pt x="46727" y="64455"/>
                </a:lnTo>
                <a:cubicBezTo>
                  <a:pt x="49000" y="60545"/>
                  <a:pt x="53182" y="58182"/>
                  <a:pt x="57682" y="58182"/>
                </a:cubicBezTo>
                <a:cubicBezTo>
                  <a:pt x="62182" y="58182"/>
                  <a:pt x="66364" y="60591"/>
                  <a:pt x="68636" y="64455"/>
                </a:cubicBezTo>
                <a:lnTo>
                  <a:pt x="111909" y="138636"/>
                </a:lnTo>
                <a:cubicBezTo>
                  <a:pt x="114500" y="143091"/>
                  <a:pt x="116136" y="148227"/>
                  <a:pt x="114955" y="153227"/>
                </a:cubicBezTo>
                <a:cubicBezTo>
                  <a:pt x="110045" y="173591"/>
                  <a:pt x="86273" y="189091"/>
                  <a:pt x="57682" y="189091"/>
                </a:cubicBezTo>
                <a:cubicBezTo>
                  <a:pt x="29091" y="189091"/>
                  <a:pt x="5318" y="173636"/>
                  <a:pt x="409" y="153227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9BD9A6A-6D9D-4957-86D8-71C13ACE6DE3}"/>
              </a:ext>
            </a:extLst>
          </p:cNvPr>
          <p:cNvSpPr>
            <a:spLocks noGrp="1"/>
          </p:cNvSpPr>
          <p:nvPr/>
        </p:nvSpPr>
        <p:spPr>
          <a:xfrm>
            <a:off x="8537164" y="2094545"/>
            <a:ext cx="7377455" cy="32581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833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Facione + Design Ethics</a:t>
            </a:r>
            <a:endParaRPr sz="16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B89CC5ED-A558-411E-8E38-842AB266B3E7}"/>
              </a:ext>
            </a:extLst>
          </p:cNvPr>
          <p:cNvSpPr>
            <a:spLocks noGrp="1"/>
          </p:cNvSpPr>
          <p:nvPr/>
        </p:nvSpPr>
        <p:spPr>
          <a:xfrm>
            <a:off x="8269528" y="2560000"/>
            <a:ext cx="7528727" cy="1117091"/>
          </a:xfrm>
          <a:custGeom>
            <a:avLst/>
            <a:gdLst/>
            <a:ahLst/>
            <a:cxnLst/>
            <a:rect l="l" t="t" r="r" b="b"/>
            <a:pathLst>
              <a:path w="7528727" h="1117091">
                <a:moveTo>
                  <a:pt x="0" y="0"/>
                </a:moveTo>
                <a:lnTo>
                  <a:pt x="7528727" y="0"/>
                </a:lnTo>
                <a:lnTo>
                  <a:pt x="7528727" y="1117091"/>
                </a:lnTo>
                <a:lnTo>
                  <a:pt x="0" y="1117091"/>
                </a:lnTo>
                <a:lnTo>
                  <a:pt x="0" y="0"/>
                </a:lnTo>
                <a:close/>
              </a:path>
            </a:pathLst>
          </a:custGeom>
          <a:solidFill>
            <a:srgbClr val="4A6D8A">
              <a:alpha val="5098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19DE5F1-B687-4C72-BFC8-70BC06669CBE}"/>
              </a:ext>
            </a:extLst>
          </p:cNvPr>
          <p:cNvSpPr>
            <a:spLocks noGrp="1"/>
          </p:cNvSpPr>
          <p:nvPr/>
        </p:nvSpPr>
        <p:spPr>
          <a:xfrm>
            <a:off x="8269528" y="2560000"/>
            <a:ext cx="46545" cy="1117091"/>
          </a:xfrm>
          <a:custGeom>
            <a:avLst/>
            <a:gdLst/>
            <a:ahLst/>
            <a:cxnLst/>
            <a:rect l="l" t="t" r="r" b="b"/>
            <a:pathLst>
              <a:path w="46545" h="1117091">
                <a:moveTo>
                  <a:pt x="0" y="0"/>
                </a:moveTo>
                <a:lnTo>
                  <a:pt x="46545" y="0"/>
                </a:lnTo>
                <a:lnTo>
                  <a:pt x="46545" y="1117091"/>
                </a:lnTo>
                <a:lnTo>
                  <a:pt x="0" y="1117091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987F63E-D0D5-47C9-BA03-AC48753896AF}"/>
              </a:ext>
            </a:extLst>
          </p:cNvPr>
          <p:cNvSpPr>
            <a:spLocks noGrp="1"/>
          </p:cNvSpPr>
          <p:nvPr/>
        </p:nvSpPr>
        <p:spPr>
          <a:xfrm>
            <a:off x="8478982" y="2699636"/>
            <a:ext cx="7412364" cy="27927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466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Purpose</a:t>
            </a:r>
            <a:endParaRPr sz="16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EB9E4D1-1E20-4AE2-8153-9F581BEEA6D3}"/>
              </a:ext>
            </a:extLst>
          </p:cNvPr>
          <p:cNvSpPr>
            <a:spLocks noGrp="1"/>
          </p:cNvSpPr>
          <p:nvPr/>
        </p:nvSpPr>
        <p:spPr>
          <a:xfrm>
            <a:off x="8478982" y="3072000"/>
            <a:ext cx="7400727" cy="46545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83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Record reasoning behaviours and ethically relevant design concepts.</a:t>
            </a:r>
            <a:endParaRPr sz="160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EA026C27-BE27-4677-92CF-00626D025415}"/>
              </a:ext>
            </a:extLst>
          </p:cNvPr>
          <p:cNvSpPr>
            <a:spLocks noGrp="1"/>
          </p:cNvSpPr>
          <p:nvPr/>
        </p:nvSpPr>
        <p:spPr>
          <a:xfrm>
            <a:off x="8260219" y="3816727"/>
            <a:ext cx="27927" cy="558545"/>
          </a:xfrm>
          <a:custGeom>
            <a:avLst/>
            <a:gdLst/>
            <a:ahLst/>
            <a:cxnLst/>
            <a:rect l="l" t="t" r="r" b="b"/>
            <a:pathLst>
              <a:path w="27927" h="558545">
                <a:moveTo>
                  <a:pt x="0" y="0"/>
                </a:moveTo>
                <a:lnTo>
                  <a:pt x="27927" y="0"/>
                </a:lnTo>
                <a:lnTo>
                  <a:pt x="27927" y="558545"/>
                </a:lnTo>
                <a:lnTo>
                  <a:pt x="0" y="558545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B5A57D8B-FCCA-41C1-9475-60B5EA284B03}"/>
              </a:ext>
            </a:extLst>
          </p:cNvPr>
          <p:cNvSpPr>
            <a:spLocks noGrp="1"/>
          </p:cNvSpPr>
          <p:nvPr/>
        </p:nvSpPr>
        <p:spPr>
          <a:xfrm>
            <a:off x="8370182" y="3898182"/>
            <a:ext cx="203636" cy="162909"/>
          </a:xfrm>
          <a:custGeom>
            <a:avLst/>
            <a:gdLst/>
            <a:ahLst/>
            <a:cxnLst/>
            <a:rect l="l" t="t" r="r" b="b"/>
            <a:pathLst>
              <a:path w="203636" h="162909">
                <a:moveTo>
                  <a:pt x="122182" y="10182"/>
                </a:moveTo>
                <a:lnTo>
                  <a:pt x="162909" y="10182"/>
                </a:lnTo>
                <a:cubicBezTo>
                  <a:pt x="168541" y="10182"/>
                  <a:pt x="173091" y="14732"/>
                  <a:pt x="173091" y="20364"/>
                </a:cubicBezTo>
                <a:cubicBezTo>
                  <a:pt x="173091" y="25995"/>
                  <a:pt x="168541" y="30545"/>
                  <a:pt x="162909" y="30545"/>
                </a:cubicBezTo>
                <a:lnTo>
                  <a:pt x="126764" y="30545"/>
                </a:lnTo>
                <a:cubicBezTo>
                  <a:pt x="125109" y="38755"/>
                  <a:pt x="119477" y="45532"/>
                  <a:pt x="112000" y="48777"/>
                </a:cubicBezTo>
                <a:lnTo>
                  <a:pt x="112000" y="142545"/>
                </a:lnTo>
                <a:lnTo>
                  <a:pt x="162909" y="142545"/>
                </a:lnTo>
                <a:cubicBezTo>
                  <a:pt x="168541" y="142545"/>
                  <a:pt x="173091" y="147095"/>
                  <a:pt x="173091" y="152727"/>
                </a:cubicBezTo>
                <a:cubicBezTo>
                  <a:pt x="173091" y="158359"/>
                  <a:pt x="168541" y="162909"/>
                  <a:pt x="162909" y="162909"/>
                </a:cubicBezTo>
                <a:lnTo>
                  <a:pt x="40727" y="162909"/>
                </a:lnTo>
                <a:cubicBezTo>
                  <a:pt x="35095" y="162909"/>
                  <a:pt x="30545" y="158359"/>
                  <a:pt x="30545" y="152727"/>
                </a:cubicBezTo>
                <a:cubicBezTo>
                  <a:pt x="30545" y="147095"/>
                  <a:pt x="35095" y="142545"/>
                  <a:pt x="40727" y="142545"/>
                </a:cubicBezTo>
                <a:lnTo>
                  <a:pt x="91636" y="142545"/>
                </a:lnTo>
                <a:lnTo>
                  <a:pt x="91636" y="48777"/>
                </a:lnTo>
                <a:cubicBezTo>
                  <a:pt x="84159" y="45500"/>
                  <a:pt x="78527" y="38723"/>
                  <a:pt x="76873" y="30545"/>
                </a:cubicBezTo>
                <a:lnTo>
                  <a:pt x="40727" y="30545"/>
                </a:lnTo>
                <a:cubicBezTo>
                  <a:pt x="35095" y="30545"/>
                  <a:pt x="30545" y="25995"/>
                  <a:pt x="30545" y="20364"/>
                </a:cubicBezTo>
                <a:cubicBezTo>
                  <a:pt x="30545" y="14732"/>
                  <a:pt x="35095" y="10182"/>
                  <a:pt x="40727" y="10182"/>
                </a:cubicBezTo>
                <a:lnTo>
                  <a:pt x="81455" y="10182"/>
                </a:lnTo>
                <a:cubicBezTo>
                  <a:pt x="86100" y="4009"/>
                  <a:pt x="93482" y="0"/>
                  <a:pt x="101818" y="0"/>
                </a:cubicBezTo>
                <a:cubicBezTo>
                  <a:pt x="110155" y="0"/>
                  <a:pt x="117536" y="4009"/>
                  <a:pt x="122182" y="10182"/>
                </a:cubicBezTo>
                <a:close/>
                <a:moveTo>
                  <a:pt x="139873" y="101818"/>
                </a:moveTo>
                <a:lnTo>
                  <a:pt x="185945" y="101818"/>
                </a:lnTo>
                <a:lnTo>
                  <a:pt x="162909" y="62300"/>
                </a:lnTo>
                <a:lnTo>
                  <a:pt x="139873" y="101818"/>
                </a:lnTo>
                <a:close/>
                <a:moveTo>
                  <a:pt x="162909" y="132364"/>
                </a:moveTo>
                <a:cubicBezTo>
                  <a:pt x="142895" y="132364"/>
                  <a:pt x="126255" y="121545"/>
                  <a:pt x="122818" y="107259"/>
                </a:cubicBezTo>
                <a:cubicBezTo>
                  <a:pt x="121991" y="103759"/>
                  <a:pt x="123136" y="100164"/>
                  <a:pt x="124950" y="97045"/>
                </a:cubicBezTo>
                <a:lnTo>
                  <a:pt x="155241" y="45118"/>
                </a:lnTo>
                <a:cubicBezTo>
                  <a:pt x="156832" y="42382"/>
                  <a:pt x="159759" y="40727"/>
                  <a:pt x="162909" y="40727"/>
                </a:cubicBezTo>
                <a:cubicBezTo>
                  <a:pt x="166059" y="40727"/>
                  <a:pt x="168986" y="42414"/>
                  <a:pt x="170577" y="45118"/>
                </a:cubicBezTo>
                <a:lnTo>
                  <a:pt x="200868" y="97045"/>
                </a:lnTo>
                <a:cubicBezTo>
                  <a:pt x="202682" y="100164"/>
                  <a:pt x="203827" y="103759"/>
                  <a:pt x="203000" y="107259"/>
                </a:cubicBezTo>
                <a:cubicBezTo>
                  <a:pt x="199564" y="121514"/>
                  <a:pt x="182923" y="132364"/>
                  <a:pt x="162909" y="132364"/>
                </a:cubicBezTo>
                <a:close/>
                <a:moveTo>
                  <a:pt x="40345" y="62300"/>
                </a:moveTo>
                <a:lnTo>
                  <a:pt x="17309" y="101818"/>
                </a:lnTo>
                <a:lnTo>
                  <a:pt x="63414" y="101818"/>
                </a:lnTo>
                <a:lnTo>
                  <a:pt x="40345" y="62300"/>
                </a:lnTo>
                <a:close/>
                <a:moveTo>
                  <a:pt x="286" y="107259"/>
                </a:moveTo>
                <a:cubicBezTo>
                  <a:pt x="-541" y="103759"/>
                  <a:pt x="605" y="100164"/>
                  <a:pt x="2418" y="97045"/>
                </a:cubicBezTo>
                <a:lnTo>
                  <a:pt x="32709" y="45118"/>
                </a:lnTo>
                <a:cubicBezTo>
                  <a:pt x="34300" y="42382"/>
                  <a:pt x="37227" y="40727"/>
                  <a:pt x="40377" y="40727"/>
                </a:cubicBezTo>
                <a:cubicBezTo>
                  <a:pt x="43527" y="40727"/>
                  <a:pt x="46455" y="42414"/>
                  <a:pt x="48045" y="45118"/>
                </a:cubicBezTo>
                <a:lnTo>
                  <a:pt x="78336" y="97045"/>
                </a:lnTo>
                <a:cubicBezTo>
                  <a:pt x="80150" y="100164"/>
                  <a:pt x="81295" y="103759"/>
                  <a:pt x="80468" y="107259"/>
                </a:cubicBezTo>
                <a:cubicBezTo>
                  <a:pt x="77032" y="121514"/>
                  <a:pt x="60391" y="132364"/>
                  <a:pt x="40377" y="132364"/>
                </a:cubicBezTo>
                <a:cubicBezTo>
                  <a:pt x="20364" y="132364"/>
                  <a:pt x="3723" y="121545"/>
                  <a:pt x="286" y="107259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9AE1B67-C497-4FB7-A5A3-737C655A1B3C}"/>
              </a:ext>
            </a:extLst>
          </p:cNvPr>
          <p:cNvSpPr>
            <a:spLocks noGrp="1"/>
          </p:cNvSpPr>
          <p:nvPr/>
        </p:nvSpPr>
        <p:spPr>
          <a:xfrm>
            <a:off x="8664000" y="3863273"/>
            <a:ext cx="686545" cy="23272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83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Analysis</a:t>
            </a:r>
            <a:endParaRPr sz="16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A9142C5-8EB1-4665-8650-CEE4B02B5F81}"/>
              </a:ext>
            </a:extLst>
          </p:cNvPr>
          <p:cNvSpPr>
            <a:spLocks noGrp="1"/>
          </p:cNvSpPr>
          <p:nvPr/>
        </p:nvSpPr>
        <p:spPr>
          <a:xfrm>
            <a:off x="8367273" y="4142545"/>
            <a:ext cx="3677091" cy="1861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1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Break a claim into parts</a:t>
            </a:r>
            <a:endParaRPr sz="160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647CABF7-CBF0-42F6-811C-FB95E10A9D4A}"/>
              </a:ext>
            </a:extLst>
          </p:cNvPr>
          <p:cNvSpPr>
            <a:spLocks noGrp="1"/>
          </p:cNvSpPr>
          <p:nvPr/>
        </p:nvSpPr>
        <p:spPr>
          <a:xfrm>
            <a:off x="12080728" y="3816727"/>
            <a:ext cx="27927" cy="558545"/>
          </a:xfrm>
          <a:custGeom>
            <a:avLst/>
            <a:gdLst/>
            <a:ahLst/>
            <a:cxnLst/>
            <a:rect l="l" t="t" r="r" b="b"/>
            <a:pathLst>
              <a:path w="27927" h="558545">
                <a:moveTo>
                  <a:pt x="0" y="0"/>
                </a:moveTo>
                <a:lnTo>
                  <a:pt x="27927" y="0"/>
                </a:lnTo>
                <a:lnTo>
                  <a:pt x="27927" y="558545"/>
                </a:lnTo>
                <a:lnTo>
                  <a:pt x="0" y="558545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F43254B5-9E1E-4B81-9152-F5FA8B9E853C}"/>
              </a:ext>
            </a:extLst>
          </p:cNvPr>
          <p:cNvSpPr>
            <a:spLocks noGrp="1"/>
          </p:cNvSpPr>
          <p:nvPr/>
        </p:nvSpPr>
        <p:spPr>
          <a:xfrm>
            <a:off x="12211055" y="3898182"/>
            <a:ext cx="162909" cy="162909"/>
          </a:xfrm>
          <a:custGeom>
            <a:avLst/>
            <a:gdLst/>
            <a:ahLst/>
            <a:cxnLst/>
            <a:rect l="l" t="t" r="r" b="b"/>
            <a:pathLst>
              <a:path w="162909" h="162909">
                <a:moveTo>
                  <a:pt x="81455" y="0"/>
                </a:moveTo>
                <a:cubicBezTo>
                  <a:pt x="82918" y="0"/>
                  <a:pt x="84382" y="318"/>
                  <a:pt x="85718" y="923"/>
                </a:cubicBezTo>
                <a:lnTo>
                  <a:pt x="145664" y="26345"/>
                </a:lnTo>
                <a:cubicBezTo>
                  <a:pt x="152664" y="29305"/>
                  <a:pt x="157882" y="36209"/>
                  <a:pt x="157850" y="44545"/>
                </a:cubicBezTo>
                <a:cubicBezTo>
                  <a:pt x="157691" y="76109"/>
                  <a:pt x="144709" y="133859"/>
                  <a:pt x="89886" y="160109"/>
                </a:cubicBezTo>
                <a:cubicBezTo>
                  <a:pt x="84573" y="162655"/>
                  <a:pt x="78400" y="162655"/>
                  <a:pt x="73086" y="160109"/>
                </a:cubicBezTo>
                <a:cubicBezTo>
                  <a:pt x="18232" y="133859"/>
                  <a:pt x="5282" y="76109"/>
                  <a:pt x="5123" y="44545"/>
                </a:cubicBezTo>
                <a:cubicBezTo>
                  <a:pt x="5091" y="36209"/>
                  <a:pt x="10309" y="29305"/>
                  <a:pt x="17309" y="26345"/>
                </a:cubicBezTo>
                <a:lnTo>
                  <a:pt x="77223" y="923"/>
                </a:lnTo>
                <a:cubicBezTo>
                  <a:pt x="78559" y="318"/>
                  <a:pt x="79991" y="0"/>
                  <a:pt x="81455" y="0"/>
                </a:cubicBezTo>
                <a:close/>
                <a:moveTo>
                  <a:pt x="81455" y="21255"/>
                </a:moveTo>
                <a:lnTo>
                  <a:pt x="81455" y="141559"/>
                </a:lnTo>
                <a:cubicBezTo>
                  <a:pt x="125364" y="120305"/>
                  <a:pt x="137168" y="73214"/>
                  <a:pt x="137455" y="45023"/>
                </a:cubicBezTo>
                <a:lnTo>
                  <a:pt x="81455" y="21286"/>
                </a:lnTo>
                <a:lnTo>
                  <a:pt x="81455" y="21286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A5E11F5-7338-4C5E-AA6F-8CA6FE90973F}"/>
              </a:ext>
            </a:extLst>
          </p:cNvPr>
          <p:cNvSpPr>
            <a:spLocks noGrp="1"/>
          </p:cNvSpPr>
          <p:nvPr/>
        </p:nvSpPr>
        <p:spPr>
          <a:xfrm>
            <a:off x="12484513" y="3863245"/>
            <a:ext cx="1619250" cy="2326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83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Interpretation</a:t>
            </a:r>
            <a:endParaRPr sz="160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EA5257AB-584E-479B-B020-6CCC006E2B93}"/>
              </a:ext>
            </a:extLst>
          </p:cNvPr>
          <p:cNvSpPr>
            <a:spLocks noGrp="1"/>
          </p:cNvSpPr>
          <p:nvPr/>
        </p:nvSpPr>
        <p:spPr>
          <a:xfrm>
            <a:off x="12187783" y="4142545"/>
            <a:ext cx="3677091" cy="1861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1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Clarify meaning and context</a:t>
            </a:r>
            <a:endParaRPr sz="160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2F85C6BF-4198-418B-8FF3-032A5FCEBF95}"/>
              </a:ext>
            </a:extLst>
          </p:cNvPr>
          <p:cNvSpPr>
            <a:spLocks noGrp="1"/>
          </p:cNvSpPr>
          <p:nvPr/>
        </p:nvSpPr>
        <p:spPr>
          <a:xfrm>
            <a:off x="8260219" y="4468222"/>
            <a:ext cx="27927" cy="558545"/>
          </a:xfrm>
          <a:custGeom>
            <a:avLst/>
            <a:gdLst/>
            <a:ahLst/>
            <a:cxnLst/>
            <a:rect l="l" t="t" r="r" b="b"/>
            <a:pathLst>
              <a:path w="27927" h="558545">
                <a:moveTo>
                  <a:pt x="0" y="0"/>
                </a:moveTo>
                <a:lnTo>
                  <a:pt x="27927" y="0"/>
                </a:lnTo>
                <a:lnTo>
                  <a:pt x="27927" y="558545"/>
                </a:lnTo>
                <a:lnTo>
                  <a:pt x="0" y="558545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15E0DEE8-A631-419B-AB1D-48029F516795}"/>
              </a:ext>
            </a:extLst>
          </p:cNvPr>
          <p:cNvSpPr>
            <a:spLocks noGrp="1"/>
          </p:cNvSpPr>
          <p:nvPr/>
        </p:nvSpPr>
        <p:spPr>
          <a:xfrm>
            <a:off x="8380364" y="4549676"/>
            <a:ext cx="183273" cy="162909"/>
          </a:xfrm>
          <a:custGeom>
            <a:avLst/>
            <a:gdLst/>
            <a:ahLst/>
            <a:cxnLst/>
            <a:rect l="l" t="t" r="r" b="b"/>
            <a:pathLst>
              <a:path w="183273" h="162909">
                <a:moveTo>
                  <a:pt x="91636" y="10182"/>
                </a:moveTo>
                <a:cubicBezTo>
                  <a:pt x="65927" y="10182"/>
                  <a:pt x="45341" y="21891"/>
                  <a:pt x="30355" y="35827"/>
                </a:cubicBezTo>
                <a:cubicBezTo>
                  <a:pt x="15464" y="49668"/>
                  <a:pt x="5505" y="66182"/>
                  <a:pt x="764" y="77541"/>
                </a:cubicBezTo>
                <a:cubicBezTo>
                  <a:pt x="-286" y="80055"/>
                  <a:pt x="-286" y="82855"/>
                  <a:pt x="764" y="85368"/>
                </a:cubicBezTo>
                <a:cubicBezTo>
                  <a:pt x="5505" y="96727"/>
                  <a:pt x="15464" y="113273"/>
                  <a:pt x="30355" y="127082"/>
                </a:cubicBezTo>
                <a:cubicBezTo>
                  <a:pt x="45341" y="140986"/>
                  <a:pt x="65927" y="152727"/>
                  <a:pt x="91636" y="152727"/>
                </a:cubicBezTo>
                <a:cubicBezTo>
                  <a:pt x="117345" y="152727"/>
                  <a:pt x="137932" y="141018"/>
                  <a:pt x="152918" y="127082"/>
                </a:cubicBezTo>
                <a:cubicBezTo>
                  <a:pt x="167809" y="113241"/>
                  <a:pt x="177768" y="96727"/>
                  <a:pt x="182509" y="85368"/>
                </a:cubicBezTo>
                <a:cubicBezTo>
                  <a:pt x="183559" y="82855"/>
                  <a:pt x="183559" y="80055"/>
                  <a:pt x="182509" y="77541"/>
                </a:cubicBezTo>
                <a:cubicBezTo>
                  <a:pt x="177768" y="66182"/>
                  <a:pt x="167809" y="49636"/>
                  <a:pt x="152918" y="35827"/>
                </a:cubicBezTo>
                <a:cubicBezTo>
                  <a:pt x="137932" y="21923"/>
                  <a:pt x="117345" y="10182"/>
                  <a:pt x="91636" y="10182"/>
                </a:cubicBezTo>
                <a:close/>
                <a:moveTo>
                  <a:pt x="45818" y="81455"/>
                </a:moveTo>
                <a:cubicBezTo>
                  <a:pt x="45818" y="56167"/>
                  <a:pt x="66349" y="35636"/>
                  <a:pt x="91636" y="35636"/>
                </a:cubicBezTo>
                <a:cubicBezTo>
                  <a:pt x="116924" y="35636"/>
                  <a:pt x="137455" y="56167"/>
                  <a:pt x="137455" y="81455"/>
                </a:cubicBezTo>
                <a:cubicBezTo>
                  <a:pt x="137455" y="106742"/>
                  <a:pt x="116924" y="127273"/>
                  <a:pt x="91636" y="127273"/>
                </a:cubicBezTo>
                <a:cubicBezTo>
                  <a:pt x="66349" y="127273"/>
                  <a:pt x="45818" y="106742"/>
                  <a:pt x="45818" y="81455"/>
                </a:cubicBezTo>
                <a:close/>
                <a:moveTo>
                  <a:pt x="91636" y="61091"/>
                </a:moveTo>
                <a:cubicBezTo>
                  <a:pt x="91636" y="72323"/>
                  <a:pt x="82505" y="81455"/>
                  <a:pt x="71273" y="81455"/>
                </a:cubicBezTo>
                <a:cubicBezTo>
                  <a:pt x="67614" y="81455"/>
                  <a:pt x="64177" y="80500"/>
                  <a:pt x="61186" y="78782"/>
                </a:cubicBezTo>
                <a:cubicBezTo>
                  <a:pt x="60868" y="82250"/>
                  <a:pt x="61155" y="85814"/>
                  <a:pt x="62109" y="89345"/>
                </a:cubicBezTo>
                <a:cubicBezTo>
                  <a:pt x="66468" y="105636"/>
                  <a:pt x="83236" y="115309"/>
                  <a:pt x="99527" y="110950"/>
                </a:cubicBezTo>
                <a:cubicBezTo>
                  <a:pt x="115818" y="106591"/>
                  <a:pt x="125491" y="89823"/>
                  <a:pt x="121132" y="73532"/>
                </a:cubicBezTo>
                <a:cubicBezTo>
                  <a:pt x="117250" y="58991"/>
                  <a:pt x="103473" y="49732"/>
                  <a:pt x="88964" y="51005"/>
                </a:cubicBezTo>
                <a:cubicBezTo>
                  <a:pt x="90650" y="53964"/>
                  <a:pt x="91636" y="57400"/>
                  <a:pt x="91636" y="61091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39AD075A-8981-407D-A560-FDE57CB27898}"/>
              </a:ext>
            </a:extLst>
          </p:cNvPr>
          <p:cNvSpPr>
            <a:spLocks noGrp="1"/>
          </p:cNvSpPr>
          <p:nvPr/>
        </p:nvSpPr>
        <p:spPr>
          <a:xfrm>
            <a:off x="8664000" y="4514767"/>
            <a:ext cx="1070545" cy="23272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83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Inference</a:t>
            </a:r>
            <a:endParaRPr sz="160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0B97A9F3-A2CB-4503-A153-516AE31462C0}"/>
              </a:ext>
            </a:extLst>
          </p:cNvPr>
          <p:cNvSpPr>
            <a:spLocks noGrp="1"/>
          </p:cNvSpPr>
          <p:nvPr/>
        </p:nvSpPr>
        <p:spPr>
          <a:xfrm>
            <a:off x="8367273" y="4794040"/>
            <a:ext cx="3677091" cy="1861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1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Draw warranted conclusions</a:t>
            </a:r>
            <a:endParaRPr sz="160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EBCE4A88-CDB2-4658-9F5C-CDEF09CC6320}"/>
              </a:ext>
            </a:extLst>
          </p:cNvPr>
          <p:cNvSpPr>
            <a:spLocks noGrp="1"/>
          </p:cNvSpPr>
          <p:nvPr/>
        </p:nvSpPr>
        <p:spPr>
          <a:xfrm>
            <a:off x="12080728" y="4468222"/>
            <a:ext cx="27927" cy="558545"/>
          </a:xfrm>
          <a:custGeom>
            <a:avLst/>
            <a:gdLst/>
            <a:ahLst/>
            <a:cxnLst/>
            <a:rect l="l" t="t" r="r" b="b"/>
            <a:pathLst>
              <a:path w="27927" h="558545">
                <a:moveTo>
                  <a:pt x="0" y="0"/>
                </a:moveTo>
                <a:lnTo>
                  <a:pt x="27927" y="0"/>
                </a:lnTo>
                <a:lnTo>
                  <a:pt x="27927" y="558545"/>
                </a:lnTo>
                <a:lnTo>
                  <a:pt x="0" y="558545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7F8586AE-6540-4B38-AF3D-44A9E062BD30}"/>
              </a:ext>
            </a:extLst>
          </p:cNvPr>
          <p:cNvSpPr>
            <a:spLocks noGrp="1"/>
          </p:cNvSpPr>
          <p:nvPr/>
        </p:nvSpPr>
        <p:spPr>
          <a:xfrm>
            <a:off x="12211055" y="4549676"/>
            <a:ext cx="162909" cy="162909"/>
          </a:xfrm>
          <a:custGeom>
            <a:avLst/>
            <a:gdLst/>
            <a:ahLst/>
            <a:cxnLst/>
            <a:rect l="l" t="t" r="r" b="b"/>
            <a:pathLst>
              <a:path w="162909" h="162909">
                <a:moveTo>
                  <a:pt x="91636" y="10182"/>
                </a:moveTo>
                <a:cubicBezTo>
                  <a:pt x="91636" y="4550"/>
                  <a:pt x="87086" y="0"/>
                  <a:pt x="81455" y="0"/>
                </a:cubicBezTo>
                <a:cubicBezTo>
                  <a:pt x="75823" y="0"/>
                  <a:pt x="71273" y="4550"/>
                  <a:pt x="71273" y="10182"/>
                </a:cubicBezTo>
                <a:lnTo>
                  <a:pt x="71273" y="76364"/>
                </a:lnTo>
                <a:cubicBezTo>
                  <a:pt x="71273" y="79164"/>
                  <a:pt x="68982" y="81455"/>
                  <a:pt x="66182" y="81455"/>
                </a:cubicBezTo>
                <a:cubicBezTo>
                  <a:pt x="63382" y="81455"/>
                  <a:pt x="61091" y="79164"/>
                  <a:pt x="61091" y="76364"/>
                </a:cubicBezTo>
                <a:lnTo>
                  <a:pt x="61091" y="20364"/>
                </a:lnTo>
                <a:cubicBezTo>
                  <a:pt x="61091" y="14732"/>
                  <a:pt x="56541" y="10182"/>
                  <a:pt x="50909" y="10182"/>
                </a:cubicBezTo>
                <a:cubicBezTo>
                  <a:pt x="45277" y="10182"/>
                  <a:pt x="40727" y="14732"/>
                  <a:pt x="40727" y="20364"/>
                </a:cubicBezTo>
                <a:lnTo>
                  <a:pt x="40727" y="106909"/>
                </a:lnTo>
                <a:cubicBezTo>
                  <a:pt x="40727" y="107386"/>
                  <a:pt x="40727" y="107895"/>
                  <a:pt x="40759" y="108373"/>
                </a:cubicBezTo>
                <a:lnTo>
                  <a:pt x="21509" y="90045"/>
                </a:lnTo>
                <a:cubicBezTo>
                  <a:pt x="16418" y="85209"/>
                  <a:pt x="8368" y="85400"/>
                  <a:pt x="3500" y="90491"/>
                </a:cubicBezTo>
                <a:cubicBezTo>
                  <a:pt x="-1368" y="95582"/>
                  <a:pt x="-1145" y="103632"/>
                  <a:pt x="3945" y="108500"/>
                </a:cubicBezTo>
                <a:lnTo>
                  <a:pt x="39709" y="142545"/>
                </a:lnTo>
                <a:cubicBezTo>
                  <a:pt x="53423" y="155623"/>
                  <a:pt x="71655" y="162909"/>
                  <a:pt x="90618" y="162909"/>
                </a:cubicBezTo>
                <a:lnTo>
                  <a:pt x="96727" y="162909"/>
                </a:lnTo>
                <a:cubicBezTo>
                  <a:pt x="127655" y="162909"/>
                  <a:pt x="152727" y="137836"/>
                  <a:pt x="152727" y="106909"/>
                </a:cubicBezTo>
                <a:lnTo>
                  <a:pt x="152727" y="40727"/>
                </a:lnTo>
                <a:cubicBezTo>
                  <a:pt x="152727" y="35095"/>
                  <a:pt x="148177" y="30545"/>
                  <a:pt x="142545" y="30545"/>
                </a:cubicBezTo>
                <a:cubicBezTo>
                  <a:pt x="136914" y="30545"/>
                  <a:pt x="132364" y="35095"/>
                  <a:pt x="132364" y="40727"/>
                </a:cubicBezTo>
                <a:lnTo>
                  <a:pt x="132364" y="76364"/>
                </a:lnTo>
                <a:cubicBezTo>
                  <a:pt x="132364" y="79164"/>
                  <a:pt x="130073" y="81455"/>
                  <a:pt x="127273" y="81455"/>
                </a:cubicBezTo>
                <a:cubicBezTo>
                  <a:pt x="124473" y="81455"/>
                  <a:pt x="122182" y="79164"/>
                  <a:pt x="122182" y="76364"/>
                </a:cubicBezTo>
                <a:lnTo>
                  <a:pt x="122182" y="20364"/>
                </a:lnTo>
                <a:cubicBezTo>
                  <a:pt x="122182" y="14732"/>
                  <a:pt x="117632" y="10182"/>
                  <a:pt x="112000" y="10182"/>
                </a:cubicBezTo>
                <a:cubicBezTo>
                  <a:pt x="106368" y="10182"/>
                  <a:pt x="101818" y="14732"/>
                  <a:pt x="101818" y="20364"/>
                </a:cubicBezTo>
                <a:lnTo>
                  <a:pt x="101818" y="76364"/>
                </a:lnTo>
                <a:cubicBezTo>
                  <a:pt x="101818" y="79164"/>
                  <a:pt x="99527" y="81455"/>
                  <a:pt x="96727" y="81455"/>
                </a:cubicBezTo>
                <a:cubicBezTo>
                  <a:pt x="93927" y="81455"/>
                  <a:pt x="91636" y="79164"/>
                  <a:pt x="91636" y="76364"/>
                </a:cubicBezTo>
                <a:lnTo>
                  <a:pt x="91636" y="10182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8BE70583-02A7-4229-AE4B-2CF7720C2C5D}"/>
              </a:ext>
            </a:extLst>
          </p:cNvPr>
          <p:cNvSpPr>
            <a:spLocks noGrp="1"/>
          </p:cNvSpPr>
          <p:nvPr/>
        </p:nvSpPr>
        <p:spPr>
          <a:xfrm>
            <a:off x="12484510" y="4514767"/>
            <a:ext cx="1326545" cy="23272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83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Evaluation</a:t>
            </a:r>
            <a:endParaRPr sz="160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6766C609-BDC8-405A-93D8-5AC36D2AC6AA}"/>
              </a:ext>
            </a:extLst>
          </p:cNvPr>
          <p:cNvSpPr>
            <a:spLocks noGrp="1"/>
          </p:cNvSpPr>
          <p:nvPr/>
        </p:nvSpPr>
        <p:spPr>
          <a:xfrm>
            <a:off x="12187783" y="4794040"/>
            <a:ext cx="3677091" cy="1861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1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Judge evidence and limitations</a:t>
            </a:r>
            <a:endParaRPr sz="160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AE39F18A-4664-41B6-864A-D2329D2214C6}"/>
              </a:ext>
            </a:extLst>
          </p:cNvPr>
          <p:cNvSpPr>
            <a:spLocks noGrp="1"/>
          </p:cNvSpPr>
          <p:nvPr/>
        </p:nvSpPr>
        <p:spPr>
          <a:xfrm>
            <a:off x="8260219" y="5119710"/>
            <a:ext cx="27927" cy="558545"/>
          </a:xfrm>
          <a:custGeom>
            <a:avLst/>
            <a:gdLst/>
            <a:ahLst/>
            <a:cxnLst/>
            <a:rect l="l" t="t" r="r" b="b"/>
            <a:pathLst>
              <a:path w="27927" h="558545">
                <a:moveTo>
                  <a:pt x="0" y="0"/>
                </a:moveTo>
                <a:lnTo>
                  <a:pt x="27927" y="0"/>
                </a:lnTo>
                <a:lnTo>
                  <a:pt x="27927" y="558545"/>
                </a:lnTo>
                <a:lnTo>
                  <a:pt x="0" y="558545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37DBFA15-B9E4-4EBF-84A0-66BB1AFF9319}"/>
              </a:ext>
            </a:extLst>
          </p:cNvPr>
          <p:cNvSpPr>
            <a:spLocks noGrp="1"/>
          </p:cNvSpPr>
          <p:nvPr/>
        </p:nvSpPr>
        <p:spPr>
          <a:xfrm>
            <a:off x="8370182" y="5201165"/>
            <a:ext cx="203636" cy="162909"/>
          </a:xfrm>
          <a:custGeom>
            <a:avLst/>
            <a:gdLst/>
            <a:ahLst/>
            <a:cxnLst/>
            <a:rect l="l" t="t" r="r" b="b"/>
            <a:pathLst>
              <a:path w="203636" h="162909">
                <a:moveTo>
                  <a:pt x="43273" y="40727"/>
                </a:moveTo>
                <a:cubicBezTo>
                  <a:pt x="43273" y="19654"/>
                  <a:pt x="60381" y="2545"/>
                  <a:pt x="81455" y="2545"/>
                </a:cubicBezTo>
                <a:cubicBezTo>
                  <a:pt x="102528" y="2545"/>
                  <a:pt x="119636" y="19654"/>
                  <a:pt x="119636" y="40727"/>
                </a:cubicBezTo>
                <a:cubicBezTo>
                  <a:pt x="119636" y="61800"/>
                  <a:pt x="102528" y="78909"/>
                  <a:pt x="81455" y="78909"/>
                </a:cubicBezTo>
                <a:cubicBezTo>
                  <a:pt x="60381" y="78909"/>
                  <a:pt x="43273" y="61800"/>
                  <a:pt x="43273" y="40727"/>
                </a:cubicBezTo>
                <a:close/>
                <a:moveTo>
                  <a:pt x="15273" y="153459"/>
                </a:moveTo>
                <a:cubicBezTo>
                  <a:pt x="15273" y="122118"/>
                  <a:pt x="40664" y="96727"/>
                  <a:pt x="72005" y="96727"/>
                </a:cubicBezTo>
                <a:lnTo>
                  <a:pt x="90905" y="96727"/>
                </a:lnTo>
                <a:cubicBezTo>
                  <a:pt x="122245" y="96727"/>
                  <a:pt x="147636" y="122118"/>
                  <a:pt x="147636" y="153459"/>
                </a:cubicBezTo>
                <a:cubicBezTo>
                  <a:pt x="147636" y="158677"/>
                  <a:pt x="143405" y="162909"/>
                  <a:pt x="138186" y="162909"/>
                </a:cubicBezTo>
                <a:lnTo>
                  <a:pt x="24723" y="162909"/>
                </a:lnTo>
                <a:cubicBezTo>
                  <a:pt x="19505" y="162909"/>
                  <a:pt x="15273" y="158677"/>
                  <a:pt x="15273" y="153459"/>
                </a:cubicBezTo>
                <a:close/>
                <a:moveTo>
                  <a:pt x="194855" y="42223"/>
                </a:moveTo>
                <a:lnTo>
                  <a:pt x="169400" y="82950"/>
                </a:lnTo>
                <a:cubicBezTo>
                  <a:pt x="168064" y="85082"/>
                  <a:pt x="165773" y="86418"/>
                  <a:pt x="163259" y="86545"/>
                </a:cubicBezTo>
                <a:cubicBezTo>
                  <a:pt x="160745" y="86673"/>
                  <a:pt x="158327" y="85527"/>
                  <a:pt x="156832" y="83491"/>
                </a:cubicBezTo>
                <a:lnTo>
                  <a:pt x="141559" y="63127"/>
                </a:lnTo>
                <a:cubicBezTo>
                  <a:pt x="139014" y="59755"/>
                  <a:pt x="139714" y="54982"/>
                  <a:pt x="143086" y="52436"/>
                </a:cubicBezTo>
                <a:cubicBezTo>
                  <a:pt x="146459" y="49891"/>
                  <a:pt x="151232" y="50591"/>
                  <a:pt x="153777" y="53964"/>
                </a:cubicBezTo>
                <a:lnTo>
                  <a:pt x="162368" y="65418"/>
                </a:lnTo>
                <a:lnTo>
                  <a:pt x="181905" y="34141"/>
                </a:lnTo>
                <a:cubicBezTo>
                  <a:pt x="184132" y="30577"/>
                  <a:pt x="188841" y="29464"/>
                  <a:pt x="192436" y="31723"/>
                </a:cubicBezTo>
                <a:cubicBezTo>
                  <a:pt x="196032" y="33982"/>
                  <a:pt x="197114" y="38659"/>
                  <a:pt x="194855" y="42255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E61E6AA2-FF28-49F5-9AF2-94D6FC0FFB22}"/>
              </a:ext>
            </a:extLst>
          </p:cNvPr>
          <p:cNvSpPr>
            <a:spLocks noGrp="1"/>
          </p:cNvSpPr>
          <p:nvPr/>
        </p:nvSpPr>
        <p:spPr>
          <a:xfrm>
            <a:off x="8664000" y="5166256"/>
            <a:ext cx="1093818" cy="23272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83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Explanation</a:t>
            </a:r>
            <a:endParaRPr sz="160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1488489B-F5DE-4919-8350-73982A636B33}"/>
              </a:ext>
            </a:extLst>
          </p:cNvPr>
          <p:cNvSpPr>
            <a:spLocks noGrp="1"/>
          </p:cNvSpPr>
          <p:nvPr/>
        </p:nvSpPr>
        <p:spPr>
          <a:xfrm>
            <a:off x="8367273" y="5445528"/>
            <a:ext cx="7493818" cy="1861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1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Justify reasoning and decisions</a:t>
            </a:r>
            <a:endParaRPr sz="160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69805997-8CE2-415C-AC97-2228F0B5F8A3}"/>
              </a:ext>
            </a:extLst>
          </p:cNvPr>
          <p:cNvSpPr>
            <a:spLocks noGrp="1"/>
          </p:cNvSpPr>
          <p:nvPr/>
        </p:nvSpPr>
        <p:spPr>
          <a:xfrm>
            <a:off x="488727" y="6190114"/>
            <a:ext cx="15301818" cy="1349818"/>
          </a:xfrm>
          <a:custGeom>
            <a:avLst/>
            <a:gdLst/>
            <a:ahLst/>
            <a:cxnLst/>
            <a:rect l="l" t="t" r="r" b="b"/>
            <a:pathLst>
              <a:path w="15301818" h="1349818">
                <a:moveTo>
                  <a:pt x="0" y="0"/>
                </a:moveTo>
                <a:lnTo>
                  <a:pt x="15301818" y="0"/>
                </a:lnTo>
                <a:lnTo>
                  <a:pt x="15301818" y="1349818"/>
                </a:lnTo>
                <a:lnTo>
                  <a:pt x="0" y="1349818"/>
                </a:lnTo>
                <a:lnTo>
                  <a:pt x="0" y="0"/>
                </a:lnTo>
                <a:close/>
              </a:path>
            </a:pathLst>
          </a:custGeom>
          <a:solidFill>
            <a:srgbClr val="4A6D8A">
              <a:alpha val="5098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51979E65-D217-49C2-8F82-85987836E041}"/>
              </a:ext>
            </a:extLst>
          </p:cNvPr>
          <p:cNvSpPr>
            <a:spLocks noGrp="1"/>
          </p:cNvSpPr>
          <p:nvPr/>
        </p:nvSpPr>
        <p:spPr>
          <a:xfrm>
            <a:off x="488727" y="6190114"/>
            <a:ext cx="46545" cy="1349818"/>
          </a:xfrm>
          <a:custGeom>
            <a:avLst/>
            <a:gdLst/>
            <a:ahLst/>
            <a:cxnLst/>
            <a:rect l="l" t="t" r="r" b="b"/>
            <a:pathLst>
              <a:path w="46545" h="1349818">
                <a:moveTo>
                  <a:pt x="0" y="0"/>
                </a:moveTo>
                <a:lnTo>
                  <a:pt x="46545" y="0"/>
                </a:lnTo>
                <a:lnTo>
                  <a:pt x="46545" y="1349818"/>
                </a:lnTo>
                <a:lnTo>
                  <a:pt x="0" y="1349818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4CC62DA0-749E-480B-8565-F3DBACFFFF6A}"/>
              </a:ext>
            </a:extLst>
          </p:cNvPr>
          <p:cNvSpPr>
            <a:spLocks noGrp="1"/>
          </p:cNvSpPr>
          <p:nvPr/>
        </p:nvSpPr>
        <p:spPr>
          <a:xfrm>
            <a:off x="721455" y="6422841"/>
            <a:ext cx="232727" cy="232727"/>
          </a:xfrm>
          <a:custGeom>
            <a:avLst/>
            <a:gdLst/>
            <a:ahLst/>
            <a:cxnLst/>
            <a:rect l="l" t="t" r="r" b="b"/>
            <a:pathLst>
              <a:path w="232727" h="232727">
                <a:moveTo>
                  <a:pt x="54545" y="25455"/>
                </a:moveTo>
                <a:cubicBezTo>
                  <a:pt x="54545" y="11409"/>
                  <a:pt x="65955" y="0"/>
                  <a:pt x="80000" y="0"/>
                </a:cubicBezTo>
                <a:lnTo>
                  <a:pt x="90909" y="0"/>
                </a:lnTo>
                <a:cubicBezTo>
                  <a:pt x="98955" y="0"/>
                  <a:pt x="105455" y="6500"/>
                  <a:pt x="105455" y="14545"/>
                </a:cubicBezTo>
                <a:lnTo>
                  <a:pt x="105455" y="218182"/>
                </a:lnTo>
                <a:cubicBezTo>
                  <a:pt x="105455" y="226227"/>
                  <a:pt x="98955" y="232727"/>
                  <a:pt x="90909" y="232727"/>
                </a:cubicBezTo>
                <a:lnTo>
                  <a:pt x="76364" y="232727"/>
                </a:lnTo>
                <a:cubicBezTo>
                  <a:pt x="62818" y="232727"/>
                  <a:pt x="51409" y="223455"/>
                  <a:pt x="48182" y="210909"/>
                </a:cubicBezTo>
                <a:cubicBezTo>
                  <a:pt x="47864" y="210909"/>
                  <a:pt x="47591" y="210909"/>
                  <a:pt x="47273" y="210909"/>
                </a:cubicBezTo>
                <a:cubicBezTo>
                  <a:pt x="27182" y="210909"/>
                  <a:pt x="10909" y="194636"/>
                  <a:pt x="10909" y="174545"/>
                </a:cubicBezTo>
                <a:cubicBezTo>
                  <a:pt x="10909" y="166364"/>
                  <a:pt x="13636" y="158818"/>
                  <a:pt x="18182" y="152727"/>
                </a:cubicBezTo>
                <a:cubicBezTo>
                  <a:pt x="9364" y="146091"/>
                  <a:pt x="3636" y="135545"/>
                  <a:pt x="3636" y="123636"/>
                </a:cubicBezTo>
                <a:cubicBezTo>
                  <a:pt x="3636" y="109591"/>
                  <a:pt x="11636" y="97364"/>
                  <a:pt x="23273" y="91318"/>
                </a:cubicBezTo>
                <a:cubicBezTo>
                  <a:pt x="20045" y="85864"/>
                  <a:pt x="18182" y="79500"/>
                  <a:pt x="18182" y="72727"/>
                </a:cubicBezTo>
                <a:cubicBezTo>
                  <a:pt x="18182" y="52636"/>
                  <a:pt x="34455" y="36364"/>
                  <a:pt x="54545" y="36364"/>
                </a:cubicBezTo>
                <a:lnTo>
                  <a:pt x="54545" y="25455"/>
                </a:lnTo>
                <a:close/>
                <a:moveTo>
                  <a:pt x="178182" y="25455"/>
                </a:moveTo>
                <a:lnTo>
                  <a:pt x="178182" y="36364"/>
                </a:lnTo>
                <a:cubicBezTo>
                  <a:pt x="198273" y="36364"/>
                  <a:pt x="214545" y="52636"/>
                  <a:pt x="214545" y="72727"/>
                </a:cubicBezTo>
                <a:cubicBezTo>
                  <a:pt x="214545" y="79545"/>
                  <a:pt x="212682" y="85909"/>
                  <a:pt x="209455" y="91318"/>
                </a:cubicBezTo>
                <a:cubicBezTo>
                  <a:pt x="221136" y="97364"/>
                  <a:pt x="229091" y="109545"/>
                  <a:pt x="229091" y="123636"/>
                </a:cubicBezTo>
                <a:cubicBezTo>
                  <a:pt x="229091" y="135545"/>
                  <a:pt x="223364" y="146091"/>
                  <a:pt x="214545" y="152727"/>
                </a:cubicBezTo>
                <a:cubicBezTo>
                  <a:pt x="219091" y="158818"/>
                  <a:pt x="221818" y="166364"/>
                  <a:pt x="221818" y="174545"/>
                </a:cubicBezTo>
                <a:cubicBezTo>
                  <a:pt x="221818" y="194636"/>
                  <a:pt x="205545" y="210909"/>
                  <a:pt x="185455" y="210909"/>
                </a:cubicBezTo>
                <a:cubicBezTo>
                  <a:pt x="185136" y="210909"/>
                  <a:pt x="184864" y="210909"/>
                  <a:pt x="184545" y="210909"/>
                </a:cubicBezTo>
                <a:cubicBezTo>
                  <a:pt x="181318" y="223455"/>
                  <a:pt x="169909" y="232727"/>
                  <a:pt x="156364" y="232727"/>
                </a:cubicBezTo>
                <a:lnTo>
                  <a:pt x="141818" y="232727"/>
                </a:lnTo>
                <a:cubicBezTo>
                  <a:pt x="133773" y="232727"/>
                  <a:pt x="127273" y="226227"/>
                  <a:pt x="127273" y="218182"/>
                </a:cubicBezTo>
                <a:lnTo>
                  <a:pt x="127273" y="14545"/>
                </a:lnTo>
                <a:cubicBezTo>
                  <a:pt x="127273" y="6500"/>
                  <a:pt x="133773" y="0"/>
                  <a:pt x="141818" y="0"/>
                </a:cubicBezTo>
                <a:lnTo>
                  <a:pt x="152727" y="0"/>
                </a:lnTo>
                <a:cubicBezTo>
                  <a:pt x="166773" y="0"/>
                  <a:pt x="178182" y="11409"/>
                  <a:pt x="178182" y="25455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39225E09-BD96-4C13-9D09-52C46DC46659}"/>
              </a:ext>
            </a:extLst>
          </p:cNvPr>
          <p:cNvSpPr>
            <a:spLocks noGrp="1"/>
          </p:cNvSpPr>
          <p:nvPr/>
        </p:nvSpPr>
        <p:spPr>
          <a:xfrm>
            <a:off x="1067200" y="6376295"/>
            <a:ext cx="14836364" cy="32581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49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Self-Regulation</a:t>
            </a:r>
            <a:endParaRPr sz="160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5C94B2CD-18D5-472C-B918-6593FF87EFD3}"/>
              </a:ext>
            </a:extLst>
          </p:cNvPr>
          <p:cNvSpPr>
            <a:spLocks noGrp="1"/>
          </p:cNvSpPr>
          <p:nvPr/>
        </p:nvSpPr>
        <p:spPr>
          <a:xfrm>
            <a:off x="1067200" y="6795205"/>
            <a:ext cx="14824727" cy="5585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466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Reconsider assumptions and revise</a:t>
            </a:r>
            <a:endParaRPr sz="160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FC836B9E-4FBB-46ED-AAF9-8A17C4BEFC29}"/>
              </a:ext>
            </a:extLst>
          </p:cNvPr>
          <p:cNvSpPr>
            <a:spLocks noGrp="1"/>
          </p:cNvSpPr>
          <p:nvPr/>
        </p:nvSpPr>
        <p:spPr>
          <a:xfrm>
            <a:off x="465455" y="7740077"/>
            <a:ext cx="5015273" cy="944873"/>
          </a:xfrm>
          <a:custGeom>
            <a:avLst/>
            <a:gdLst/>
            <a:ahLst/>
            <a:cxnLst/>
            <a:rect l="l" t="t" r="r" b="b"/>
            <a:pathLst>
              <a:path w="5015273" h="944873">
                <a:moveTo>
                  <a:pt x="0" y="0"/>
                </a:moveTo>
                <a:lnTo>
                  <a:pt x="5015273" y="0"/>
                </a:lnTo>
                <a:lnTo>
                  <a:pt x="5015273" y="944873"/>
                </a:lnTo>
                <a:lnTo>
                  <a:pt x="0" y="944873"/>
                </a:lnTo>
                <a:lnTo>
                  <a:pt x="0" y="0"/>
                </a:lnTo>
                <a:close/>
              </a:path>
            </a:pathLst>
          </a:custGeom>
          <a:solidFill>
            <a:srgbClr val="4A6D8A">
              <a:alpha val="1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C9FA9698-6027-433E-BAC4-3DE8114CE91D}"/>
              </a:ext>
            </a:extLst>
          </p:cNvPr>
          <p:cNvSpPr>
            <a:spLocks noGrp="1"/>
          </p:cNvSpPr>
          <p:nvPr/>
        </p:nvSpPr>
        <p:spPr>
          <a:xfrm>
            <a:off x="465455" y="7740077"/>
            <a:ext cx="5015273" cy="27927"/>
          </a:xfrm>
          <a:custGeom>
            <a:avLst/>
            <a:gdLst/>
            <a:ahLst/>
            <a:cxnLst/>
            <a:rect l="l" t="t" r="r" b="b"/>
            <a:pathLst>
              <a:path w="5015273" h="27927">
                <a:moveTo>
                  <a:pt x="0" y="0"/>
                </a:moveTo>
                <a:lnTo>
                  <a:pt x="5015273" y="0"/>
                </a:lnTo>
                <a:lnTo>
                  <a:pt x="5015273" y="27927"/>
                </a:lnTo>
                <a:lnTo>
                  <a:pt x="0" y="27927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9F2B489C-9F4B-4BCA-9DF1-5A8B3EE77172}"/>
              </a:ext>
            </a:extLst>
          </p:cNvPr>
          <p:cNvSpPr>
            <a:spLocks noGrp="1"/>
          </p:cNvSpPr>
          <p:nvPr/>
        </p:nvSpPr>
        <p:spPr>
          <a:xfrm>
            <a:off x="395636" y="7893676"/>
            <a:ext cx="5154909" cy="3723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buNone/>
            </a:pPr>
            <a:r>
              <a:rPr sz="2199" b="1">
                <a:solidFill>
                  <a:srgbClr val="C8A97E"/>
                </a:solidFill>
                <a:latin typeface="Quattrocento Sans"/>
                <a:ea typeface="Quattrocento Sans"/>
                <a:cs typeface="Quattrocento Sans"/>
              </a:rPr>
              <a:t>Validation Principle</a:t>
            </a:r>
            <a:endParaRPr sz="160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AD3D49DA-4DE5-4F4C-9FF0-D28E5C64B8E8}"/>
              </a:ext>
            </a:extLst>
          </p:cNvPr>
          <p:cNvSpPr>
            <a:spLocks noGrp="1"/>
          </p:cNvSpPr>
          <p:nvPr/>
        </p:nvSpPr>
        <p:spPr>
          <a:xfrm>
            <a:off x="424727" y="8312438"/>
            <a:ext cx="5096727" cy="23272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283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Automated observations are provisional, evidence-linked and versioned; lecturers review them independently.</a:t>
            </a:r>
            <a:endParaRPr sz="160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9E8C9C0D-4FFB-443B-A806-6A4BC0BE5B8F}"/>
              </a:ext>
            </a:extLst>
          </p:cNvPr>
          <p:cNvSpPr>
            <a:spLocks noGrp="1"/>
          </p:cNvSpPr>
          <p:nvPr/>
        </p:nvSpPr>
        <p:spPr>
          <a:xfrm>
            <a:off x="5621527" y="7740077"/>
            <a:ext cx="5015273" cy="944873"/>
          </a:xfrm>
          <a:custGeom>
            <a:avLst/>
            <a:gdLst/>
            <a:ahLst/>
            <a:cxnLst/>
            <a:rect l="l" t="t" r="r" b="b"/>
            <a:pathLst>
              <a:path w="5015273" h="944873">
                <a:moveTo>
                  <a:pt x="0" y="0"/>
                </a:moveTo>
                <a:lnTo>
                  <a:pt x="5015273" y="0"/>
                </a:lnTo>
                <a:lnTo>
                  <a:pt x="5015273" y="944873"/>
                </a:lnTo>
                <a:lnTo>
                  <a:pt x="0" y="944873"/>
                </a:lnTo>
                <a:lnTo>
                  <a:pt x="0" y="0"/>
                </a:lnTo>
                <a:close/>
              </a:path>
            </a:pathLst>
          </a:custGeom>
          <a:solidFill>
            <a:srgbClr val="4A6D8A">
              <a:alpha val="1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3530105E-7B1F-4B23-B801-7CB2720948C7}"/>
              </a:ext>
            </a:extLst>
          </p:cNvPr>
          <p:cNvSpPr>
            <a:spLocks noGrp="1"/>
          </p:cNvSpPr>
          <p:nvPr/>
        </p:nvSpPr>
        <p:spPr>
          <a:xfrm>
            <a:off x="5621527" y="7740077"/>
            <a:ext cx="5015273" cy="27927"/>
          </a:xfrm>
          <a:custGeom>
            <a:avLst/>
            <a:gdLst/>
            <a:ahLst/>
            <a:cxnLst/>
            <a:rect l="l" t="t" r="r" b="b"/>
            <a:pathLst>
              <a:path w="5015273" h="27927">
                <a:moveTo>
                  <a:pt x="0" y="0"/>
                </a:moveTo>
                <a:lnTo>
                  <a:pt x="5015273" y="0"/>
                </a:lnTo>
                <a:lnTo>
                  <a:pt x="5015273" y="27927"/>
                </a:lnTo>
                <a:lnTo>
                  <a:pt x="0" y="27927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213C7632-187E-4569-9A93-332AB88E559B}"/>
              </a:ext>
            </a:extLst>
          </p:cNvPr>
          <p:cNvSpPr>
            <a:spLocks noGrp="1"/>
          </p:cNvSpPr>
          <p:nvPr/>
        </p:nvSpPr>
        <p:spPr>
          <a:xfrm>
            <a:off x="5551709" y="7893676"/>
            <a:ext cx="5154909" cy="3723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buNone/>
            </a:pPr>
            <a:r>
              <a:rPr sz="2199" b="1">
                <a:solidFill>
                  <a:srgbClr val="C8A97E"/>
                </a:solidFill>
                <a:latin typeface="Quattrocento Sans"/>
                <a:ea typeface="Quattrocento Sans"/>
                <a:cs typeface="Quattrocento Sans"/>
              </a:rPr>
              <a:t>Ethics-aware</a:t>
            </a:r>
            <a:endParaRPr sz="160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7661157C-7F82-415A-8245-8003915CE5DE}"/>
              </a:ext>
            </a:extLst>
          </p:cNvPr>
          <p:cNvSpPr>
            <a:spLocks noGrp="1"/>
          </p:cNvSpPr>
          <p:nvPr/>
        </p:nvSpPr>
        <p:spPr>
          <a:xfrm>
            <a:off x="5580800" y="8312438"/>
            <a:ext cx="5096727" cy="23272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283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Fairness · Privacy · Transparency</a:t>
            </a:r>
            <a:endParaRPr sz="160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D7621DAF-9B17-41EB-BA0E-7C7543A49BFA}"/>
              </a:ext>
            </a:extLst>
          </p:cNvPr>
          <p:cNvSpPr>
            <a:spLocks noGrp="1"/>
          </p:cNvSpPr>
          <p:nvPr/>
        </p:nvSpPr>
        <p:spPr>
          <a:xfrm>
            <a:off x="10777746" y="7740077"/>
            <a:ext cx="5015273" cy="944873"/>
          </a:xfrm>
          <a:custGeom>
            <a:avLst/>
            <a:gdLst/>
            <a:ahLst/>
            <a:cxnLst/>
            <a:rect l="l" t="t" r="r" b="b"/>
            <a:pathLst>
              <a:path w="5015273" h="944873">
                <a:moveTo>
                  <a:pt x="0" y="0"/>
                </a:moveTo>
                <a:lnTo>
                  <a:pt x="5015273" y="0"/>
                </a:lnTo>
                <a:lnTo>
                  <a:pt x="5015273" y="944873"/>
                </a:lnTo>
                <a:lnTo>
                  <a:pt x="0" y="944873"/>
                </a:lnTo>
                <a:lnTo>
                  <a:pt x="0" y="0"/>
                </a:lnTo>
                <a:close/>
              </a:path>
            </a:pathLst>
          </a:custGeom>
          <a:solidFill>
            <a:srgbClr val="4A6D8A">
              <a:alpha val="1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4A9FAEA5-01AF-47FE-AAE8-8412880474AE}"/>
              </a:ext>
            </a:extLst>
          </p:cNvPr>
          <p:cNvSpPr>
            <a:spLocks noGrp="1"/>
          </p:cNvSpPr>
          <p:nvPr/>
        </p:nvSpPr>
        <p:spPr>
          <a:xfrm>
            <a:off x="10777746" y="7740077"/>
            <a:ext cx="5015273" cy="27927"/>
          </a:xfrm>
          <a:custGeom>
            <a:avLst/>
            <a:gdLst/>
            <a:ahLst/>
            <a:cxnLst/>
            <a:rect l="l" t="t" r="r" b="b"/>
            <a:pathLst>
              <a:path w="5015273" h="27927">
                <a:moveTo>
                  <a:pt x="0" y="0"/>
                </a:moveTo>
                <a:lnTo>
                  <a:pt x="5015273" y="0"/>
                </a:lnTo>
                <a:lnTo>
                  <a:pt x="5015273" y="27927"/>
                </a:lnTo>
                <a:lnTo>
                  <a:pt x="0" y="27927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5D5F67D8-78D2-4916-9828-99F8DF7204A2}"/>
              </a:ext>
            </a:extLst>
          </p:cNvPr>
          <p:cNvSpPr>
            <a:spLocks noGrp="1"/>
          </p:cNvSpPr>
          <p:nvPr/>
        </p:nvSpPr>
        <p:spPr>
          <a:xfrm>
            <a:off x="10707928" y="7893676"/>
            <a:ext cx="5154909" cy="3723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buNone/>
            </a:pPr>
            <a:r>
              <a:rPr sz="2199" b="1">
                <a:solidFill>
                  <a:srgbClr val="C8A97E"/>
                </a:solidFill>
                <a:latin typeface="Quattrocento Sans"/>
                <a:ea typeface="Quattrocento Sans"/>
                <a:cs typeface="Quattrocento Sans"/>
              </a:rPr>
              <a:t>Harm-aware</a:t>
            </a:r>
            <a:endParaRPr sz="1600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50A41055-CB1E-4956-83AC-AC43A111EC06}"/>
              </a:ext>
            </a:extLst>
          </p:cNvPr>
          <p:cNvSpPr>
            <a:spLocks noGrp="1"/>
          </p:cNvSpPr>
          <p:nvPr/>
        </p:nvSpPr>
        <p:spPr>
          <a:xfrm>
            <a:off x="10737018" y="8312438"/>
            <a:ext cx="5096727" cy="23272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283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Non-maleficence · Responsibility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866011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A7430A0-CCE8-4A5B-B9DE-D0190D5FA178}"/>
              </a:ext>
            </a:extLst>
          </p:cNvPr>
          <p:cNvSpPr>
            <a:spLocks noGrp="1"/>
          </p:cNvSpPr>
          <p:nvPr/>
        </p:nvSpPr>
        <p:spPr>
          <a:xfrm>
            <a:off x="508000" y="5080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325D948-35BA-49AF-9111-4BD76EA2C07C}"/>
              </a:ext>
            </a:extLst>
          </p:cNvPr>
          <p:cNvSpPr>
            <a:spLocks noGrp="1"/>
          </p:cNvSpPr>
          <p:nvPr/>
        </p:nvSpPr>
        <p:spPr>
          <a:xfrm>
            <a:off x="711200" y="635000"/>
            <a:ext cx="24384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spc="7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STUDENT WORKSPACE</a:t>
            </a:r>
            <a:endParaRPr sz="1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4CCB3A4-21C3-43B3-8164-08308357294F}"/>
              </a:ext>
            </a:extLst>
          </p:cNvPr>
          <p:cNvSpPr>
            <a:spLocks noGrp="1"/>
          </p:cNvSpPr>
          <p:nvPr/>
        </p:nvSpPr>
        <p:spPr>
          <a:xfrm>
            <a:off x="508000" y="11176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90000"/>
              </a:lnSpc>
              <a:buNone/>
            </a:pPr>
            <a:r>
              <a:rPr sz="36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Thinking Path | Conversation | Sources</a:t>
            </a:r>
            <a:endParaRPr sz="16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B6F8274-B302-4FAF-A657-E21DFB632CFF}"/>
              </a:ext>
            </a:extLst>
          </p:cNvPr>
          <p:cNvSpPr>
            <a:spLocks noGrp="1"/>
          </p:cNvSpPr>
          <p:nvPr/>
        </p:nvSpPr>
        <p:spPr>
          <a:xfrm>
            <a:off x="508000" y="17272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The interface makes project reasoning, evidence and reflection more prominent than AI.</a:t>
            </a:r>
            <a:endParaRPr sz="16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DF75367-727A-4F96-A347-D57961EE07D6}"/>
              </a:ext>
            </a:extLst>
          </p:cNvPr>
          <p:cNvSpPr>
            <a:spLocks noGrp="1"/>
          </p:cNvSpPr>
          <p:nvPr/>
        </p:nvSpPr>
        <p:spPr>
          <a:xfrm>
            <a:off x="539750" y="2349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114300"/>
                </a:moveTo>
                <a:cubicBezTo>
                  <a:pt x="228600" y="114702"/>
                  <a:pt x="228600" y="115104"/>
                  <a:pt x="228600" y="115506"/>
                </a:cubicBezTo>
                <a:cubicBezTo>
                  <a:pt x="228421" y="131802"/>
                  <a:pt x="213598" y="142875"/>
                  <a:pt x="197301" y="142875"/>
                </a:cubicBezTo>
                <a:lnTo>
                  <a:pt x="153591" y="142875"/>
                </a:lnTo>
                <a:cubicBezTo>
                  <a:pt x="141759" y="142875"/>
                  <a:pt x="132159" y="152474"/>
                  <a:pt x="132159" y="164306"/>
                </a:cubicBezTo>
                <a:cubicBezTo>
                  <a:pt x="132159" y="165824"/>
                  <a:pt x="132338" y="167298"/>
                  <a:pt x="132606" y="168726"/>
                </a:cubicBezTo>
                <a:cubicBezTo>
                  <a:pt x="133543" y="173281"/>
                  <a:pt x="135508" y="177656"/>
                  <a:pt x="137428" y="182076"/>
                </a:cubicBezTo>
                <a:cubicBezTo>
                  <a:pt x="140151" y="188238"/>
                  <a:pt x="142830" y="194355"/>
                  <a:pt x="142830" y="200829"/>
                </a:cubicBezTo>
                <a:cubicBezTo>
                  <a:pt x="142830" y="215027"/>
                  <a:pt x="133186" y="227930"/>
                  <a:pt x="118988" y="228511"/>
                </a:cubicBezTo>
                <a:cubicBezTo>
                  <a:pt x="117425" y="228555"/>
                  <a:pt x="115863" y="228600"/>
                  <a:pt x="114255" y="228600"/>
                </a:cubicBezTo>
                <a:cubicBezTo>
                  <a:pt x="51122" y="228600"/>
                  <a:pt x="-45" y="177433"/>
                  <a:pt x="-45" y="114300"/>
                </a:cubicBezTo>
                <a:cubicBezTo>
                  <a:pt x="-45" y="51167"/>
                  <a:pt x="51167" y="0"/>
                  <a:pt x="114300" y="0"/>
                </a:cubicBezTo>
                <a:cubicBezTo>
                  <a:pt x="177433" y="0"/>
                  <a:pt x="228600" y="51167"/>
                  <a:pt x="228600" y="114300"/>
                </a:cubicBezTo>
                <a:close/>
                <a:moveTo>
                  <a:pt x="57150" y="128588"/>
                </a:moveTo>
                <a:cubicBezTo>
                  <a:pt x="57150" y="120702"/>
                  <a:pt x="50748" y="114300"/>
                  <a:pt x="42863" y="114300"/>
                </a:cubicBezTo>
                <a:cubicBezTo>
                  <a:pt x="34977" y="114300"/>
                  <a:pt x="28575" y="120702"/>
                  <a:pt x="28575" y="128588"/>
                </a:cubicBezTo>
                <a:cubicBezTo>
                  <a:pt x="28575" y="136473"/>
                  <a:pt x="34977" y="142875"/>
                  <a:pt x="42863" y="142875"/>
                </a:cubicBezTo>
                <a:cubicBezTo>
                  <a:pt x="50748" y="142875"/>
                  <a:pt x="57150" y="136473"/>
                  <a:pt x="57150" y="128588"/>
                </a:cubicBezTo>
                <a:close/>
                <a:moveTo>
                  <a:pt x="57150" y="85725"/>
                </a:moveTo>
                <a:cubicBezTo>
                  <a:pt x="65035" y="85725"/>
                  <a:pt x="71438" y="79323"/>
                  <a:pt x="71438" y="71438"/>
                </a:cubicBezTo>
                <a:cubicBezTo>
                  <a:pt x="71438" y="63552"/>
                  <a:pt x="65035" y="57150"/>
                  <a:pt x="57150" y="57150"/>
                </a:cubicBezTo>
                <a:cubicBezTo>
                  <a:pt x="49265" y="57150"/>
                  <a:pt x="42863" y="63552"/>
                  <a:pt x="42863" y="71438"/>
                </a:cubicBezTo>
                <a:cubicBezTo>
                  <a:pt x="42863" y="79323"/>
                  <a:pt x="49265" y="85725"/>
                  <a:pt x="57150" y="85725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71450" y="85725"/>
                </a:moveTo>
                <a:cubicBezTo>
                  <a:pt x="179335" y="85725"/>
                  <a:pt x="185738" y="79323"/>
                  <a:pt x="185738" y="71438"/>
                </a:cubicBezTo>
                <a:cubicBezTo>
                  <a:pt x="185738" y="63552"/>
                  <a:pt x="179335" y="57150"/>
                  <a:pt x="171450" y="57150"/>
                </a:cubicBezTo>
                <a:cubicBezTo>
                  <a:pt x="163565" y="57150"/>
                  <a:pt x="157163" y="63552"/>
                  <a:pt x="157163" y="71438"/>
                </a:cubicBezTo>
                <a:cubicBezTo>
                  <a:pt x="157163" y="79323"/>
                  <a:pt x="163565" y="85725"/>
                  <a:pt x="171450" y="85725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8A34B0B-8837-4CE6-8AF6-47C60E081769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47371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8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Three-Panel Structure</a:t>
            </a:r>
            <a:endParaRPr sz="1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7AAC21F-6E63-4BF6-AD0D-F60A674ED6FB}"/>
              </a:ext>
            </a:extLst>
          </p:cNvPr>
          <p:cNvSpPr>
            <a:spLocks noGrp="1"/>
          </p:cNvSpPr>
          <p:nvPr/>
        </p:nvSpPr>
        <p:spPr>
          <a:xfrm>
            <a:off x="523240" y="2794000"/>
            <a:ext cx="30480" cy="762000"/>
          </a:xfrm>
          <a:custGeom>
            <a:avLst/>
            <a:gdLst/>
            <a:ahLst/>
            <a:cxnLst/>
            <a:rect l="l" t="t" r="r" b="b"/>
            <a:pathLst>
              <a:path w="30480" h="762000">
                <a:moveTo>
                  <a:pt x="0" y="0"/>
                </a:moveTo>
                <a:lnTo>
                  <a:pt x="30480" y="0"/>
                </a:lnTo>
                <a:lnTo>
                  <a:pt x="3048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64B2B52-C218-4D10-8C43-E6EA1E15311B}"/>
              </a:ext>
            </a:extLst>
          </p:cNvPr>
          <p:cNvSpPr>
            <a:spLocks noGrp="1"/>
          </p:cNvSpPr>
          <p:nvPr/>
        </p:nvSpPr>
        <p:spPr>
          <a:xfrm>
            <a:off x="690880" y="2794000"/>
            <a:ext cx="48133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Thinking Path</a:t>
            </a:r>
            <a:endParaRPr sz="16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C03D79C-ADA4-4648-8D0F-4867F6AB34FF}"/>
              </a:ext>
            </a:extLst>
          </p:cNvPr>
          <p:cNvSpPr>
            <a:spLocks noGrp="1"/>
          </p:cNvSpPr>
          <p:nvPr/>
        </p:nvSpPr>
        <p:spPr>
          <a:xfrm>
            <a:off x="690880" y="3048000"/>
            <a:ext cx="48133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Five phases and green completion ticks</a:t>
            </a:r>
            <a:endParaRPr sz="16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832DAF2-1D0C-451E-9B65-CE611C4B90CE}"/>
              </a:ext>
            </a:extLst>
          </p:cNvPr>
          <p:cNvSpPr>
            <a:spLocks noGrp="1"/>
          </p:cNvSpPr>
          <p:nvPr/>
        </p:nvSpPr>
        <p:spPr>
          <a:xfrm>
            <a:off x="690880" y="3352800"/>
            <a:ext cx="48006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Current phase is the primary visual anchor</a:t>
            </a:r>
            <a:endParaRPr sz="16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28E03B3-0F98-4F79-A65C-AE9E972A0A90}"/>
              </a:ext>
            </a:extLst>
          </p:cNvPr>
          <p:cNvSpPr>
            <a:spLocks noGrp="1"/>
          </p:cNvSpPr>
          <p:nvPr/>
        </p:nvSpPr>
        <p:spPr>
          <a:xfrm>
            <a:off x="523240" y="3708242"/>
            <a:ext cx="30480" cy="762000"/>
          </a:xfrm>
          <a:custGeom>
            <a:avLst/>
            <a:gdLst/>
            <a:ahLst/>
            <a:cxnLst/>
            <a:rect l="l" t="t" r="r" b="b"/>
            <a:pathLst>
              <a:path w="30480" h="762000">
                <a:moveTo>
                  <a:pt x="0" y="0"/>
                </a:moveTo>
                <a:lnTo>
                  <a:pt x="30480" y="0"/>
                </a:lnTo>
                <a:lnTo>
                  <a:pt x="3048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639E1F5-1BF1-49AE-9206-89977776AD46}"/>
              </a:ext>
            </a:extLst>
          </p:cNvPr>
          <p:cNvSpPr>
            <a:spLocks noGrp="1"/>
          </p:cNvSpPr>
          <p:nvPr/>
        </p:nvSpPr>
        <p:spPr>
          <a:xfrm>
            <a:off x="690880" y="3708242"/>
            <a:ext cx="48133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Conversation</a:t>
            </a:r>
            <a:endParaRPr sz="16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A74E1E9-9470-4DFF-A06E-9DF367860776}"/>
              </a:ext>
            </a:extLst>
          </p:cNvPr>
          <p:cNvSpPr>
            <a:spLocks noGrp="1"/>
          </p:cNvSpPr>
          <p:nvPr/>
        </p:nvSpPr>
        <p:spPr>
          <a:xfrm>
            <a:off x="690880" y="3962242"/>
            <a:ext cx="48133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Coach and student messages</a:t>
            </a:r>
            <a:endParaRPr sz="16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E74504B-1AE7-4B88-9254-CD55962808AD}"/>
              </a:ext>
            </a:extLst>
          </p:cNvPr>
          <p:cNvSpPr>
            <a:spLocks noGrp="1"/>
          </p:cNvSpPr>
          <p:nvPr/>
        </p:nvSpPr>
        <p:spPr>
          <a:xfrm>
            <a:off x="690880" y="4267042"/>
            <a:ext cx="48006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Flat long-form reading with a simple composer</a:t>
            </a:r>
            <a:endParaRPr sz="16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8DE3106-A93D-463C-A613-4F896282A67B}"/>
              </a:ext>
            </a:extLst>
          </p:cNvPr>
          <p:cNvSpPr>
            <a:spLocks noGrp="1"/>
          </p:cNvSpPr>
          <p:nvPr/>
        </p:nvSpPr>
        <p:spPr>
          <a:xfrm>
            <a:off x="523240" y="4622484"/>
            <a:ext cx="30480" cy="762000"/>
          </a:xfrm>
          <a:custGeom>
            <a:avLst/>
            <a:gdLst/>
            <a:ahLst/>
            <a:cxnLst/>
            <a:rect l="l" t="t" r="r" b="b"/>
            <a:pathLst>
              <a:path w="30480" h="762000">
                <a:moveTo>
                  <a:pt x="0" y="0"/>
                </a:moveTo>
                <a:lnTo>
                  <a:pt x="30480" y="0"/>
                </a:lnTo>
                <a:lnTo>
                  <a:pt x="3048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6F3B618-3C96-4444-A594-8A42C1612EE2}"/>
              </a:ext>
            </a:extLst>
          </p:cNvPr>
          <p:cNvSpPr>
            <a:spLocks noGrp="1"/>
          </p:cNvSpPr>
          <p:nvPr/>
        </p:nvSpPr>
        <p:spPr>
          <a:xfrm>
            <a:off x="690880" y="4622484"/>
            <a:ext cx="48133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Sources</a:t>
            </a:r>
            <a:endParaRPr sz="16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DD74E98-765F-48F0-B72C-1C9DF56AD51B}"/>
              </a:ext>
            </a:extLst>
          </p:cNvPr>
          <p:cNvSpPr>
            <a:spLocks noGrp="1"/>
          </p:cNvSpPr>
          <p:nvPr/>
        </p:nvSpPr>
        <p:spPr>
          <a:xfrm>
            <a:off x="690880" y="4876484"/>
            <a:ext cx="48133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Student uploads plus course resources</a:t>
            </a:r>
            <a:endParaRPr sz="16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E31A3AD-9111-4895-8FB3-EC2BD6C7AA9C}"/>
              </a:ext>
            </a:extLst>
          </p:cNvPr>
          <p:cNvSpPr>
            <a:spLocks noGrp="1"/>
          </p:cNvSpPr>
          <p:nvPr/>
        </p:nvSpPr>
        <p:spPr>
          <a:xfrm>
            <a:off x="690880" y="5181284"/>
            <a:ext cx="48006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Selection, preview and evidence citations</a:t>
            </a:r>
            <a:endParaRPr sz="16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6AE88D3-0EB0-4378-B9B2-D94AEDD78A75}"/>
              </a:ext>
            </a:extLst>
          </p:cNvPr>
          <p:cNvSpPr>
            <a:spLocks noGrp="1"/>
          </p:cNvSpPr>
          <p:nvPr/>
        </p:nvSpPr>
        <p:spPr>
          <a:xfrm>
            <a:off x="5690076" y="23495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7F17357-1426-4F2E-BEEE-D646A57F6D0F}"/>
              </a:ext>
            </a:extLst>
          </p:cNvPr>
          <p:cNvSpPr>
            <a:spLocks noGrp="1"/>
          </p:cNvSpPr>
          <p:nvPr/>
        </p:nvSpPr>
        <p:spPr>
          <a:xfrm>
            <a:off x="5964714" y="2286000"/>
            <a:ext cx="98933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8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Learning Controls</a:t>
            </a:r>
            <a:endParaRPr sz="16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8AC5CDC-A5BE-4D93-9C0D-37A482074900}"/>
              </a:ext>
            </a:extLst>
          </p:cNvPr>
          <p:cNvSpPr>
            <a:spLocks noGrp="1"/>
          </p:cNvSpPr>
          <p:nvPr/>
        </p:nvSpPr>
        <p:spPr>
          <a:xfrm>
            <a:off x="5687854" y="2794000"/>
            <a:ext cx="30480" cy="660400"/>
          </a:xfrm>
          <a:custGeom>
            <a:avLst/>
            <a:gdLst/>
            <a:ahLst/>
            <a:cxnLst/>
            <a:rect l="l" t="t" r="r" b="b"/>
            <a:pathLst>
              <a:path w="30480" h="660400">
                <a:moveTo>
                  <a:pt x="0" y="0"/>
                </a:moveTo>
                <a:lnTo>
                  <a:pt x="30480" y="0"/>
                </a:lnTo>
                <a:lnTo>
                  <a:pt x="3048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79A86E2-447D-4A02-90AF-005BFCC9F741}"/>
              </a:ext>
            </a:extLst>
          </p:cNvPr>
          <p:cNvSpPr>
            <a:spLocks noGrp="1"/>
          </p:cNvSpPr>
          <p:nvPr/>
        </p:nvSpPr>
        <p:spPr>
          <a:xfrm>
            <a:off x="5868194" y="30480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52400" y="57150"/>
                </a:moveTo>
                <a:cubicBezTo>
                  <a:pt x="152400" y="95726"/>
                  <a:pt x="118269" y="127000"/>
                  <a:pt x="76200" y="127000"/>
                </a:cubicBezTo>
                <a:cubicBezTo>
                  <a:pt x="65603" y="127000"/>
                  <a:pt x="55523" y="125016"/>
                  <a:pt x="46355" y="121444"/>
                </a:cubicBezTo>
                <a:lnTo>
                  <a:pt x="13970" y="138589"/>
                </a:lnTo>
                <a:cubicBezTo>
                  <a:pt x="10279" y="140533"/>
                  <a:pt x="5755" y="139859"/>
                  <a:pt x="2778" y="136922"/>
                </a:cubicBezTo>
                <a:cubicBezTo>
                  <a:pt x="-198" y="133985"/>
                  <a:pt x="-873" y="129421"/>
                  <a:pt x="1111" y="125730"/>
                </a:cubicBezTo>
                <a:lnTo>
                  <a:pt x="15240" y="99060"/>
                </a:lnTo>
                <a:cubicBezTo>
                  <a:pt x="5675" y="87392"/>
                  <a:pt x="0" y="72866"/>
                  <a:pt x="0" y="57150"/>
                </a:cubicBezTo>
                <a:cubicBezTo>
                  <a:pt x="0" y="18574"/>
                  <a:pt x="34131" y="-12700"/>
                  <a:pt x="76200" y="-12700"/>
                </a:cubicBezTo>
                <a:cubicBezTo>
                  <a:pt x="118269" y="-12700"/>
                  <a:pt x="152400" y="18574"/>
                  <a:pt x="152400" y="57150"/>
                </a:cubicBezTo>
                <a:close/>
                <a:moveTo>
                  <a:pt x="152400" y="203200"/>
                </a:moveTo>
                <a:cubicBezTo>
                  <a:pt x="115054" y="203200"/>
                  <a:pt x="83979" y="178554"/>
                  <a:pt x="77470" y="146050"/>
                </a:cubicBezTo>
                <a:cubicBezTo>
                  <a:pt x="125095" y="145455"/>
                  <a:pt x="166489" y="111562"/>
                  <a:pt x="171053" y="65603"/>
                </a:cubicBezTo>
                <a:cubicBezTo>
                  <a:pt x="204113" y="73223"/>
                  <a:pt x="228600" y="100648"/>
                  <a:pt x="228600" y="133350"/>
                </a:cubicBezTo>
                <a:cubicBezTo>
                  <a:pt x="228600" y="149066"/>
                  <a:pt x="222925" y="163592"/>
                  <a:pt x="213360" y="175260"/>
                </a:cubicBezTo>
                <a:lnTo>
                  <a:pt x="227489" y="201930"/>
                </a:lnTo>
                <a:cubicBezTo>
                  <a:pt x="229433" y="205621"/>
                  <a:pt x="228759" y="210145"/>
                  <a:pt x="225822" y="213122"/>
                </a:cubicBezTo>
                <a:cubicBezTo>
                  <a:pt x="222885" y="216098"/>
                  <a:pt x="218321" y="216773"/>
                  <a:pt x="214630" y="214789"/>
                </a:cubicBezTo>
                <a:lnTo>
                  <a:pt x="182245" y="197644"/>
                </a:lnTo>
                <a:cubicBezTo>
                  <a:pt x="173077" y="201216"/>
                  <a:pt x="162997" y="203200"/>
                  <a:pt x="152400" y="203200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67DE3D5-A6D4-4E5D-B41E-BEFF1FCFCB25}"/>
              </a:ext>
            </a:extLst>
          </p:cNvPr>
          <p:cNvSpPr>
            <a:spLocks noGrp="1"/>
          </p:cNvSpPr>
          <p:nvPr/>
        </p:nvSpPr>
        <p:spPr>
          <a:xfrm>
            <a:off x="6261894" y="28956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Journey / Review</a:t>
            </a:r>
            <a:endParaRPr sz="16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17F6FE9-38CB-4D25-B2CF-B141C4C40696}"/>
              </a:ext>
            </a:extLst>
          </p:cNvPr>
          <p:cNvSpPr>
            <a:spLocks noGrp="1"/>
          </p:cNvSpPr>
          <p:nvPr/>
        </p:nvSpPr>
        <p:spPr>
          <a:xfrm>
            <a:off x="6261894" y="3149600"/>
            <a:ext cx="25273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Progress · Facione reflection</a:t>
            </a:r>
            <a:endParaRPr sz="16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2CE7214-FB64-46B3-A2B7-D6C8A0C97860}"/>
              </a:ext>
            </a:extLst>
          </p:cNvPr>
          <p:cNvSpPr>
            <a:spLocks noGrp="1"/>
          </p:cNvSpPr>
          <p:nvPr/>
        </p:nvSpPr>
        <p:spPr>
          <a:xfrm>
            <a:off x="10801668" y="2794000"/>
            <a:ext cx="30480" cy="660400"/>
          </a:xfrm>
          <a:custGeom>
            <a:avLst/>
            <a:gdLst/>
            <a:ahLst/>
            <a:cxnLst/>
            <a:rect l="l" t="t" r="r" b="b"/>
            <a:pathLst>
              <a:path w="30480" h="660400">
                <a:moveTo>
                  <a:pt x="0" y="0"/>
                </a:moveTo>
                <a:lnTo>
                  <a:pt x="30480" y="0"/>
                </a:lnTo>
                <a:lnTo>
                  <a:pt x="3048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6607FA14-9525-4345-B14B-42E0A2DDCF47}"/>
              </a:ext>
            </a:extLst>
          </p:cNvPr>
          <p:cNvSpPr>
            <a:spLocks noGrp="1"/>
          </p:cNvSpPr>
          <p:nvPr/>
        </p:nvSpPr>
        <p:spPr>
          <a:xfrm>
            <a:off x="11007408" y="30480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25400" y="12700"/>
                </a:moveTo>
                <a:cubicBezTo>
                  <a:pt x="11390" y="12700"/>
                  <a:pt x="0" y="24090"/>
                  <a:pt x="0" y="38100"/>
                </a:cubicBezTo>
                <a:lnTo>
                  <a:pt x="0" y="165100"/>
                </a:lnTo>
                <a:cubicBezTo>
                  <a:pt x="0" y="179110"/>
                  <a:pt x="11390" y="190500"/>
                  <a:pt x="25400" y="190500"/>
                </a:cubicBezTo>
                <a:lnTo>
                  <a:pt x="152400" y="190500"/>
                </a:lnTo>
                <a:cubicBezTo>
                  <a:pt x="166410" y="190500"/>
                  <a:pt x="177800" y="179110"/>
                  <a:pt x="177800" y="165100"/>
                </a:cubicBezTo>
                <a:lnTo>
                  <a:pt x="177800" y="68778"/>
                </a:lnTo>
                <a:cubicBezTo>
                  <a:pt x="177800" y="62032"/>
                  <a:pt x="175141" y="55563"/>
                  <a:pt x="170378" y="50800"/>
                </a:cubicBezTo>
                <a:lnTo>
                  <a:pt x="139700" y="20122"/>
                </a:lnTo>
                <a:cubicBezTo>
                  <a:pt x="134938" y="15359"/>
                  <a:pt x="128468" y="12700"/>
                  <a:pt x="121722" y="12700"/>
                </a:cubicBezTo>
                <a:lnTo>
                  <a:pt x="25400" y="12700"/>
                </a:lnTo>
                <a:close/>
                <a:moveTo>
                  <a:pt x="38100" y="50800"/>
                </a:moveTo>
                <a:cubicBezTo>
                  <a:pt x="38100" y="43775"/>
                  <a:pt x="43775" y="38100"/>
                  <a:pt x="50800" y="38100"/>
                </a:cubicBezTo>
                <a:lnTo>
                  <a:pt x="114300" y="38100"/>
                </a:lnTo>
                <a:cubicBezTo>
                  <a:pt x="121325" y="38100"/>
                  <a:pt x="127000" y="43775"/>
                  <a:pt x="127000" y="50800"/>
                </a:cubicBezTo>
                <a:lnTo>
                  <a:pt x="127000" y="76200"/>
                </a:lnTo>
                <a:cubicBezTo>
                  <a:pt x="127000" y="83225"/>
                  <a:pt x="121325" y="88900"/>
                  <a:pt x="114300" y="88900"/>
                </a:cubicBezTo>
                <a:lnTo>
                  <a:pt x="50800" y="88900"/>
                </a:lnTo>
                <a:cubicBezTo>
                  <a:pt x="43775" y="88900"/>
                  <a:pt x="38100" y="83225"/>
                  <a:pt x="38100" y="76200"/>
                </a:cubicBezTo>
                <a:lnTo>
                  <a:pt x="38100" y="50800"/>
                </a:lnTo>
                <a:close/>
                <a:moveTo>
                  <a:pt x="88900" y="114300"/>
                </a:moveTo>
                <a:cubicBezTo>
                  <a:pt x="102919" y="114300"/>
                  <a:pt x="114300" y="125681"/>
                  <a:pt x="114300" y="139700"/>
                </a:cubicBezTo>
                <a:cubicBezTo>
                  <a:pt x="114300" y="153719"/>
                  <a:pt x="102919" y="165100"/>
                  <a:pt x="88900" y="165100"/>
                </a:cubicBezTo>
                <a:cubicBezTo>
                  <a:pt x="74881" y="165100"/>
                  <a:pt x="63500" y="153719"/>
                  <a:pt x="63500" y="139700"/>
                </a:cubicBezTo>
                <a:cubicBezTo>
                  <a:pt x="63500" y="125681"/>
                  <a:pt x="74881" y="114300"/>
                  <a:pt x="88900" y="114300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31775F3-43C8-419E-8F62-BAFF18E313B4}"/>
              </a:ext>
            </a:extLst>
          </p:cNvPr>
          <p:cNvSpPr>
            <a:spLocks noGrp="1"/>
          </p:cNvSpPr>
          <p:nvPr/>
        </p:nvSpPr>
        <p:spPr>
          <a:xfrm>
            <a:off x="11375708" y="2895600"/>
            <a:ext cx="27051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Quick / Strict</a:t>
            </a:r>
            <a:endParaRPr sz="16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97F84F0-0549-4442-A755-543426F88F68}"/>
              </a:ext>
            </a:extLst>
          </p:cNvPr>
          <p:cNvSpPr>
            <a:spLocks noGrp="1"/>
          </p:cNvSpPr>
          <p:nvPr/>
        </p:nvSpPr>
        <p:spPr>
          <a:xfrm>
            <a:off x="11375708" y="3149600"/>
            <a:ext cx="26924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Coaching threshold</a:t>
            </a:r>
            <a:endParaRPr sz="160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FC8577C-BB0A-4BEB-915F-44D19F407ED4}"/>
              </a:ext>
            </a:extLst>
          </p:cNvPr>
          <p:cNvSpPr>
            <a:spLocks noGrp="1"/>
          </p:cNvSpPr>
          <p:nvPr/>
        </p:nvSpPr>
        <p:spPr>
          <a:xfrm>
            <a:off x="5687854" y="3606642"/>
            <a:ext cx="30480" cy="660400"/>
          </a:xfrm>
          <a:custGeom>
            <a:avLst/>
            <a:gdLst/>
            <a:ahLst/>
            <a:cxnLst/>
            <a:rect l="l" t="t" r="r" b="b"/>
            <a:pathLst>
              <a:path w="30480" h="660400">
                <a:moveTo>
                  <a:pt x="0" y="0"/>
                </a:moveTo>
                <a:lnTo>
                  <a:pt x="30480" y="0"/>
                </a:lnTo>
                <a:lnTo>
                  <a:pt x="3048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4B11D1BD-2D1B-458C-B0CD-E8A763D30C19}"/>
              </a:ext>
            </a:extLst>
          </p:cNvPr>
          <p:cNvSpPr>
            <a:spLocks noGrp="1"/>
          </p:cNvSpPr>
          <p:nvPr/>
        </p:nvSpPr>
        <p:spPr>
          <a:xfrm>
            <a:off x="5880894" y="3860642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53102" y="14407"/>
                </a:moveTo>
                <a:cubicBezTo>
                  <a:pt x="57428" y="17423"/>
                  <a:pt x="58460" y="23376"/>
                  <a:pt x="55443" y="27662"/>
                </a:cubicBezTo>
                <a:lnTo>
                  <a:pt x="33218" y="59412"/>
                </a:lnTo>
                <a:cubicBezTo>
                  <a:pt x="31591" y="61714"/>
                  <a:pt x="29051" y="63182"/>
                  <a:pt x="26233" y="63421"/>
                </a:cubicBezTo>
                <a:cubicBezTo>
                  <a:pt x="23416" y="63659"/>
                  <a:pt x="20638" y="62706"/>
                  <a:pt x="18653" y="60722"/>
                </a:cubicBezTo>
                <a:lnTo>
                  <a:pt x="2778" y="44847"/>
                </a:lnTo>
                <a:cubicBezTo>
                  <a:pt x="-913" y="41116"/>
                  <a:pt x="-913" y="35084"/>
                  <a:pt x="2778" y="31353"/>
                </a:cubicBezTo>
                <a:cubicBezTo>
                  <a:pt x="6469" y="27622"/>
                  <a:pt x="12541" y="27662"/>
                  <a:pt x="16272" y="31353"/>
                </a:cubicBezTo>
                <a:lnTo>
                  <a:pt x="24130" y="39211"/>
                </a:lnTo>
                <a:lnTo>
                  <a:pt x="39846" y="16748"/>
                </a:lnTo>
                <a:cubicBezTo>
                  <a:pt x="42863" y="12422"/>
                  <a:pt x="48816" y="11390"/>
                  <a:pt x="53102" y="14407"/>
                </a:cubicBezTo>
                <a:close/>
                <a:moveTo>
                  <a:pt x="53102" y="77907"/>
                </a:moveTo>
                <a:cubicBezTo>
                  <a:pt x="57428" y="80923"/>
                  <a:pt x="58460" y="86876"/>
                  <a:pt x="55443" y="91162"/>
                </a:cubicBezTo>
                <a:lnTo>
                  <a:pt x="33218" y="122912"/>
                </a:lnTo>
                <a:cubicBezTo>
                  <a:pt x="31591" y="125214"/>
                  <a:pt x="29051" y="126683"/>
                  <a:pt x="26233" y="126921"/>
                </a:cubicBezTo>
                <a:cubicBezTo>
                  <a:pt x="23416" y="127159"/>
                  <a:pt x="20638" y="126206"/>
                  <a:pt x="18653" y="124222"/>
                </a:cubicBezTo>
                <a:lnTo>
                  <a:pt x="2778" y="108347"/>
                </a:lnTo>
                <a:cubicBezTo>
                  <a:pt x="-953" y="104616"/>
                  <a:pt x="-953" y="98584"/>
                  <a:pt x="2778" y="94893"/>
                </a:cubicBezTo>
                <a:cubicBezTo>
                  <a:pt x="6509" y="91202"/>
                  <a:pt x="12541" y="91162"/>
                  <a:pt x="16232" y="94893"/>
                </a:cubicBezTo>
                <a:lnTo>
                  <a:pt x="24090" y="102751"/>
                </a:lnTo>
                <a:lnTo>
                  <a:pt x="39807" y="80288"/>
                </a:lnTo>
                <a:cubicBezTo>
                  <a:pt x="42823" y="75962"/>
                  <a:pt x="48776" y="74930"/>
                  <a:pt x="53062" y="77946"/>
                </a:cubicBezTo>
                <a:close/>
                <a:moveTo>
                  <a:pt x="88900" y="38100"/>
                </a:moveTo>
                <a:cubicBezTo>
                  <a:pt x="88900" y="31075"/>
                  <a:pt x="94575" y="25400"/>
                  <a:pt x="101600" y="25400"/>
                </a:cubicBezTo>
                <a:lnTo>
                  <a:pt x="190500" y="25400"/>
                </a:lnTo>
                <a:cubicBezTo>
                  <a:pt x="197525" y="25400"/>
                  <a:pt x="203200" y="31075"/>
                  <a:pt x="203200" y="38100"/>
                </a:cubicBezTo>
                <a:cubicBezTo>
                  <a:pt x="203200" y="45125"/>
                  <a:pt x="197525" y="50800"/>
                  <a:pt x="190500" y="50800"/>
                </a:cubicBezTo>
                <a:lnTo>
                  <a:pt x="101600" y="50800"/>
                </a:lnTo>
                <a:cubicBezTo>
                  <a:pt x="94575" y="50800"/>
                  <a:pt x="88900" y="45125"/>
                  <a:pt x="88900" y="38100"/>
                </a:cubicBezTo>
                <a:close/>
                <a:moveTo>
                  <a:pt x="88900" y="101600"/>
                </a:moveTo>
                <a:cubicBezTo>
                  <a:pt x="88900" y="94575"/>
                  <a:pt x="94575" y="88900"/>
                  <a:pt x="101600" y="88900"/>
                </a:cubicBezTo>
                <a:lnTo>
                  <a:pt x="190500" y="88900"/>
                </a:lnTo>
                <a:cubicBezTo>
                  <a:pt x="197525" y="88900"/>
                  <a:pt x="203200" y="94575"/>
                  <a:pt x="203200" y="101600"/>
                </a:cubicBezTo>
                <a:cubicBezTo>
                  <a:pt x="203200" y="108625"/>
                  <a:pt x="197525" y="114300"/>
                  <a:pt x="190500" y="114300"/>
                </a:cubicBezTo>
                <a:lnTo>
                  <a:pt x="101600" y="114300"/>
                </a:lnTo>
                <a:cubicBezTo>
                  <a:pt x="94575" y="114300"/>
                  <a:pt x="88900" y="108625"/>
                  <a:pt x="88900" y="101600"/>
                </a:cubicBezTo>
                <a:close/>
                <a:moveTo>
                  <a:pt x="63500" y="165100"/>
                </a:moveTo>
                <a:cubicBezTo>
                  <a:pt x="63500" y="158075"/>
                  <a:pt x="69175" y="152400"/>
                  <a:pt x="76200" y="152400"/>
                </a:cubicBezTo>
                <a:lnTo>
                  <a:pt x="190500" y="152400"/>
                </a:lnTo>
                <a:cubicBezTo>
                  <a:pt x="197525" y="152400"/>
                  <a:pt x="203200" y="158075"/>
                  <a:pt x="203200" y="165100"/>
                </a:cubicBezTo>
                <a:cubicBezTo>
                  <a:pt x="203200" y="172125"/>
                  <a:pt x="197525" y="177800"/>
                  <a:pt x="190500" y="177800"/>
                </a:cubicBezTo>
                <a:lnTo>
                  <a:pt x="76200" y="177800"/>
                </a:lnTo>
                <a:cubicBezTo>
                  <a:pt x="69175" y="177800"/>
                  <a:pt x="63500" y="172125"/>
                  <a:pt x="63500" y="165100"/>
                </a:cubicBezTo>
                <a:close/>
                <a:moveTo>
                  <a:pt x="25400" y="149225"/>
                </a:moveTo>
                <a:cubicBezTo>
                  <a:pt x="34162" y="149225"/>
                  <a:pt x="41275" y="156338"/>
                  <a:pt x="41275" y="165100"/>
                </a:cubicBezTo>
                <a:cubicBezTo>
                  <a:pt x="41275" y="173862"/>
                  <a:pt x="34162" y="180975"/>
                  <a:pt x="25400" y="180975"/>
                </a:cubicBezTo>
                <a:cubicBezTo>
                  <a:pt x="16638" y="180975"/>
                  <a:pt x="9525" y="173862"/>
                  <a:pt x="9525" y="165100"/>
                </a:cubicBezTo>
                <a:cubicBezTo>
                  <a:pt x="9525" y="156338"/>
                  <a:pt x="16638" y="149225"/>
                  <a:pt x="25400" y="149225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1F20F31F-55ED-4371-960F-B33CAB65354E}"/>
              </a:ext>
            </a:extLst>
          </p:cNvPr>
          <p:cNvSpPr>
            <a:spLocks noGrp="1"/>
          </p:cNvSpPr>
          <p:nvPr/>
        </p:nvSpPr>
        <p:spPr>
          <a:xfrm>
            <a:off x="6261894" y="3708242"/>
            <a:ext cx="31623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Notebooks</a:t>
            </a:r>
            <a:endParaRPr sz="16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F127576-5F91-41E3-A65E-787EBF30D75E}"/>
              </a:ext>
            </a:extLst>
          </p:cNvPr>
          <p:cNvSpPr>
            <a:spLocks noGrp="1"/>
          </p:cNvSpPr>
          <p:nvPr/>
        </p:nvSpPr>
        <p:spPr>
          <a:xfrm>
            <a:off x="6261894" y="3962242"/>
            <a:ext cx="31496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Project continuity</a:t>
            </a:r>
            <a:endParaRPr sz="160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95E62ADE-213B-496A-861F-94D3FA10592B}"/>
              </a:ext>
            </a:extLst>
          </p:cNvPr>
          <p:cNvSpPr>
            <a:spLocks noGrp="1"/>
          </p:cNvSpPr>
          <p:nvPr/>
        </p:nvSpPr>
        <p:spPr>
          <a:xfrm>
            <a:off x="10801668" y="3606642"/>
            <a:ext cx="30480" cy="660400"/>
          </a:xfrm>
          <a:custGeom>
            <a:avLst/>
            <a:gdLst/>
            <a:ahLst/>
            <a:cxnLst/>
            <a:rect l="l" t="t" r="r" b="b"/>
            <a:pathLst>
              <a:path w="30480" h="660400">
                <a:moveTo>
                  <a:pt x="0" y="0"/>
                </a:moveTo>
                <a:lnTo>
                  <a:pt x="30480" y="0"/>
                </a:lnTo>
                <a:lnTo>
                  <a:pt x="3048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32E94C92-CC7F-471C-BCE3-F7F569C917B1}"/>
              </a:ext>
            </a:extLst>
          </p:cNvPr>
          <p:cNvSpPr>
            <a:spLocks noGrp="1"/>
          </p:cNvSpPr>
          <p:nvPr/>
        </p:nvSpPr>
        <p:spPr>
          <a:xfrm>
            <a:off x="10994708" y="3860642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73315" y="29647"/>
                </a:moveTo>
                <a:lnTo>
                  <a:pt x="177800" y="33893"/>
                </a:lnTo>
                <a:lnTo>
                  <a:pt x="177800" y="12700"/>
                </a:lnTo>
                <a:cubicBezTo>
                  <a:pt x="177800" y="5675"/>
                  <a:pt x="183475" y="0"/>
                  <a:pt x="190500" y="0"/>
                </a:cubicBezTo>
                <a:cubicBezTo>
                  <a:pt x="197525" y="0"/>
                  <a:pt x="203200" y="5675"/>
                  <a:pt x="203200" y="12700"/>
                </a:cubicBezTo>
                <a:lnTo>
                  <a:pt x="203200" y="63500"/>
                </a:lnTo>
                <a:cubicBezTo>
                  <a:pt x="203200" y="70525"/>
                  <a:pt x="197525" y="76200"/>
                  <a:pt x="190500" y="76200"/>
                </a:cubicBezTo>
                <a:lnTo>
                  <a:pt x="139700" y="76200"/>
                </a:lnTo>
                <a:cubicBezTo>
                  <a:pt x="132675" y="76200"/>
                  <a:pt x="127000" y="70525"/>
                  <a:pt x="127000" y="63500"/>
                </a:cubicBezTo>
                <a:cubicBezTo>
                  <a:pt x="127000" y="56475"/>
                  <a:pt x="132675" y="50800"/>
                  <a:pt x="139700" y="50800"/>
                </a:cubicBezTo>
                <a:lnTo>
                  <a:pt x="158710" y="50800"/>
                </a:lnTo>
                <a:lnTo>
                  <a:pt x="155694" y="47943"/>
                </a:lnTo>
                <a:cubicBezTo>
                  <a:pt x="155615" y="47863"/>
                  <a:pt x="155535" y="47784"/>
                  <a:pt x="155456" y="47704"/>
                </a:cubicBezTo>
                <a:cubicBezTo>
                  <a:pt x="125690" y="17939"/>
                  <a:pt x="77470" y="17939"/>
                  <a:pt x="47704" y="47704"/>
                </a:cubicBezTo>
                <a:cubicBezTo>
                  <a:pt x="17939" y="77470"/>
                  <a:pt x="17939" y="125690"/>
                  <a:pt x="47704" y="155456"/>
                </a:cubicBezTo>
                <a:cubicBezTo>
                  <a:pt x="77470" y="185222"/>
                  <a:pt x="125690" y="185222"/>
                  <a:pt x="155456" y="155456"/>
                </a:cubicBezTo>
                <a:cubicBezTo>
                  <a:pt x="158710" y="152202"/>
                  <a:pt x="161607" y="148749"/>
                  <a:pt x="164147" y="145098"/>
                </a:cubicBezTo>
                <a:cubicBezTo>
                  <a:pt x="168156" y="139343"/>
                  <a:pt x="176093" y="137954"/>
                  <a:pt x="181848" y="141962"/>
                </a:cubicBezTo>
                <a:cubicBezTo>
                  <a:pt x="187603" y="145971"/>
                  <a:pt x="188992" y="153908"/>
                  <a:pt x="184983" y="159663"/>
                </a:cubicBezTo>
                <a:cubicBezTo>
                  <a:pt x="181610" y="164505"/>
                  <a:pt x="177760" y="169108"/>
                  <a:pt x="173434" y="173434"/>
                </a:cubicBezTo>
                <a:cubicBezTo>
                  <a:pt x="133747" y="213122"/>
                  <a:pt x="69413" y="213122"/>
                  <a:pt x="29766" y="173434"/>
                </a:cubicBezTo>
                <a:cubicBezTo>
                  <a:pt x="-9882" y="133747"/>
                  <a:pt x="-9922" y="69453"/>
                  <a:pt x="29766" y="29766"/>
                </a:cubicBezTo>
                <a:cubicBezTo>
                  <a:pt x="69413" y="-9882"/>
                  <a:pt x="133628" y="-9922"/>
                  <a:pt x="173315" y="29647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AD99F617-6B32-4214-9681-6C5A9AED937C}"/>
              </a:ext>
            </a:extLst>
          </p:cNvPr>
          <p:cNvSpPr>
            <a:spLocks noGrp="1"/>
          </p:cNvSpPr>
          <p:nvPr/>
        </p:nvSpPr>
        <p:spPr>
          <a:xfrm>
            <a:off x="11375708" y="3708242"/>
            <a:ext cx="29337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Light / Dark</a:t>
            </a:r>
            <a:endParaRPr sz="160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7D2CAEC7-232B-424D-B2F6-53B4288A3193}"/>
              </a:ext>
            </a:extLst>
          </p:cNvPr>
          <p:cNvSpPr>
            <a:spLocks noGrp="1"/>
          </p:cNvSpPr>
          <p:nvPr/>
        </p:nvSpPr>
        <p:spPr>
          <a:xfrm>
            <a:off x="11375708" y="3962242"/>
            <a:ext cx="2921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Consistent themes</a:t>
            </a:r>
            <a:endParaRPr sz="160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D4C77111-4766-44B3-AFAF-69054D3B6348}"/>
              </a:ext>
            </a:extLst>
          </p:cNvPr>
          <p:cNvSpPr>
            <a:spLocks noGrp="1"/>
          </p:cNvSpPr>
          <p:nvPr/>
        </p:nvSpPr>
        <p:spPr>
          <a:xfrm>
            <a:off x="5687854" y="4419284"/>
            <a:ext cx="30480" cy="660400"/>
          </a:xfrm>
          <a:custGeom>
            <a:avLst/>
            <a:gdLst/>
            <a:ahLst/>
            <a:cxnLst/>
            <a:rect l="l" t="t" r="r" b="b"/>
            <a:pathLst>
              <a:path w="30480" h="660400">
                <a:moveTo>
                  <a:pt x="0" y="0"/>
                </a:moveTo>
                <a:lnTo>
                  <a:pt x="30480" y="0"/>
                </a:lnTo>
                <a:lnTo>
                  <a:pt x="3048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14C60748-F265-4343-92F5-5BB19F51C39E}"/>
              </a:ext>
            </a:extLst>
          </p:cNvPr>
          <p:cNvSpPr>
            <a:spLocks noGrp="1"/>
          </p:cNvSpPr>
          <p:nvPr/>
        </p:nvSpPr>
        <p:spPr>
          <a:xfrm>
            <a:off x="5906294" y="4673284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6350" y="25400"/>
                </a:moveTo>
                <a:cubicBezTo>
                  <a:pt x="6350" y="11390"/>
                  <a:pt x="17740" y="0"/>
                  <a:pt x="31750" y="0"/>
                </a:cubicBezTo>
                <a:lnTo>
                  <a:pt x="120650" y="0"/>
                </a:lnTo>
                <a:cubicBezTo>
                  <a:pt x="134660" y="0"/>
                  <a:pt x="146050" y="11390"/>
                  <a:pt x="146050" y="25400"/>
                </a:cubicBezTo>
                <a:lnTo>
                  <a:pt x="146050" y="177800"/>
                </a:lnTo>
                <a:cubicBezTo>
                  <a:pt x="146050" y="191810"/>
                  <a:pt x="134660" y="203200"/>
                  <a:pt x="120650" y="203200"/>
                </a:cubicBezTo>
                <a:lnTo>
                  <a:pt x="31750" y="203200"/>
                </a:lnTo>
                <a:cubicBezTo>
                  <a:pt x="17740" y="203200"/>
                  <a:pt x="6350" y="191810"/>
                  <a:pt x="6350" y="177800"/>
                </a:cubicBezTo>
                <a:lnTo>
                  <a:pt x="6350" y="25400"/>
                </a:lnTo>
                <a:close/>
                <a:moveTo>
                  <a:pt x="31750" y="25400"/>
                </a:moveTo>
                <a:lnTo>
                  <a:pt x="31750" y="146050"/>
                </a:lnTo>
                <a:lnTo>
                  <a:pt x="120650" y="146050"/>
                </a:lnTo>
                <a:lnTo>
                  <a:pt x="120650" y="25400"/>
                </a:lnTo>
                <a:lnTo>
                  <a:pt x="31750" y="25400"/>
                </a:lnTo>
                <a:close/>
                <a:moveTo>
                  <a:pt x="76200" y="187325"/>
                </a:moveTo>
                <a:cubicBezTo>
                  <a:pt x="83225" y="187325"/>
                  <a:pt x="88900" y="181650"/>
                  <a:pt x="88900" y="174625"/>
                </a:cubicBezTo>
                <a:cubicBezTo>
                  <a:pt x="88900" y="167600"/>
                  <a:pt x="83225" y="161925"/>
                  <a:pt x="76200" y="161925"/>
                </a:cubicBezTo>
                <a:cubicBezTo>
                  <a:pt x="69175" y="161925"/>
                  <a:pt x="63500" y="167600"/>
                  <a:pt x="63500" y="174625"/>
                </a:cubicBezTo>
                <a:cubicBezTo>
                  <a:pt x="63500" y="181650"/>
                  <a:pt x="69175" y="187325"/>
                  <a:pt x="76200" y="187325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BBAF0492-4EA3-4CAE-A8DE-2012B8F3EE69}"/>
              </a:ext>
            </a:extLst>
          </p:cNvPr>
          <p:cNvSpPr>
            <a:spLocks noGrp="1"/>
          </p:cNvSpPr>
          <p:nvPr/>
        </p:nvSpPr>
        <p:spPr>
          <a:xfrm>
            <a:off x="6261894" y="4520884"/>
            <a:ext cx="1993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Responsive</a:t>
            </a:r>
            <a:endParaRPr sz="160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206DF09F-B954-40DF-9CB1-66B80D3D1A68}"/>
              </a:ext>
            </a:extLst>
          </p:cNvPr>
          <p:cNvSpPr>
            <a:spLocks noGrp="1"/>
          </p:cNvSpPr>
          <p:nvPr/>
        </p:nvSpPr>
        <p:spPr>
          <a:xfrm>
            <a:off x="6261894" y="4774884"/>
            <a:ext cx="19812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Panels collapse</a:t>
            </a:r>
            <a:endParaRPr sz="160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C28B1663-4B50-429E-8ED7-223FD860E9A1}"/>
              </a:ext>
            </a:extLst>
          </p:cNvPr>
          <p:cNvSpPr>
            <a:spLocks noGrp="1"/>
          </p:cNvSpPr>
          <p:nvPr/>
        </p:nvSpPr>
        <p:spPr>
          <a:xfrm>
            <a:off x="10801668" y="4419284"/>
            <a:ext cx="30480" cy="660400"/>
          </a:xfrm>
          <a:custGeom>
            <a:avLst/>
            <a:gdLst/>
            <a:ahLst/>
            <a:cxnLst/>
            <a:rect l="l" t="t" r="r" b="b"/>
            <a:pathLst>
              <a:path w="30480" h="660400">
                <a:moveTo>
                  <a:pt x="0" y="0"/>
                </a:moveTo>
                <a:lnTo>
                  <a:pt x="30480" y="0"/>
                </a:lnTo>
                <a:lnTo>
                  <a:pt x="3048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B332BC33-EF07-4FBC-9AB0-7E3B07F33C92}"/>
              </a:ext>
            </a:extLst>
          </p:cNvPr>
          <p:cNvSpPr>
            <a:spLocks noGrp="1"/>
          </p:cNvSpPr>
          <p:nvPr/>
        </p:nvSpPr>
        <p:spPr>
          <a:xfrm>
            <a:off x="10994708" y="4673284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77800" y="101600"/>
                </a:moveTo>
                <a:cubicBezTo>
                  <a:pt x="177800" y="59531"/>
                  <a:pt x="143669" y="25400"/>
                  <a:pt x="101600" y="25400"/>
                </a:cubicBezTo>
                <a:lnTo>
                  <a:pt x="101600" y="177800"/>
                </a:lnTo>
                <a:cubicBezTo>
                  <a:pt x="143669" y="177800"/>
                  <a:pt x="177800" y="143669"/>
                  <a:pt x="177800" y="101600"/>
                </a:cubicBezTo>
                <a:close/>
                <a:moveTo>
                  <a:pt x="0" y="101600"/>
                </a:moveTo>
                <a:cubicBezTo>
                  <a:pt x="0" y="45525"/>
                  <a:pt x="45525" y="0"/>
                  <a:pt x="101600" y="0"/>
                </a:cubicBezTo>
                <a:cubicBezTo>
                  <a:pt x="157675" y="0"/>
                  <a:pt x="203200" y="45525"/>
                  <a:pt x="203200" y="101600"/>
                </a:cubicBezTo>
                <a:cubicBezTo>
                  <a:pt x="203200" y="157675"/>
                  <a:pt x="157675" y="203200"/>
                  <a:pt x="101600" y="203200"/>
                </a:cubicBezTo>
                <a:cubicBezTo>
                  <a:pt x="45525" y="203200"/>
                  <a:pt x="0" y="157675"/>
                  <a:pt x="0" y="101600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F47BF5B2-824B-48EA-B1FE-3F045EAAED3D}"/>
              </a:ext>
            </a:extLst>
          </p:cNvPr>
          <p:cNvSpPr>
            <a:spLocks noGrp="1"/>
          </p:cNvSpPr>
          <p:nvPr/>
        </p:nvSpPr>
        <p:spPr>
          <a:xfrm>
            <a:off x="11375708" y="4520884"/>
            <a:ext cx="19431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Accessible</a:t>
            </a:r>
            <a:endParaRPr sz="160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3C115295-72AF-4E80-ACC8-15E4BB32A5AF}"/>
              </a:ext>
            </a:extLst>
          </p:cNvPr>
          <p:cNvSpPr>
            <a:spLocks noGrp="1"/>
          </p:cNvSpPr>
          <p:nvPr/>
        </p:nvSpPr>
        <p:spPr>
          <a:xfrm>
            <a:off x="11375708" y="4774884"/>
            <a:ext cx="19304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Keyboard + labels</a:t>
            </a:r>
            <a:endParaRPr sz="160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E3A20270-2D74-46F9-B0E8-067AEB84353D}"/>
              </a:ext>
            </a:extLst>
          </p:cNvPr>
          <p:cNvSpPr>
            <a:spLocks noGrp="1"/>
          </p:cNvSpPr>
          <p:nvPr/>
        </p:nvSpPr>
        <p:spPr>
          <a:xfrm>
            <a:off x="533400" y="5638326"/>
            <a:ext cx="15214600" cy="1828800"/>
          </a:xfrm>
          <a:custGeom>
            <a:avLst/>
            <a:gdLst/>
            <a:ahLst/>
            <a:cxnLst/>
            <a:rect l="l" t="t" r="r" b="b"/>
            <a:pathLst>
              <a:path w="15214600" h="1828800">
                <a:moveTo>
                  <a:pt x="0" y="0"/>
                </a:moveTo>
                <a:lnTo>
                  <a:pt x="15214600" y="0"/>
                </a:lnTo>
                <a:lnTo>
                  <a:pt x="152146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>
              <a:alpha val="5098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7F7E4A2F-CBA8-4941-80CB-9B0F57C2B748}"/>
              </a:ext>
            </a:extLst>
          </p:cNvPr>
          <p:cNvSpPr>
            <a:spLocks noGrp="1"/>
          </p:cNvSpPr>
          <p:nvPr/>
        </p:nvSpPr>
        <p:spPr>
          <a:xfrm>
            <a:off x="533400" y="5638326"/>
            <a:ext cx="50800" cy="1828800"/>
          </a:xfrm>
          <a:custGeom>
            <a:avLst/>
            <a:gdLst/>
            <a:ahLst/>
            <a:cxnLst/>
            <a:rect l="l" t="t" r="r" b="b"/>
            <a:pathLst>
              <a:path w="50800" h="1828800">
                <a:moveTo>
                  <a:pt x="0" y="0"/>
                </a:moveTo>
                <a:lnTo>
                  <a:pt x="50800" y="0"/>
                </a:lnTo>
                <a:lnTo>
                  <a:pt x="508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B9A1F42E-D62A-428B-90D0-245DF2BF029B}"/>
              </a:ext>
            </a:extLst>
          </p:cNvPr>
          <p:cNvSpPr>
            <a:spLocks noGrp="1"/>
          </p:cNvSpPr>
          <p:nvPr/>
        </p:nvSpPr>
        <p:spPr>
          <a:xfrm>
            <a:off x="815975" y="5905026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990A0D56-AE3F-48B3-9903-5BF3B63AFCFE}"/>
              </a:ext>
            </a:extLst>
          </p:cNvPr>
          <p:cNvSpPr>
            <a:spLocks noGrp="1"/>
          </p:cNvSpPr>
          <p:nvPr/>
        </p:nvSpPr>
        <p:spPr>
          <a:xfrm>
            <a:off x="1104900" y="5841526"/>
            <a:ext cx="147574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8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Product Identity</a:t>
            </a:r>
            <a:endParaRPr sz="160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0094A5BA-0940-41E0-AA6E-B2478BA32473}"/>
              </a:ext>
            </a:extLst>
          </p:cNvPr>
          <p:cNvSpPr>
            <a:spLocks noGrp="1"/>
          </p:cNvSpPr>
          <p:nvPr/>
        </p:nvSpPr>
        <p:spPr>
          <a:xfrm>
            <a:off x="812800" y="6349526"/>
            <a:ext cx="494030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CDE2300 learning-first</a:t>
            </a:r>
            <a:endParaRPr sz="160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7EBC05F8-FC95-4451-9A30-BA1CD6856094}"/>
              </a:ext>
            </a:extLst>
          </p:cNvPr>
          <p:cNvSpPr>
            <a:spLocks noGrp="1"/>
          </p:cNvSpPr>
          <p:nvPr/>
        </p:nvSpPr>
        <p:spPr>
          <a:xfrm>
            <a:off x="5858828" y="6349526"/>
            <a:ext cx="494030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AI quietly powers coaching</a:t>
            </a:r>
            <a:endParaRPr sz="160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7FC36B2A-5701-41A8-A04A-7AEA652C9D15}"/>
              </a:ext>
            </a:extLst>
          </p:cNvPr>
          <p:cNvSpPr>
            <a:spLocks noGrp="1"/>
          </p:cNvSpPr>
          <p:nvPr/>
        </p:nvSpPr>
        <p:spPr>
          <a:xfrm>
            <a:off x="10905014" y="6349526"/>
            <a:ext cx="494030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Shared components and stable state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00772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1F7E3CC-7C42-4EC3-B7F6-10DAD1095EEF}"/>
              </a:ext>
            </a:extLst>
          </p:cNvPr>
          <p:cNvSpPr>
            <a:spLocks noGrp="1"/>
          </p:cNvSpPr>
          <p:nvPr/>
        </p:nvSpPr>
        <p:spPr>
          <a:xfrm>
            <a:off x="502504" y="502504"/>
            <a:ext cx="50250" cy="502504"/>
          </a:xfrm>
          <a:custGeom>
            <a:avLst/>
            <a:gdLst/>
            <a:ahLst/>
            <a:cxnLst/>
            <a:rect l="l" t="t" r="r" b="b"/>
            <a:pathLst>
              <a:path w="50250" h="502504">
                <a:moveTo>
                  <a:pt x="0" y="0"/>
                </a:moveTo>
                <a:lnTo>
                  <a:pt x="50250" y="0"/>
                </a:lnTo>
                <a:lnTo>
                  <a:pt x="50250" y="502504"/>
                </a:lnTo>
                <a:lnTo>
                  <a:pt x="0" y="502504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2D26BB3-2D3B-40D3-B2D8-19A7C1B76FFB}"/>
              </a:ext>
            </a:extLst>
          </p:cNvPr>
          <p:cNvSpPr>
            <a:spLocks noGrp="1"/>
          </p:cNvSpPr>
          <p:nvPr/>
        </p:nvSpPr>
        <p:spPr>
          <a:xfrm>
            <a:off x="703505" y="628130"/>
            <a:ext cx="2675833" cy="2512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385" spc="69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TURN LIFECYCLE</a:t>
            </a:r>
            <a:endParaRPr sz="1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6547837-DA19-4C82-8D69-B68A024978D5}"/>
              </a:ext>
            </a:extLst>
          </p:cNvPr>
          <p:cNvSpPr>
            <a:spLocks noGrp="1"/>
          </p:cNvSpPr>
          <p:nvPr/>
        </p:nvSpPr>
        <p:spPr>
          <a:xfrm>
            <a:off x="502504" y="1105509"/>
            <a:ext cx="15477119" cy="502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90000"/>
              </a:lnSpc>
              <a:buNone/>
            </a:pPr>
            <a:r>
              <a:rPr sz="3561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One Student Contribution Becomes One Durable Coaching Turn</a:t>
            </a:r>
            <a:endParaRPr sz="16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0B5C5A6-F75C-48F2-9C0A-67A0FF89F15F}"/>
              </a:ext>
            </a:extLst>
          </p:cNvPr>
          <p:cNvSpPr>
            <a:spLocks noGrp="1"/>
          </p:cNvSpPr>
          <p:nvPr/>
        </p:nvSpPr>
        <p:spPr>
          <a:xfrm>
            <a:off x="502504" y="1708513"/>
            <a:ext cx="15351493" cy="3015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583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Retrieval, provider output, research coding and persistence have explicit boundaries.</a:t>
            </a:r>
            <a:endParaRPr sz="16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28BC6F8-B0FA-47E4-9F62-0625AD1D4C21}"/>
              </a:ext>
            </a:extLst>
          </p:cNvPr>
          <p:cNvSpPr>
            <a:spLocks noGrp="1"/>
          </p:cNvSpPr>
          <p:nvPr/>
        </p:nvSpPr>
        <p:spPr>
          <a:xfrm>
            <a:off x="533910" y="2324080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226127" y="42399"/>
                </a:moveTo>
                <a:cubicBezTo>
                  <a:pt x="226127" y="64570"/>
                  <a:pt x="200025" y="97650"/>
                  <a:pt x="188763" y="110855"/>
                </a:cubicBezTo>
                <a:cubicBezTo>
                  <a:pt x="187085" y="112798"/>
                  <a:pt x="184611" y="113549"/>
                  <a:pt x="182359" y="113063"/>
                </a:cubicBezTo>
                <a:lnTo>
                  <a:pt x="141329" y="113063"/>
                </a:lnTo>
                <a:cubicBezTo>
                  <a:pt x="133512" y="113063"/>
                  <a:pt x="127196" y="119379"/>
                  <a:pt x="127196" y="127196"/>
                </a:cubicBezTo>
                <a:cubicBezTo>
                  <a:pt x="127196" y="135014"/>
                  <a:pt x="133512" y="141329"/>
                  <a:pt x="141329" y="141329"/>
                </a:cubicBezTo>
                <a:lnTo>
                  <a:pt x="183728" y="141329"/>
                </a:lnTo>
                <a:cubicBezTo>
                  <a:pt x="207136" y="141329"/>
                  <a:pt x="226127" y="160320"/>
                  <a:pt x="226127" y="183728"/>
                </a:cubicBezTo>
                <a:cubicBezTo>
                  <a:pt x="226127" y="207136"/>
                  <a:pt x="207136" y="226127"/>
                  <a:pt x="183728" y="226127"/>
                </a:cubicBezTo>
                <a:lnTo>
                  <a:pt x="61655" y="226127"/>
                </a:lnTo>
                <a:cubicBezTo>
                  <a:pt x="65497" y="221754"/>
                  <a:pt x="70179" y="216145"/>
                  <a:pt x="74904" y="209874"/>
                </a:cubicBezTo>
                <a:cubicBezTo>
                  <a:pt x="77687" y="206164"/>
                  <a:pt x="80558" y="202101"/>
                  <a:pt x="83296" y="197861"/>
                </a:cubicBezTo>
                <a:lnTo>
                  <a:pt x="183728" y="197861"/>
                </a:lnTo>
                <a:cubicBezTo>
                  <a:pt x="191545" y="197861"/>
                  <a:pt x="197861" y="191545"/>
                  <a:pt x="197861" y="183728"/>
                </a:cubicBezTo>
                <a:cubicBezTo>
                  <a:pt x="197861" y="175911"/>
                  <a:pt x="191545" y="169595"/>
                  <a:pt x="183728" y="169595"/>
                </a:cubicBezTo>
                <a:lnTo>
                  <a:pt x="141329" y="169595"/>
                </a:lnTo>
                <a:cubicBezTo>
                  <a:pt x="117922" y="169595"/>
                  <a:pt x="98930" y="150604"/>
                  <a:pt x="98930" y="127196"/>
                </a:cubicBezTo>
                <a:cubicBezTo>
                  <a:pt x="98930" y="103789"/>
                  <a:pt x="117922" y="84798"/>
                  <a:pt x="141329" y="84798"/>
                </a:cubicBezTo>
                <a:lnTo>
                  <a:pt x="158907" y="84798"/>
                </a:lnTo>
                <a:cubicBezTo>
                  <a:pt x="149632" y="70885"/>
                  <a:pt x="141329" y="54898"/>
                  <a:pt x="141329" y="42399"/>
                </a:cubicBezTo>
                <a:cubicBezTo>
                  <a:pt x="141329" y="18991"/>
                  <a:pt x="160320" y="0"/>
                  <a:pt x="183728" y="0"/>
                </a:cubicBezTo>
                <a:cubicBezTo>
                  <a:pt x="207136" y="0"/>
                  <a:pt x="226127" y="18991"/>
                  <a:pt x="226127" y="42399"/>
                </a:cubicBezTo>
                <a:close/>
                <a:moveTo>
                  <a:pt x="51718" y="216013"/>
                </a:moveTo>
                <a:cubicBezTo>
                  <a:pt x="50039" y="217912"/>
                  <a:pt x="48538" y="219590"/>
                  <a:pt x="47257" y="221004"/>
                </a:cubicBezTo>
                <a:lnTo>
                  <a:pt x="46462" y="221887"/>
                </a:lnTo>
                <a:lnTo>
                  <a:pt x="46374" y="221799"/>
                </a:lnTo>
                <a:cubicBezTo>
                  <a:pt x="43724" y="223830"/>
                  <a:pt x="39926" y="223565"/>
                  <a:pt x="37541" y="221004"/>
                </a:cubicBezTo>
                <a:cubicBezTo>
                  <a:pt x="26411" y="208902"/>
                  <a:pt x="0" y="177766"/>
                  <a:pt x="0" y="155462"/>
                </a:cubicBezTo>
                <a:cubicBezTo>
                  <a:pt x="0" y="132054"/>
                  <a:pt x="18991" y="113063"/>
                  <a:pt x="42399" y="113063"/>
                </a:cubicBezTo>
                <a:cubicBezTo>
                  <a:pt x="65806" y="113063"/>
                  <a:pt x="84798" y="132054"/>
                  <a:pt x="84798" y="155462"/>
                </a:cubicBezTo>
                <a:cubicBezTo>
                  <a:pt x="84798" y="168712"/>
                  <a:pt x="75479" y="185053"/>
                  <a:pt x="65586" y="198700"/>
                </a:cubicBezTo>
                <a:cubicBezTo>
                  <a:pt x="60860" y="205192"/>
                  <a:pt x="56002" y="211066"/>
                  <a:pt x="51983" y="215704"/>
                </a:cubicBezTo>
                <a:lnTo>
                  <a:pt x="51718" y="216013"/>
                </a:lnTo>
                <a:close/>
                <a:moveTo>
                  <a:pt x="56532" y="155462"/>
                </a:moveTo>
                <a:cubicBezTo>
                  <a:pt x="56532" y="147662"/>
                  <a:pt x="50199" y="141329"/>
                  <a:pt x="42399" y="141329"/>
                </a:cubicBezTo>
                <a:cubicBezTo>
                  <a:pt x="34599" y="141329"/>
                  <a:pt x="28266" y="147662"/>
                  <a:pt x="28266" y="155462"/>
                </a:cubicBezTo>
                <a:cubicBezTo>
                  <a:pt x="28266" y="163262"/>
                  <a:pt x="34599" y="169595"/>
                  <a:pt x="42399" y="169595"/>
                </a:cubicBezTo>
                <a:cubicBezTo>
                  <a:pt x="50199" y="169595"/>
                  <a:pt x="56532" y="163262"/>
                  <a:pt x="56532" y="155462"/>
                </a:cubicBezTo>
                <a:close/>
                <a:moveTo>
                  <a:pt x="183728" y="56532"/>
                </a:moveTo>
                <a:cubicBezTo>
                  <a:pt x="191528" y="56532"/>
                  <a:pt x="197861" y="50199"/>
                  <a:pt x="197861" y="42399"/>
                </a:cubicBezTo>
                <a:cubicBezTo>
                  <a:pt x="197861" y="34599"/>
                  <a:pt x="191528" y="28266"/>
                  <a:pt x="183728" y="28266"/>
                </a:cubicBezTo>
                <a:cubicBezTo>
                  <a:pt x="175928" y="28266"/>
                  <a:pt x="169595" y="34599"/>
                  <a:pt x="169595" y="42399"/>
                </a:cubicBezTo>
                <a:cubicBezTo>
                  <a:pt x="169595" y="50199"/>
                  <a:pt x="175928" y="56532"/>
                  <a:pt x="183728" y="56532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27CD065-442D-4AE0-982E-D4FD09B11F36}"/>
              </a:ext>
            </a:extLst>
          </p:cNvPr>
          <p:cNvSpPr>
            <a:spLocks noGrp="1"/>
          </p:cNvSpPr>
          <p:nvPr/>
        </p:nvSpPr>
        <p:spPr>
          <a:xfrm>
            <a:off x="791444" y="2261267"/>
            <a:ext cx="15075116" cy="35175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781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Authoritative Flow</a:t>
            </a:r>
            <a:endParaRPr sz="1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EEA20B6-FB1B-4F8F-9794-38D4174C1BFB}"/>
              </a:ext>
            </a:extLst>
          </p:cNvPr>
          <p:cNvSpPr>
            <a:spLocks noGrp="1"/>
          </p:cNvSpPr>
          <p:nvPr/>
        </p:nvSpPr>
        <p:spPr>
          <a:xfrm>
            <a:off x="502504" y="2763771"/>
            <a:ext cx="1231134" cy="351753"/>
          </a:xfrm>
          <a:custGeom>
            <a:avLst/>
            <a:gdLst/>
            <a:ahLst/>
            <a:cxnLst/>
            <a:rect l="l" t="t" r="r" b="b"/>
            <a:pathLst>
              <a:path w="1231134" h="351753">
                <a:moveTo>
                  <a:pt x="0" y="0"/>
                </a:moveTo>
                <a:lnTo>
                  <a:pt x="1231134" y="0"/>
                </a:lnTo>
                <a:lnTo>
                  <a:pt x="1231134" y="351753"/>
                </a:lnTo>
                <a:lnTo>
                  <a:pt x="0" y="351753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BD16009-1DFB-47BD-9343-7EE2246D0A6E}"/>
              </a:ext>
            </a:extLst>
          </p:cNvPr>
          <p:cNvSpPr>
            <a:spLocks noGrp="1"/>
          </p:cNvSpPr>
          <p:nvPr/>
        </p:nvSpPr>
        <p:spPr>
          <a:xfrm>
            <a:off x="502504" y="2763771"/>
            <a:ext cx="1319073" cy="351753"/>
          </a:xfrm>
          <a:prstGeom prst="rect">
            <a:avLst/>
          </a:prstGeom>
          <a:noFill/>
        </p:spPr>
        <p:txBody>
          <a:bodyPr wrap="square" lIns="150751" tIns="50250" rIns="150751" bIns="50250" anchor="ctr"/>
          <a:lstStyle/>
          <a:p>
            <a:pPr>
              <a:lnSpc>
                <a:spcPct val="120000"/>
              </a:lnSpc>
              <a:buNone/>
            </a:pPr>
            <a:r>
              <a:rPr sz="1385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1. Input</a:t>
            </a:r>
            <a:endParaRPr sz="16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4F1A953-FFA5-46BB-9B96-F6F056A2A47F}"/>
              </a:ext>
            </a:extLst>
          </p:cNvPr>
          <p:cNvSpPr>
            <a:spLocks noGrp="1"/>
          </p:cNvSpPr>
          <p:nvPr/>
        </p:nvSpPr>
        <p:spPr>
          <a:xfrm>
            <a:off x="1860992" y="2851709"/>
            <a:ext cx="175876" cy="175876"/>
          </a:xfrm>
          <a:custGeom>
            <a:avLst/>
            <a:gdLst/>
            <a:ahLst/>
            <a:cxnLst/>
            <a:rect l="l" t="t" r="r" b="b"/>
            <a:pathLst>
              <a:path w="175876" h="175876">
                <a:moveTo>
                  <a:pt x="172647" y="95701"/>
                </a:moveTo>
                <a:cubicBezTo>
                  <a:pt x="176941" y="91408"/>
                  <a:pt x="176941" y="84434"/>
                  <a:pt x="172647" y="80141"/>
                </a:cubicBezTo>
                <a:lnTo>
                  <a:pt x="117686" y="25179"/>
                </a:lnTo>
                <a:cubicBezTo>
                  <a:pt x="113392" y="20885"/>
                  <a:pt x="106419" y="20885"/>
                  <a:pt x="102125" y="25179"/>
                </a:cubicBezTo>
                <a:cubicBezTo>
                  <a:pt x="97831" y="29473"/>
                  <a:pt x="97831" y="36446"/>
                  <a:pt x="102125" y="40740"/>
                </a:cubicBezTo>
                <a:lnTo>
                  <a:pt x="138331" y="76946"/>
                </a:lnTo>
                <a:lnTo>
                  <a:pt x="10992" y="76946"/>
                </a:lnTo>
                <a:cubicBezTo>
                  <a:pt x="4912" y="76946"/>
                  <a:pt x="0" y="81858"/>
                  <a:pt x="0" y="87938"/>
                </a:cubicBezTo>
                <a:cubicBezTo>
                  <a:pt x="0" y="94018"/>
                  <a:pt x="4912" y="98930"/>
                  <a:pt x="10992" y="98930"/>
                </a:cubicBezTo>
                <a:lnTo>
                  <a:pt x="138331" y="98930"/>
                </a:lnTo>
                <a:lnTo>
                  <a:pt x="102125" y="135136"/>
                </a:lnTo>
                <a:cubicBezTo>
                  <a:pt x="97831" y="139430"/>
                  <a:pt x="97831" y="146403"/>
                  <a:pt x="102125" y="150697"/>
                </a:cubicBezTo>
                <a:cubicBezTo>
                  <a:pt x="106419" y="154991"/>
                  <a:pt x="113392" y="154991"/>
                  <a:pt x="117686" y="150697"/>
                </a:cubicBezTo>
                <a:lnTo>
                  <a:pt x="172647" y="95736"/>
                </a:ln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D991735-E44C-4DE0-A037-2F98E1EA45D8}"/>
              </a:ext>
            </a:extLst>
          </p:cNvPr>
          <p:cNvSpPr>
            <a:spLocks noGrp="1"/>
          </p:cNvSpPr>
          <p:nvPr/>
        </p:nvSpPr>
        <p:spPr>
          <a:xfrm>
            <a:off x="2156213" y="2763771"/>
            <a:ext cx="1080383" cy="351753"/>
          </a:xfrm>
          <a:custGeom>
            <a:avLst/>
            <a:gdLst/>
            <a:ahLst/>
            <a:cxnLst/>
            <a:rect l="l" t="t" r="r" b="b"/>
            <a:pathLst>
              <a:path w="1080383" h="351753">
                <a:moveTo>
                  <a:pt x="0" y="0"/>
                </a:moveTo>
                <a:lnTo>
                  <a:pt x="1080383" y="0"/>
                </a:lnTo>
                <a:lnTo>
                  <a:pt x="1080383" y="351753"/>
                </a:lnTo>
                <a:lnTo>
                  <a:pt x="0" y="351753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9950C33-1E46-4D01-B525-371EA5DB89F4}"/>
              </a:ext>
            </a:extLst>
          </p:cNvPr>
          <p:cNvSpPr>
            <a:spLocks noGrp="1"/>
          </p:cNvSpPr>
          <p:nvPr/>
        </p:nvSpPr>
        <p:spPr>
          <a:xfrm>
            <a:off x="2156213" y="2763771"/>
            <a:ext cx="1168321" cy="351753"/>
          </a:xfrm>
          <a:prstGeom prst="rect">
            <a:avLst/>
          </a:prstGeom>
          <a:noFill/>
        </p:spPr>
        <p:txBody>
          <a:bodyPr wrap="square" lIns="150751" tIns="50250" rIns="150751" bIns="50250" anchor="ctr"/>
          <a:lstStyle/>
          <a:p>
            <a:pPr>
              <a:lnSpc>
                <a:spcPct val="120000"/>
              </a:lnSpc>
              <a:buNone/>
            </a:pPr>
            <a:r>
              <a:rPr sz="1385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2. Owner</a:t>
            </a:r>
            <a:endParaRPr sz="16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04C7688-62F4-498A-BC9B-7886FB2145F6}"/>
              </a:ext>
            </a:extLst>
          </p:cNvPr>
          <p:cNvSpPr>
            <a:spLocks noGrp="1"/>
          </p:cNvSpPr>
          <p:nvPr/>
        </p:nvSpPr>
        <p:spPr>
          <a:xfrm>
            <a:off x="3361908" y="2851709"/>
            <a:ext cx="175876" cy="175876"/>
          </a:xfrm>
          <a:custGeom>
            <a:avLst/>
            <a:gdLst/>
            <a:ahLst/>
            <a:cxnLst/>
            <a:rect l="l" t="t" r="r" b="b"/>
            <a:pathLst>
              <a:path w="175876" h="175876">
                <a:moveTo>
                  <a:pt x="172647" y="95701"/>
                </a:moveTo>
                <a:cubicBezTo>
                  <a:pt x="176941" y="91408"/>
                  <a:pt x="176941" y="84434"/>
                  <a:pt x="172647" y="80141"/>
                </a:cubicBezTo>
                <a:lnTo>
                  <a:pt x="117686" y="25179"/>
                </a:lnTo>
                <a:cubicBezTo>
                  <a:pt x="113392" y="20885"/>
                  <a:pt x="106419" y="20885"/>
                  <a:pt x="102125" y="25179"/>
                </a:cubicBezTo>
                <a:cubicBezTo>
                  <a:pt x="97831" y="29473"/>
                  <a:pt x="97831" y="36446"/>
                  <a:pt x="102125" y="40740"/>
                </a:cubicBezTo>
                <a:lnTo>
                  <a:pt x="138331" y="76946"/>
                </a:lnTo>
                <a:lnTo>
                  <a:pt x="10992" y="76946"/>
                </a:lnTo>
                <a:cubicBezTo>
                  <a:pt x="4912" y="76946"/>
                  <a:pt x="0" y="81858"/>
                  <a:pt x="0" y="87938"/>
                </a:cubicBezTo>
                <a:cubicBezTo>
                  <a:pt x="0" y="94018"/>
                  <a:pt x="4912" y="98930"/>
                  <a:pt x="10992" y="98930"/>
                </a:cubicBezTo>
                <a:lnTo>
                  <a:pt x="138331" y="98930"/>
                </a:lnTo>
                <a:lnTo>
                  <a:pt x="102125" y="135136"/>
                </a:lnTo>
                <a:cubicBezTo>
                  <a:pt x="97831" y="139430"/>
                  <a:pt x="97831" y="146403"/>
                  <a:pt x="102125" y="150697"/>
                </a:cubicBezTo>
                <a:cubicBezTo>
                  <a:pt x="106419" y="154991"/>
                  <a:pt x="113392" y="154991"/>
                  <a:pt x="117686" y="150697"/>
                </a:cubicBezTo>
                <a:lnTo>
                  <a:pt x="172647" y="95736"/>
                </a:ln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75AC985-AC7F-48C5-93FD-E5CFA7C1BD57}"/>
              </a:ext>
            </a:extLst>
          </p:cNvPr>
          <p:cNvSpPr>
            <a:spLocks noGrp="1"/>
          </p:cNvSpPr>
          <p:nvPr/>
        </p:nvSpPr>
        <p:spPr>
          <a:xfrm>
            <a:off x="3657129" y="2763771"/>
            <a:ext cx="1268822" cy="351753"/>
          </a:xfrm>
          <a:custGeom>
            <a:avLst/>
            <a:gdLst/>
            <a:ahLst/>
            <a:cxnLst/>
            <a:rect l="l" t="t" r="r" b="b"/>
            <a:pathLst>
              <a:path w="1268822" h="351753">
                <a:moveTo>
                  <a:pt x="0" y="0"/>
                </a:moveTo>
                <a:lnTo>
                  <a:pt x="1268822" y="0"/>
                </a:lnTo>
                <a:lnTo>
                  <a:pt x="1268822" y="351753"/>
                </a:lnTo>
                <a:lnTo>
                  <a:pt x="0" y="351753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7728882-32C7-4936-BCB3-C55F5B2EA162}"/>
              </a:ext>
            </a:extLst>
          </p:cNvPr>
          <p:cNvSpPr>
            <a:spLocks noGrp="1"/>
          </p:cNvSpPr>
          <p:nvPr/>
        </p:nvSpPr>
        <p:spPr>
          <a:xfrm>
            <a:off x="3657129" y="2763771"/>
            <a:ext cx="1356760" cy="351753"/>
          </a:xfrm>
          <a:prstGeom prst="rect">
            <a:avLst/>
          </a:prstGeom>
          <a:noFill/>
        </p:spPr>
        <p:txBody>
          <a:bodyPr wrap="square" lIns="150751" tIns="50250" rIns="150751" bIns="50250" anchor="ctr"/>
          <a:lstStyle/>
          <a:p>
            <a:pPr>
              <a:lnSpc>
                <a:spcPct val="120000"/>
              </a:lnSpc>
              <a:buNone/>
            </a:pPr>
            <a:r>
              <a:rPr sz="1385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3. State</a:t>
            </a:r>
            <a:endParaRPr sz="16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3527D0C-BD6B-495E-9AEE-8927068D6AB2}"/>
              </a:ext>
            </a:extLst>
          </p:cNvPr>
          <p:cNvSpPr>
            <a:spLocks noGrp="1"/>
          </p:cNvSpPr>
          <p:nvPr/>
        </p:nvSpPr>
        <p:spPr>
          <a:xfrm>
            <a:off x="5053618" y="2851709"/>
            <a:ext cx="175876" cy="175876"/>
          </a:xfrm>
          <a:custGeom>
            <a:avLst/>
            <a:gdLst/>
            <a:ahLst/>
            <a:cxnLst/>
            <a:rect l="l" t="t" r="r" b="b"/>
            <a:pathLst>
              <a:path w="175876" h="175876">
                <a:moveTo>
                  <a:pt x="172647" y="95701"/>
                </a:moveTo>
                <a:cubicBezTo>
                  <a:pt x="176941" y="91408"/>
                  <a:pt x="176941" y="84434"/>
                  <a:pt x="172647" y="80141"/>
                </a:cubicBezTo>
                <a:lnTo>
                  <a:pt x="117686" y="25179"/>
                </a:lnTo>
                <a:cubicBezTo>
                  <a:pt x="113392" y="20885"/>
                  <a:pt x="106419" y="20885"/>
                  <a:pt x="102125" y="25179"/>
                </a:cubicBezTo>
                <a:cubicBezTo>
                  <a:pt x="97831" y="29473"/>
                  <a:pt x="97831" y="36446"/>
                  <a:pt x="102125" y="40740"/>
                </a:cubicBezTo>
                <a:lnTo>
                  <a:pt x="138331" y="76946"/>
                </a:lnTo>
                <a:lnTo>
                  <a:pt x="10992" y="76946"/>
                </a:lnTo>
                <a:cubicBezTo>
                  <a:pt x="4912" y="76946"/>
                  <a:pt x="0" y="81858"/>
                  <a:pt x="0" y="87938"/>
                </a:cubicBezTo>
                <a:cubicBezTo>
                  <a:pt x="0" y="94018"/>
                  <a:pt x="4912" y="98930"/>
                  <a:pt x="10992" y="98930"/>
                </a:cubicBezTo>
                <a:lnTo>
                  <a:pt x="138331" y="98930"/>
                </a:lnTo>
                <a:lnTo>
                  <a:pt x="102125" y="135136"/>
                </a:lnTo>
                <a:cubicBezTo>
                  <a:pt x="97831" y="139430"/>
                  <a:pt x="97831" y="146403"/>
                  <a:pt x="102125" y="150697"/>
                </a:cubicBezTo>
                <a:cubicBezTo>
                  <a:pt x="106419" y="154991"/>
                  <a:pt x="113392" y="154991"/>
                  <a:pt x="117686" y="150697"/>
                </a:cubicBezTo>
                <a:lnTo>
                  <a:pt x="172647" y="95736"/>
                </a:ln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9F633B9-49E9-4050-9ED6-9BEF81CF9642}"/>
              </a:ext>
            </a:extLst>
          </p:cNvPr>
          <p:cNvSpPr>
            <a:spLocks noGrp="1"/>
          </p:cNvSpPr>
          <p:nvPr/>
        </p:nvSpPr>
        <p:spPr>
          <a:xfrm>
            <a:off x="5348839" y="2763771"/>
            <a:ext cx="1407011" cy="351753"/>
          </a:xfrm>
          <a:custGeom>
            <a:avLst/>
            <a:gdLst/>
            <a:ahLst/>
            <a:cxnLst/>
            <a:rect l="l" t="t" r="r" b="b"/>
            <a:pathLst>
              <a:path w="1407011" h="351753">
                <a:moveTo>
                  <a:pt x="0" y="0"/>
                </a:moveTo>
                <a:lnTo>
                  <a:pt x="1407011" y="0"/>
                </a:lnTo>
                <a:lnTo>
                  <a:pt x="1407011" y="351753"/>
                </a:lnTo>
                <a:lnTo>
                  <a:pt x="0" y="351753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C0D70EE-236A-4AEB-AACF-4750017ADED9}"/>
              </a:ext>
            </a:extLst>
          </p:cNvPr>
          <p:cNvSpPr>
            <a:spLocks noGrp="1"/>
          </p:cNvSpPr>
          <p:nvPr/>
        </p:nvSpPr>
        <p:spPr>
          <a:xfrm>
            <a:off x="5348839" y="2763771"/>
            <a:ext cx="1494949" cy="351753"/>
          </a:xfrm>
          <a:prstGeom prst="rect">
            <a:avLst/>
          </a:prstGeom>
          <a:noFill/>
        </p:spPr>
        <p:txBody>
          <a:bodyPr wrap="square" lIns="150751" tIns="50250" rIns="150751" bIns="50250" anchor="ctr"/>
          <a:lstStyle/>
          <a:p>
            <a:pPr>
              <a:lnSpc>
                <a:spcPct val="120000"/>
              </a:lnSpc>
              <a:buNone/>
            </a:pPr>
            <a:r>
              <a:rPr sz="1385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4. Retrieve</a:t>
            </a:r>
            <a:endParaRPr sz="16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08C9C0B-4A87-44D1-A4AF-26CA6547696F}"/>
              </a:ext>
            </a:extLst>
          </p:cNvPr>
          <p:cNvSpPr>
            <a:spLocks noGrp="1"/>
          </p:cNvSpPr>
          <p:nvPr/>
        </p:nvSpPr>
        <p:spPr>
          <a:xfrm>
            <a:off x="6881947" y="2851709"/>
            <a:ext cx="175876" cy="175876"/>
          </a:xfrm>
          <a:custGeom>
            <a:avLst/>
            <a:gdLst/>
            <a:ahLst/>
            <a:cxnLst/>
            <a:rect l="l" t="t" r="r" b="b"/>
            <a:pathLst>
              <a:path w="175876" h="175876">
                <a:moveTo>
                  <a:pt x="172647" y="95701"/>
                </a:moveTo>
                <a:cubicBezTo>
                  <a:pt x="176941" y="91408"/>
                  <a:pt x="176941" y="84434"/>
                  <a:pt x="172647" y="80141"/>
                </a:cubicBezTo>
                <a:lnTo>
                  <a:pt x="117686" y="25179"/>
                </a:lnTo>
                <a:cubicBezTo>
                  <a:pt x="113392" y="20885"/>
                  <a:pt x="106419" y="20885"/>
                  <a:pt x="102125" y="25179"/>
                </a:cubicBezTo>
                <a:cubicBezTo>
                  <a:pt x="97831" y="29473"/>
                  <a:pt x="97831" y="36446"/>
                  <a:pt x="102125" y="40740"/>
                </a:cubicBezTo>
                <a:lnTo>
                  <a:pt x="138331" y="76946"/>
                </a:lnTo>
                <a:lnTo>
                  <a:pt x="10992" y="76946"/>
                </a:lnTo>
                <a:cubicBezTo>
                  <a:pt x="4912" y="76946"/>
                  <a:pt x="0" y="81858"/>
                  <a:pt x="0" y="87938"/>
                </a:cubicBezTo>
                <a:cubicBezTo>
                  <a:pt x="0" y="94018"/>
                  <a:pt x="4912" y="98930"/>
                  <a:pt x="10992" y="98930"/>
                </a:cubicBezTo>
                <a:lnTo>
                  <a:pt x="138331" y="98930"/>
                </a:lnTo>
                <a:lnTo>
                  <a:pt x="102125" y="135136"/>
                </a:lnTo>
                <a:cubicBezTo>
                  <a:pt x="97831" y="139430"/>
                  <a:pt x="97831" y="146403"/>
                  <a:pt x="102125" y="150697"/>
                </a:cubicBezTo>
                <a:cubicBezTo>
                  <a:pt x="106419" y="154991"/>
                  <a:pt x="113392" y="154991"/>
                  <a:pt x="117686" y="150697"/>
                </a:cubicBezTo>
                <a:lnTo>
                  <a:pt x="172647" y="95736"/>
                </a:ln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212005C-F7B6-4D4D-9C25-8C4821207A5B}"/>
              </a:ext>
            </a:extLst>
          </p:cNvPr>
          <p:cNvSpPr>
            <a:spLocks noGrp="1"/>
          </p:cNvSpPr>
          <p:nvPr/>
        </p:nvSpPr>
        <p:spPr>
          <a:xfrm>
            <a:off x="7177168" y="2763771"/>
            <a:ext cx="1067821" cy="351753"/>
          </a:xfrm>
          <a:custGeom>
            <a:avLst/>
            <a:gdLst/>
            <a:ahLst/>
            <a:cxnLst/>
            <a:rect l="l" t="t" r="r" b="b"/>
            <a:pathLst>
              <a:path w="1067821" h="351753">
                <a:moveTo>
                  <a:pt x="0" y="0"/>
                </a:moveTo>
                <a:lnTo>
                  <a:pt x="1067821" y="0"/>
                </a:lnTo>
                <a:lnTo>
                  <a:pt x="1067821" y="351753"/>
                </a:lnTo>
                <a:lnTo>
                  <a:pt x="0" y="351753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E8D151C-7E7D-4730-BCC7-2DD546BDCE02}"/>
              </a:ext>
            </a:extLst>
          </p:cNvPr>
          <p:cNvSpPr>
            <a:spLocks noGrp="1"/>
          </p:cNvSpPr>
          <p:nvPr/>
        </p:nvSpPr>
        <p:spPr>
          <a:xfrm>
            <a:off x="7177168" y="2763771"/>
            <a:ext cx="1155759" cy="351753"/>
          </a:xfrm>
          <a:prstGeom prst="rect">
            <a:avLst/>
          </a:prstGeom>
          <a:noFill/>
        </p:spPr>
        <p:txBody>
          <a:bodyPr wrap="square" lIns="150751" tIns="50250" rIns="150751" bIns="50250" anchor="ctr"/>
          <a:lstStyle/>
          <a:p>
            <a:pPr>
              <a:lnSpc>
                <a:spcPct val="120000"/>
              </a:lnSpc>
              <a:buNone/>
            </a:pPr>
            <a:r>
              <a:rPr sz="1385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5. Prompt</a:t>
            </a:r>
            <a:endParaRPr sz="16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2FDD6E3-BDE7-4674-895C-3141CB78C758}"/>
              </a:ext>
            </a:extLst>
          </p:cNvPr>
          <p:cNvSpPr>
            <a:spLocks noGrp="1"/>
          </p:cNvSpPr>
          <p:nvPr/>
        </p:nvSpPr>
        <p:spPr>
          <a:xfrm>
            <a:off x="8365276" y="2851709"/>
            <a:ext cx="175876" cy="175876"/>
          </a:xfrm>
          <a:custGeom>
            <a:avLst/>
            <a:gdLst/>
            <a:ahLst/>
            <a:cxnLst/>
            <a:rect l="l" t="t" r="r" b="b"/>
            <a:pathLst>
              <a:path w="175876" h="175876">
                <a:moveTo>
                  <a:pt x="172647" y="95701"/>
                </a:moveTo>
                <a:cubicBezTo>
                  <a:pt x="176941" y="91408"/>
                  <a:pt x="176941" y="84434"/>
                  <a:pt x="172647" y="80141"/>
                </a:cubicBezTo>
                <a:lnTo>
                  <a:pt x="117686" y="25179"/>
                </a:lnTo>
                <a:cubicBezTo>
                  <a:pt x="113392" y="20885"/>
                  <a:pt x="106419" y="20885"/>
                  <a:pt x="102125" y="25179"/>
                </a:cubicBezTo>
                <a:cubicBezTo>
                  <a:pt x="97831" y="29473"/>
                  <a:pt x="97831" y="36446"/>
                  <a:pt x="102125" y="40740"/>
                </a:cubicBezTo>
                <a:lnTo>
                  <a:pt x="138331" y="76946"/>
                </a:lnTo>
                <a:lnTo>
                  <a:pt x="10992" y="76946"/>
                </a:lnTo>
                <a:cubicBezTo>
                  <a:pt x="4912" y="76946"/>
                  <a:pt x="0" y="81858"/>
                  <a:pt x="0" y="87938"/>
                </a:cubicBezTo>
                <a:cubicBezTo>
                  <a:pt x="0" y="94018"/>
                  <a:pt x="4912" y="98930"/>
                  <a:pt x="10992" y="98930"/>
                </a:cubicBezTo>
                <a:lnTo>
                  <a:pt x="138331" y="98930"/>
                </a:lnTo>
                <a:lnTo>
                  <a:pt x="102125" y="135136"/>
                </a:lnTo>
                <a:cubicBezTo>
                  <a:pt x="97831" y="139430"/>
                  <a:pt x="97831" y="146403"/>
                  <a:pt x="102125" y="150697"/>
                </a:cubicBezTo>
                <a:cubicBezTo>
                  <a:pt x="106419" y="154991"/>
                  <a:pt x="113392" y="154991"/>
                  <a:pt x="117686" y="150697"/>
                </a:cubicBezTo>
                <a:lnTo>
                  <a:pt x="172647" y="95736"/>
                </a:ln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2266056-CB39-4217-953E-F25D3F151A03}"/>
              </a:ext>
            </a:extLst>
          </p:cNvPr>
          <p:cNvSpPr>
            <a:spLocks noGrp="1"/>
          </p:cNvSpPr>
          <p:nvPr/>
        </p:nvSpPr>
        <p:spPr>
          <a:xfrm>
            <a:off x="8660497" y="2763771"/>
            <a:ext cx="1469824" cy="351753"/>
          </a:xfrm>
          <a:custGeom>
            <a:avLst/>
            <a:gdLst/>
            <a:ahLst/>
            <a:cxnLst/>
            <a:rect l="l" t="t" r="r" b="b"/>
            <a:pathLst>
              <a:path w="1469824" h="351753">
                <a:moveTo>
                  <a:pt x="0" y="0"/>
                </a:moveTo>
                <a:lnTo>
                  <a:pt x="1469824" y="0"/>
                </a:lnTo>
                <a:lnTo>
                  <a:pt x="1469824" y="351753"/>
                </a:lnTo>
                <a:lnTo>
                  <a:pt x="0" y="351753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3AD9B37-1CE7-4BAC-9F4F-4F04D15B23E7}"/>
              </a:ext>
            </a:extLst>
          </p:cNvPr>
          <p:cNvSpPr>
            <a:spLocks noGrp="1"/>
          </p:cNvSpPr>
          <p:nvPr/>
        </p:nvSpPr>
        <p:spPr>
          <a:xfrm>
            <a:off x="8660497" y="2763771"/>
            <a:ext cx="1557762" cy="351753"/>
          </a:xfrm>
          <a:prstGeom prst="rect">
            <a:avLst/>
          </a:prstGeom>
          <a:noFill/>
        </p:spPr>
        <p:txBody>
          <a:bodyPr wrap="square" lIns="150751" tIns="50250" rIns="150751" bIns="50250" anchor="ctr"/>
          <a:lstStyle/>
          <a:p>
            <a:pPr>
              <a:lnSpc>
                <a:spcPct val="120000"/>
              </a:lnSpc>
              <a:buNone/>
            </a:pPr>
            <a:r>
              <a:rPr sz="1385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6. Provider</a:t>
            </a:r>
            <a:endParaRPr sz="160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67B2AB4-2F19-4B14-A36A-94EA233272C3}"/>
              </a:ext>
            </a:extLst>
          </p:cNvPr>
          <p:cNvSpPr>
            <a:spLocks noGrp="1"/>
          </p:cNvSpPr>
          <p:nvPr/>
        </p:nvSpPr>
        <p:spPr>
          <a:xfrm>
            <a:off x="10250451" y="2851709"/>
            <a:ext cx="175876" cy="175876"/>
          </a:xfrm>
          <a:custGeom>
            <a:avLst/>
            <a:gdLst/>
            <a:ahLst/>
            <a:cxnLst/>
            <a:rect l="l" t="t" r="r" b="b"/>
            <a:pathLst>
              <a:path w="175876" h="175876">
                <a:moveTo>
                  <a:pt x="172647" y="95701"/>
                </a:moveTo>
                <a:cubicBezTo>
                  <a:pt x="176941" y="91408"/>
                  <a:pt x="176941" y="84434"/>
                  <a:pt x="172647" y="80141"/>
                </a:cubicBezTo>
                <a:lnTo>
                  <a:pt x="117686" y="25179"/>
                </a:lnTo>
                <a:cubicBezTo>
                  <a:pt x="113392" y="20885"/>
                  <a:pt x="106419" y="20885"/>
                  <a:pt x="102125" y="25179"/>
                </a:cubicBezTo>
                <a:cubicBezTo>
                  <a:pt x="97831" y="29473"/>
                  <a:pt x="97831" y="36446"/>
                  <a:pt x="102125" y="40740"/>
                </a:cubicBezTo>
                <a:lnTo>
                  <a:pt x="138331" y="76946"/>
                </a:lnTo>
                <a:lnTo>
                  <a:pt x="10992" y="76946"/>
                </a:lnTo>
                <a:cubicBezTo>
                  <a:pt x="4912" y="76946"/>
                  <a:pt x="0" y="81858"/>
                  <a:pt x="0" y="87938"/>
                </a:cubicBezTo>
                <a:cubicBezTo>
                  <a:pt x="0" y="94018"/>
                  <a:pt x="4912" y="98930"/>
                  <a:pt x="10992" y="98930"/>
                </a:cubicBezTo>
                <a:lnTo>
                  <a:pt x="138331" y="98930"/>
                </a:lnTo>
                <a:lnTo>
                  <a:pt x="102125" y="135136"/>
                </a:lnTo>
                <a:cubicBezTo>
                  <a:pt x="97831" y="139430"/>
                  <a:pt x="97831" y="146403"/>
                  <a:pt x="102125" y="150697"/>
                </a:cubicBezTo>
                <a:cubicBezTo>
                  <a:pt x="106419" y="154991"/>
                  <a:pt x="113392" y="154991"/>
                  <a:pt x="117686" y="150697"/>
                </a:cubicBezTo>
                <a:lnTo>
                  <a:pt x="172647" y="95736"/>
                </a:ln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4519FA8-9059-456C-8FC5-1DDEC26A8328}"/>
              </a:ext>
            </a:extLst>
          </p:cNvPr>
          <p:cNvSpPr>
            <a:spLocks noGrp="1"/>
          </p:cNvSpPr>
          <p:nvPr/>
        </p:nvSpPr>
        <p:spPr>
          <a:xfrm>
            <a:off x="10545672" y="2763771"/>
            <a:ext cx="1017570" cy="351753"/>
          </a:xfrm>
          <a:custGeom>
            <a:avLst/>
            <a:gdLst/>
            <a:ahLst/>
            <a:cxnLst/>
            <a:rect l="l" t="t" r="r" b="b"/>
            <a:pathLst>
              <a:path w="1017570" h="351753">
                <a:moveTo>
                  <a:pt x="0" y="0"/>
                </a:moveTo>
                <a:lnTo>
                  <a:pt x="1017570" y="0"/>
                </a:lnTo>
                <a:lnTo>
                  <a:pt x="1017570" y="351753"/>
                </a:lnTo>
                <a:lnTo>
                  <a:pt x="0" y="351753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E20A4C0-18F6-4456-8024-BBE53233354D}"/>
              </a:ext>
            </a:extLst>
          </p:cNvPr>
          <p:cNvSpPr>
            <a:spLocks noGrp="1"/>
          </p:cNvSpPr>
          <p:nvPr/>
        </p:nvSpPr>
        <p:spPr>
          <a:xfrm>
            <a:off x="10545672" y="2763771"/>
            <a:ext cx="1105509" cy="351753"/>
          </a:xfrm>
          <a:prstGeom prst="rect">
            <a:avLst/>
          </a:prstGeom>
          <a:noFill/>
        </p:spPr>
        <p:txBody>
          <a:bodyPr wrap="square" lIns="150751" tIns="50250" rIns="150751" bIns="50250" anchor="ctr"/>
          <a:lstStyle/>
          <a:p>
            <a:pPr>
              <a:lnSpc>
                <a:spcPct val="120000"/>
              </a:lnSpc>
              <a:buNone/>
            </a:pPr>
            <a:r>
              <a:rPr sz="1385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7. Check</a:t>
            </a:r>
            <a:endParaRPr sz="160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8A334E90-E720-4E6F-83C5-2B0CE8EC1DE7}"/>
              </a:ext>
            </a:extLst>
          </p:cNvPr>
          <p:cNvSpPr>
            <a:spLocks noGrp="1"/>
          </p:cNvSpPr>
          <p:nvPr/>
        </p:nvSpPr>
        <p:spPr>
          <a:xfrm>
            <a:off x="11682587" y="2851709"/>
            <a:ext cx="175876" cy="175876"/>
          </a:xfrm>
          <a:custGeom>
            <a:avLst/>
            <a:gdLst/>
            <a:ahLst/>
            <a:cxnLst/>
            <a:rect l="l" t="t" r="r" b="b"/>
            <a:pathLst>
              <a:path w="175876" h="175876">
                <a:moveTo>
                  <a:pt x="172647" y="95701"/>
                </a:moveTo>
                <a:cubicBezTo>
                  <a:pt x="176941" y="91408"/>
                  <a:pt x="176941" y="84434"/>
                  <a:pt x="172647" y="80141"/>
                </a:cubicBezTo>
                <a:lnTo>
                  <a:pt x="117686" y="25179"/>
                </a:lnTo>
                <a:cubicBezTo>
                  <a:pt x="113392" y="20885"/>
                  <a:pt x="106419" y="20885"/>
                  <a:pt x="102125" y="25179"/>
                </a:cubicBezTo>
                <a:cubicBezTo>
                  <a:pt x="97831" y="29473"/>
                  <a:pt x="97831" y="36446"/>
                  <a:pt x="102125" y="40740"/>
                </a:cubicBezTo>
                <a:lnTo>
                  <a:pt x="138331" y="76946"/>
                </a:lnTo>
                <a:lnTo>
                  <a:pt x="10992" y="76946"/>
                </a:lnTo>
                <a:cubicBezTo>
                  <a:pt x="4912" y="76946"/>
                  <a:pt x="0" y="81858"/>
                  <a:pt x="0" y="87938"/>
                </a:cubicBezTo>
                <a:cubicBezTo>
                  <a:pt x="0" y="94018"/>
                  <a:pt x="4912" y="98930"/>
                  <a:pt x="10992" y="98930"/>
                </a:cubicBezTo>
                <a:lnTo>
                  <a:pt x="138331" y="98930"/>
                </a:lnTo>
                <a:lnTo>
                  <a:pt x="102125" y="135136"/>
                </a:lnTo>
                <a:cubicBezTo>
                  <a:pt x="97831" y="139430"/>
                  <a:pt x="97831" y="146403"/>
                  <a:pt x="102125" y="150697"/>
                </a:cubicBezTo>
                <a:cubicBezTo>
                  <a:pt x="106419" y="154991"/>
                  <a:pt x="113392" y="154991"/>
                  <a:pt x="117686" y="150697"/>
                </a:cubicBezTo>
                <a:lnTo>
                  <a:pt x="172647" y="95736"/>
                </a:ln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DFB3FCA1-89D9-46D7-A808-A6C1EB65C2E2}"/>
              </a:ext>
            </a:extLst>
          </p:cNvPr>
          <p:cNvSpPr>
            <a:spLocks noGrp="1"/>
          </p:cNvSpPr>
          <p:nvPr/>
        </p:nvSpPr>
        <p:spPr>
          <a:xfrm>
            <a:off x="11977808" y="2763771"/>
            <a:ext cx="1118071" cy="351753"/>
          </a:xfrm>
          <a:custGeom>
            <a:avLst/>
            <a:gdLst/>
            <a:ahLst/>
            <a:cxnLst/>
            <a:rect l="l" t="t" r="r" b="b"/>
            <a:pathLst>
              <a:path w="1118071" h="351753">
                <a:moveTo>
                  <a:pt x="0" y="0"/>
                </a:moveTo>
                <a:lnTo>
                  <a:pt x="1118071" y="0"/>
                </a:lnTo>
                <a:lnTo>
                  <a:pt x="1118071" y="351753"/>
                </a:lnTo>
                <a:lnTo>
                  <a:pt x="0" y="351753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F7A3764F-FC3E-412E-8BF9-4E839DD332D0}"/>
              </a:ext>
            </a:extLst>
          </p:cNvPr>
          <p:cNvSpPr>
            <a:spLocks noGrp="1"/>
          </p:cNvSpPr>
          <p:nvPr/>
        </p:nvSpPr>
        <p:spPr>
          <a:xfrm>
            <a:off x="11977808" y="2763771"/>
            <a:ext cx="1206009" cy="351753"/>
          </a:xfrm>
          <a:prstGeom prst="rect">
            <a:avLst/>
          </a:prstGeom>
          <a:noFill/>
        </p:spPr>
        <p:txBody>
          <a:bodyPr wrap="square" lIns="150751" tIns="50250" rIns="150751" bIns="50250" anchor="ctr"/>
          <a:lstStyle/>
          <a:p>
            <a:pPr>
              <a:lnSpc>
                <a:spcPct val="120000"/>
              </a:lnSpc>
              <a:buNone/>
            </a:pPr>
            <a:r>
              <a:rPr sz="1385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8. Code</a:t>
            </a:r>
            <a:endParaRPr sz="160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4E1CF7A6-09D9-4784-B917-7768ED56DF46}"/>
              </a:ext>
            </a:extLst>
          </p:cNvPr>
          <p:cNvSpPr>
            <a:spLocks noGrp="1"/>
          </p:cNvSpPr>
          <p:nvPr/>
        </p:nvSpPr>
        <p:spPr>
          <a:xfrm>
            <a:off x="13219777" y="2851709"/>
            <a:ext cx="175876" cy="175876"/>
          </a:xfrm>
          <a:custGeom>
            <a:avLst/>
            <a:gdLst/>
            <a:ahLst/>
            <a:cxnLst/>
            <a:rect l="l" t="t" r="r" b="b"/>
            <a:pathLst>
              <a:path w="175876" h="175876">
                <a:moveTo>
                  <a:pt x="172647" y="95701"/>
                </a:moveTo>
                <a:cubicBezTo>
                  <a:pt x="176941" y="91408"/>
                  <a:pt x="176941" y="84434"/>
                  <a:pt x="172647" y="80141"/>
                </a:cubicBezTo>
                <a:lnTo>
                  <a:pt x="117686" y="25179"/>
                </a:lnTo>
                <a:cubicBezTo>
                  <a:pt x="113392" y="20885"/>
                  <a:pt x="106419" y="20885"/>
                  <a:pt x="102125" y="25179"/>
                </a:cubicBezTo>
                <a:cubicBezTo>
                  <a:pt x="97831" y="29473"/>
                  <a:pt x="97831" y="36446"/>
                  <a:pt x="102125" y="40740"/>
                </a:cubicBezTo>
                <a:lnTo>
                  <a:pt x="138331" y="76946"/>
                </a:lnTo>
                <a:lnTo>
                  <a:pt x="10992" y="76946"/>
                </a:lnTo>
                <a:cubicBezTo>
                  <a:pt x="4912" y="76946"/>
                  <a:pt x="0" y="81858"/>
                  <a:pt x="0" y="87938"/>
                </a:cubicBezTo>
                <a:cubicBezTo>
                  <a:pt x="0" y="94018"/>
                  <a:pt x="4912" y="98930"/>
                  <a:pt x="10992" y="98930"/>
                </a:cubicBezTo>
                <a:lnTo>
                  <a:pt x="138331" y="98930"/>
                </a:lnTo>
                <a:lnTo>
                  <a:pt x="102125" y="135136"/>
                </a:lnTo>
                <a:cubicBezTo>
                  <a:pt x="97831" y="139430"/>
                  <a:pt x="97831" y="146403"/>
                  <a:pt x="102125" y="150697"/>
                </a:cubicBezTo>
                <a:cubicBezTo>
                  <a:pt x="106419" y="154991"/>
                  <a:pt x="113392" y="154991"/>
                  <a:pt x="117686" y="150697"/>
                </a:cubicBezTo>
                <a:lnTo>
                  <a:pt x="172647" y="95736"/>
                </a:ln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6966AA0D-92AF-4A9A-B09C-F5E81EBD49C4}"/>
              </a:ext>
            </a:extLst>
          </p:cNvPr>
          <p:cNvSpPr>
            <a:spLocks noGrp="1"/>
          </p:cNvSpPr>
          <p:nvPr/>
        </p:nvSpPr>
        <p:spPr>
          <a:xfrm>
            <a:off x="13514998" y="2763771"/>
            <a:ext cx="1306510" cy="351753"/>
          </a:xfrm>
          <a:custGeom>
            <a:avLst/>
            <a:gdLst/>
            <a:ahLst/>
            <a:cxnLst/>
            <a:rect l="l" t="t" r="r" b="b"/>
            <a:pathLst>
              <a:path w="1306510" h="351753">
                <a:moveTo>
                  <a:pt x="0" y="0"/>
                </a:moveTo>
                <a:lnTo>
                  <a:pt x="1306510" y="0"/>
                </a:lnTo>
                <a:lnTo>
                  <a:pt x="1306510" y="351753"/>
                </a:lnTo>
                <a:lnTo>
                  <a:pt x="0" y="351753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BEC9E6F-C424-425D-9AEA-17B5ACF88B7D}"/>
              </a:ext>
            </a:extLst>
          </p:cNvPr>
          <p:cNvSpPr>
            <a:spLocks noGrp="1"/>
          </p:cNvSpPr>
          <p:nvPr/>
        </p:nvSpPr>
        <p:spPr>
          <a:xfrm>
            <a:off x="13514998" y="2763771"/>
            <a:ext cx="1394448" cy="351753"/>
          </a:xfrm>
          <a:prstGeom prst="rect">
            <a:avLst/>
          </a:prstGeom>
          <a:noFill/>
        </p:spPr>
        <p:txBody>
          <a:bodyPr wrap="square" lIns="150751" tIns="50250" rIns="150751" bIns="50250" anchor="ctr"/>
          <a:lstStyle/>
          <a:p>
            <a:pPr>
              <a:lnSpc>
                <a:spcPct val="120000"/>
              </a:lnSpc>
              <a:buNone/>
            </a:pPr>
            <a:r>
              <a:rPr sz="1385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9. Commit</a:t>
            </a:r>
            <a:endParaRPr sz="160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1BD1AADA-8A15-4ABB-9EE3-2E22E69043B0}"/>
              </a:ext>
            </a:extLst>
          </p:cNvPr>
          <p:cNvSpPr>
            <a:spLocks noGrp="1"/>
          </p:cNvSpPr>
          <p:nvPr/>
        </p:nvSpPr>
        <p:spPr>
          <a:xfrm>
            <a:off x="14942581" y="2851709"/>
            <a:ext cx="175876" cy="175876"/>
          </a:xfrm>
          <a:custGeom>
            <a:avLst/>
            <a:gdLst/>
            <a:ahLst/>
            <a:cxnLst/>
            <a:rect l="l" t="t" r="r" b="b"/>
            <a:pathLst>
              <a:path w="175876" h="175876">
                <a:moveTo>
                  <a:pt x="172647" y="95701"/>
                </a:moveTo>
                <a:cubicBezTo>
                  <a:pt x="176941" y="91408"/>
                  <a:pt x="176941" y="84434"/>
                  <a:pt x="172647" y="80141"/>
                </a:cubicBezTo>
                <a:lnTo>
                  <a:pt x="117686" y="25179"/>
                </a:lnTo>
                <a:cubicBezTo>
                  <a:pt x="113392" y="20885"/>
                  <a:pt x="106419" y="20885"/>
                  <a:pt x="102125" y="25179"/>
                </a:cubicBezTo>
                <a:cubicBezTo>
                  <a:pt x="97831" y="29473"/>
                  <a:pt x="97831" y="36446"/>
                  <a:pt x="102125" y="40740"/>
                </a:cubicBezTo>
                <a:lnTo>
                  <a:pt x="138331" y="76946"/>
                </a:lnTo>
                <a:lnTo>
                  <a:pt x="10992" y="76946"/>
                </a:lnTo>
                <a:cubicBezTo>
                  <a:pt x="4912" y="76946"/>
                  <a:pt x="0" y="81858"/>
                  <a:pt x="0" y="87938"/>
                </a:cubicBezTo>
                <a:cubicBezTo>
                  <a:pt x="0" y="94018"/>
                  <a:pt x="4912" y="98930"/>
                  <a:pt x="10992" y="98930"/>
                </a:cubicBezTo>
                <a:lnTo>
                  <a:pt x="138331" y="98930"/>
                </a:lnTo>
                <a:lnTo>
                  <a:pt x="102125" y="135136"/>
                </a:lnTo>
                <a:cubicBezTo>
                  <a:pt x="97831" y="139430"/>
                  <a:pt x="97831" y="146403"/>
                  <a:pt x="102125" y="150697"/>
                </a:cubicBezTo>
                <a:cubicBezTo>
                  <a:pt x="106419" y="154991"/>
                  <a:pt x="113392" y="154991"/>
                  <a:pt x="117686" y="150697"/>
                </a:cubicBezTo>
                <a:lnTo>
                  <a:pt x="172647" y="95736"/>
                </a:ln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97C2C13C-6FAC-493D-B7F5-45FCEDFAFE46}"/>
              </a:ext>
            </a:extLst>
          </p:cNvPr>
          <p:cNvSpPr>
            <a:spLocks noGrp="1"/>
          </p:cNvSpPr>
          <p:nvPr/>
        </p:nvSpPr>
        <p:spPr>
          <a:xfrm>
            <a:off x="502504" y="3165774"/>
            <a:ext cx="1319073" cy="351753"/>
          </a:xfrm>
          <a:custGeom>
            <a:avLst/>
            <a:gdLst/>
            <a:ahLst/>
            <a:cxnLst/>
            <a:rect l="l" t="t" r="r" b="b"/>
            <a:pathLst>
              <a:path w="1319073" h="351753">
                <a:moveTo>
                  <a:pt x="0" y="0"/>
                </a:moveTo>
                <a:lnTo>
                  <a:pt x="1319073" y="0"/>
                </a:lnTo>
                <a:lnTo>
                  <a:pt x="1319073" y="351753"/>
                </a:lnTo>
                <a:lnTo>
                  <a:pt x="0" y="351753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C1188421-6DE1-4530-BDBC-5395F4AA5517}"/>
              </a:ext>
            </a:extLst>
          </p:cNvPr>
          <p:cNvSpPr>
            <a:spLocks noGrp="1"/>
          </p:cNvSpPr>
          <p:nvPr/>
        </p:nvSpPr>
        <p:spPr>
          <a:xfrm>
            <a:off x="502504" y="3165774"/>
            <a:ext cx="1407011" cy="351753"/>
          </a:xfrm>
          <a:prstGeom prst="rect">
            <a:avLst/>
          </a:prstGeom>
          <a:noFill/>
        </p:spPr>
        <p:txBody>
          <a:bodyPr wrap="square" lIns="150751" tIns="50250" rIns="150751" bIns="50250" anchor="ctr"/>
          <a:lstStyle/>
          <a:p>
            <a:pPr>
              <a:lnSpc>
                <a:spcPct val="120000"/>
              </a:lnSpc>
              <a:buNone/>
            </a:pPr>
            <a:r>
              <a:rPr sz="1385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10. Refresh</a:t>
            </a:r>
            <a:endParaRPr sz="160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9475DE83-9B83-4A6B-B330-C90EEE1445BA}"/>
              </a:ext>
            </a:extLst>
          </p:cNvPr>
          <p:cNvSpPr>
            <a:spLocks noGrp="1"/>
          </p:cNvSpPr>
          <p:nvPr/>
        </p:nvSpPr>
        <p:spPr>
          <a:xfrm>
            <a:off x="519777" y="3831592"/>
            <a:ext cx="254393" cy="226127"/>
          </a:xfrm>
          <a:custGeom>
            <a:avLst/>
            <a:gdLst/>
            <a:ahLst/>
            <a:cxnLst/>
            <a:rect l="l" t="t" r="r" b="b"/>
            <a:pathLst>
              <a:path w="254393" h="226127">
                <a:moveTo>
                  <a:pt x="159349" y="530"/>
                </a:moveTo>
                <a:cubicBezTo>
                  <a:pt x="151841" y="-1634"/>
                  <a:pt x="144023" y="2738"/>
                  <a:pt x="141859" y="10246"/>
                </a:cubicBezTo>
                <a:lnTo>
                  <a:pt x="85328" y="208107"/>
                </a:lnTo>
                <a:cubicBezTo>
                  <a:pt x="83163" y="215615"/>
                  <a:pt x="87536" y="223433"/>
                  <a:pt x="95044" y="225597"/>
                </a:cubicBezTo>
                <a:cubicBezTo>
                  <a:pt x="102552" y="227761"/>
                  <a:pt x="110369" y="223388"/>
                  <a:pt x="112533" y="215880"/>
                </a:cubicBezTo>
                <a:lnTo>
                  <a:pt x="169065" y="18019"/>
                </a:lnTo>
                <a:cubicBezTo>
                  <a:pt x="171229" y="10511"/>
                  <a:pt x="166857" y="2694"/>
                  <a:pt x="159349" y="530"/>
                </a:cubicBezTo>
                <a:close/>
                <a:moveTo>
                  <a:pt x="187880" y="60639"/>
                </a:moveTo>
                <a:cubicBezTo>
                  <a:pt x="182359" y="66160"/>
                  <a:pt x="182359" y="75125"/>
                  <a:pt x="187880" y="80646"/>
                </a:cubicBezTo>
                <a:lnTo>
                  <a:pt x="220297" y="113063"/>
                </a:lnTo>
                <a:lnTo>
                  <a:pt x="187880" y="145481"/>
                </a:lnTo>
                <a:cubicBezTo>
                  <a:pt x="182359" y="151001"/>
                  <a:pt x="182359" y="159967"/>
                  <a:pt x="187880" y="165488"/>
                </a:cubicBezTo>
                <a:cubicBezTo>
                  <a:pt x="193400" y="171008"/>
                  <a:pt x="202366" y="171008"/>
                  <a:pt x="207886" y="165488"/>
                </a:cubicBezTo>
                <a:lnTo>
                  <a:pt x="250285" y="123089"/>
                </a:lnTo>
                <a:cubicBezTo>
                  <a:pt x="255806" y="117568"/>
                  <a:pt x="255806" y="108603"/>
                  <a:pt x="250285" y="103082"/>
                </a:cubicBezTo>
                <a:lnTo>
                  <a:pt x="207886" y="60683"/>
                </a:lnTo>
                <a:cubicBezTo>
                  <a:pt x="202366" y="55163"/>
                  <a:pt x="193400" y="55163"/>
                  <a:pt x="187880" y="60683"/>
                </a:cubicBezTo>
                <a:close/>
                <a:moveTo>
                  <a:pt x="66557" y="60639"/>
                </a:moveTo>
                <a:cubicBezTo>
                  <a:pt x="61037" y="55118"/>
                  <a:pt x="52071" y="55118"/>
                  <a:pt x="46550" y="60639"/>
                </a:cubicBezTo>
                <a:lnTo>
                  <a:pt x="4152" y="103038"/>
                </a:lnTo>
                <a:cubicBezTo>
                  <a:pt x="-1369" y="108559"/>
                  <a:pt x="-1369" y="117524"/>
                  <a:pt x="4152" y="123045"/>
                </a:cubicBezTo>
                <a:lnTo>
                  <a:pt x="46550" y="165444"/>
                </a:lnTo>
                <a:cubicBezTo>
                  <a:pt x="52071" y="170964"/>
                  <a:pt x="61037" y="170964"/>
                  <a:pt x="66557" y="165444"/>
                </a:cubicBezTo>
                <a:cubicBezTo>
                  <a:pt x="72078" y="159923"/>
                  <a:pt x="72078" y="150957"/>
                  <a:pt x="66557" y="145437"/>
                </a:cubicBezTo>
                <a:lnTo>
                  <a:pt x="34140" y="113063"/>
                </a:lnTo>
                <a:lnTo>
                  <a:pt x="66513" y="80646"/>
                </a:lnTo>
                <a:cubicBezTo>
                  <a:pt x="72034" y="75125"/>
                  <a:pt x="72034" y="66160"/>
                  <a:pt x="66513" y="60639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11F9CDC0-877F-42F7-B1C8-B7C2B740B806}"/>
              </a:ext>
            </a:extLst>
          </p:cNvPr>
          <p:cNvSpPr>
            <a:spLocks noGrp="1"/>
          </p:cNvSpPr>
          <p:nvPr/>
        </p:nvSpPr>
        <p:spPr>
          <a:xfrm>
            <a:off x="791444" y="3768779"/>
            <a:ext cx="7323994" cy="35175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781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One Structured Provider Result</a:t>
            </a:r>
            <a:endParaRPr sz="160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CAE5FFEC-562C-47FC-81AF-C4B6F58B354B}"/>
              </a:ext>
            </a:extLst>
          </p:cNvPr>
          <p:cNvSpPr>
            <a:spLocks noGrp="1"/>
          </p:cNvSpPr>
          <p:nvPr/>
        </p:nvSpPr>
        <p:spPr>
          <a:xfrm>
            <a:off x="517579" y="4271283"/>
            <a:ext cx="7489820" cy="2361768"/>
          </a:xfrm>
          <a:custGeom>
            <a:avLst/>
            <a:gdLst/>
            <a:ahLst/>
            <a:cxnLst/>
            <a:rect l="l" t="t" r="r" b="b"/>
            <a:pathLst>
              <a:path w="7489820" h="2361768">
                <a:moveTo>
                  <a:pt x="0" y="0"/>
                </a:moveTo>
                <a:lnTo>
                  <a:pt x="7489820" y="0"/>
                </a:lnTo>
                <a:lnTo>
                  <a:pt x="7489820" y="2361768"/>
                </a:lnTo>
                <a:lnTo>
                  <a:pt x="0" y="2361768"/>
                </a:lnTo>
                <a:lnTo>
                  <a:pt x="0" y="0"/>
                </a:lnTo>
                <a:close/>
              </a:path>
            </a:pathLst>
          </a:custGeom>
          <a:solidFill>
            <a:srgbClr val="4A6D8A">
              <a:alpha val="1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0CACE008-654E-446B-8EE0-45A5CFC3FEC7}"/>
              </a:ext>
            </a:extLst>
          </p:cNvPr>
          <p:cNvSpPr>
            <a:spLocks noGrp="1"/>
          </p:cNvSpPr>
          <p:nvPr/>
        </p:nvSpPr>
        <p:spPr>
          <a:xfrm>
            <a:off x="517579" y="4271283"/>
            <a:ext cx="30150" cy="2361768"/>
          </a:xfrm>
          <a:custGeom>
            <a:avLst/>
            <a:gdLst/>
            <a:ahLst/>
            <a:cxnLst/>
            <a:rect l="l" t="t" r="r" b="b"/>
            <a:pathLst>
              <a:path w="30150" h="2361768">
                <a:moveTo>
                  <a:pt x="0" y="0"/>
                </a:moveTo>
                <a:lnTo>
                  <a:pt x="30150" y="0"/>
                </a:lnTo>
                <a:lnTo>
                  <a:pt x="30150" y="2361768"/>
                </a:lnTo>
                <a:lnTo>
                  <a:pt x="0" y="2361768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65DE890A-EF0E-44AE-A9A6-99467ACAD57A}"/>
              </a:ext>
            </a:extLst>
          </p:cNvPr>
          <p:cNvSpPr>
            <a:spLocks noGrp="1"/>
          </p:cNvSpPr>
          <p:nvPr/>
        </p:nvSpPr>
        <p:spPr>
          <a:xfrm>
            <a:off x="683405" y="4422034"/>
            <a:ext cx="7248618" cy="201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187">
                <a:solidFill>
                  <a:srgbClr val="788A9C"/>
                </a:solidFill>
                <a:latin typeface="MiSans"/>
                <a:ea typeface="MiSans"/>
                <a:cs typeface="MiSans"/>
              </a:rPr>
              <a:t>request = CoachRequest(</a:t>
            </a:r>
            <a:endParaRPr sz="160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4674E761-12AA-4581-BEED-42E49C1876C8}"/>
              </a:ext>
            </a:extLst>
          </p:cNvPr>
          <p:cNvSpPr>
            <a:spLocks noGrp="1"/>
          </p:cNvSpPr>
          <p:nvPr/>
        </p:nvSpPr>
        <p:spPr>
          <a:xfrm>
            <a:off x="683405" y="4673133"/>
            <a:ext cx="7248618" cy="201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187">
                <a:solidFill>
                  <a:srgbClr val="E0E2E5"/>
                </a:solidFill>
                <a:latin typeface="MiSans"/>
                <a:ea typeface="MiSans"/>
                <a:cs typeface="MiSans"/>
              </a:rPr>
              <a:t>phase=persisted_phase,</a:t>
            </a:r>
            <a:endParaRPr sz="160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3F9CCE9A-46AA-4FFF-8160-024F873DC336}"/>
              </a:ext>
            </a:extLst>
          </p:cNvPr>
          <p:cNvSpPr>
            <a:spLocks noGrp="1"/>
          </p:cNvSpPr>
          <p:nvPr/>
        </p:nvSpPr>
        <p:spPr>
          <a:xfrm>
            <a:off x="783906" y="4873975"/>
            <a:ext cx="7148117" cy="201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187">
                <a:solidFill>
                  <a:srgbClr val="E0E2E5"/>
                </a:solidFill>
                <a:latin typeface="MiSans"/>
                <a:ea typeface="MiSans"/>
                <a:cs typeface="MiSans"/>
              </a:rPr>
              <a:t>profile=quick_or_strict,</a:t>
            </a:r>
            <a:endParaRPr sz="160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01E0D637-1B60-41E8-B39B-433E629F65A9}"/>
              </a:ext>
            </a:extLst>
          </p:cNvPr>
          <p:cNvSpPr>
            <a:spLocks noGrp="1"/>
          </p:cNvSpPr>
          <p:nvPr/>
        </p:nvSpPr>
        <p:spPr>
          <a:xfrm>
            <a:off x="783906" y="5074817"/>
            <a:ext cx="7148117" cy="201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187">
                <a:solidFill>
                  <a:srgbClr val="E0E2E5"/>
                </a:solidFill>
                <a:latin typeface="MiSans"/>
                <a:ea typeface="MiSans"/>
                <a:cs typeface="MiSans"/>
              </a:rPr>
              <a:t>history=active_revision,</a:t>
            </a:r>
            <a:endParaRPr sz="160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2D1DF309-4B5B-4CE1-AE5B-A0C3FE3072EA}"/>
              </a:ext>
            </a:extLst>
          </p:cNvPr>
          <p:cNvSpPr>
            <a:spLocks noGrp="1"/>
          </p:cNvSpPr>
          <p:nvPr/>
        </p:nvSpPr>
        <p:spPr>
          <a:xfrm>
            <a:off x="884407" y="5275665"/>
            <a:ext cx="7047617" cy="201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187">
                <a:solidFill>
                  <a:srgbClr val="788A9C"/>
                </a:solidFill>
                <a:latin typeface="MiSans"/>
                <a:ea typeface="MiSans"/>
                <a:cs typeface="MiSans"/>
              </a:rPr>
              <a:t>sources=selected_context,</a:t>
            </a:r>
            <a:endParaRPr sz="160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4C279BA2-C1DA-4B24-A8E1-98770493B389}"/>
              </a:ext>
            </a:extLst>
          </p:cNvPr>
          <p:cNvSpPr>
            <a:spLocks noGrp="1"/>
          </p:cNvSpPr>
          <p:nvPr/>
        </p:nvSpPr>
        <p:spPr>
          <a:xfrm>
            <a:off x="884407" y="5476507"/>
            <a:ext cx="7047617" cy="201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187">
                <a:solidFill>
                  <a:srgbClr val="788A9C"/>
                </a:solidFill>
                <a:latin typeface="MiSans"/>
                <a:ea typeface="MiSans"/>
                <a:cs typeface="MiSans"/>
              </a:rPr>
              <a:t>)</a:t>
            </a:r>
            <a:endParaRPr sz="160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7B36484C-2621-41F9-AA1C-018C8EA80A63}"/>
              </a:ext>
            </a:extLst>
          </p:cNvPr>
          <p:cNvSpPr>
            <a:spLocks noGrp="1"/>
          </p:cNvSpPr>
          <p:nvPr/>
        </p:nvSpPr>
        <p:spPr>
          <a:xfrm>
            <a:off x="783906" y="5677355"/>
            <a:ext cx="7148117" cy="201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187">
                <a:solidFill>
                  <a:srgbClr val="E0E2E5"/>
                </a:solidFill>
                <a:latin typeface="MiSans"/>
                <a:ea typeface="MiSans"/>
                <a:cs typeface="MiSans"/>
              </a:rPr>
              <a:t>result = provider.assess(request)</a:t>
            </a:r>
            <a:endParaRPr sz="160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5AC8F096-D910-43E1-8477-FC28E74F48F9}"/>
              </a:ext>
            </a:extLst>
          </p:cNvPr>
          <p:cNvSpPr>
            <a:spLocks noGrp="1"/>
          </p:cNvSpPr>
          <p:nvPr/>
        </p:nvSpPr>
        <p:spPr>
          <a:xfrm>
            <a:off x="783906" y="5878197"/>
            <a:ext cx="7148117" cy="201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187">
                <a:solidFill>
                  <a:srgbClr val="E0E2E5"/>
                </a:solidFill>
                <a:latin typeface="MiSans"/>
                <a:ea typeface="MiSans"/>
                <a:cs typeface="MiSans"/>
              </a:rPr>
              <a:t>coaching = required</a:t>
            </a:r>
            <a:endParaRPr sz="160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5364758E-A989-4370-B4C5-DDCF84F3D1BD}"/>
              </a:ext>
            </a:extLst>
          </p:cNvPr>
          <p:cNvSpPr>
            <a:spLocks noGrp="1"/>
          </p:cNvSpPr>
          <p:nvPr/>
        </p:nvSpPr>
        <p:spPr>
          <a:xfrm>
            <a:off x="783906" y="6079039"/>
            <a:ext cx="7148117" cy="201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187">
                <a:solidFill>
                  <a:srgbClr val="E0E2E5"/>
                </a:solidFill>
                <a:latin typeface="MiSans"/>
                <a:ea typeface="MiSans"/>
                <a:cs typeface="MiSans"/>
              </a:rPr>
              <a:t>research = optional</a:t>
            </a:r>
            <a:endParaRPr sz="160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9EA7792C-4C23-4B66-8AC1-74C094EDA6E6}"/>
              </a:ext>
            </a:extLst>
          </p:cNvPr>
          <p:cNvSpPr>
            <a:spLocks noGrp="1"/>
          </p:cNvSpPr>
          <p:nvPr/>
        </p:nvSpPr>
        <p:spPr>
          <a:xfrm>
            <a:off x="683405" y="6279887"/>
            <a:ext cx="7248618" cy="201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187">
                <a:solidFill>
                  <a:srgbClr val="E0E2E5"/>
                </a:solidFill>
                <a:latin typeface="MiSans"/>
                <a:ea typeface="MiSans"/>
                <a:cs typeface="MiSans"/>
              </a:rPr>
              <a:t>persist_atomically(result)</a:t>
            </a:r>
            <a:endParaRPr sz="160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FD136BD2-EC66-4403-A465-A8E098BB00E4}"/>
              </a:ext>
            </a:extLst>
          </p:cNvPr>
          <p:cNvSpPr>
            <a:spLocks noGrp="1"/>
          </p:cNvSpPr>
          <p:nvPr/>
        </p:nvSpPr>
        <p:spPr>
          <a:xfrm>
            <a:off x="517579" y="6782232"/>
            <a:ext cx="30150" cy="552754"/>
          </a:xfrm>
          <a:custGeom>
            <a:avLst/>
            <a:gdLst/>
            <a:ahLst/>
            <a:cxnLst/>
            <a:rect l="l" t="t" r="r" b="b"/>
            <a:pathLst>
              <a:path w="30150" h="552754">
                <a:moveTo>
                  <a:pt x="0" y="0"/>
                </a:moveTo>
                <a:lnTo>
                  <a:pt x="30150" y="0"/>
                </a:lnTo>
                <a:lnTo>
                  <a:pt x="30150" y="552754"/>
                </a:lnTo>
                <a:lnTo>
                  <a:pt x="0" y="552754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EE0AB8C8-AEE6-4A15-9BEE-944AB4686A60}"/>
              </a:ext>
            </a:extLst>
          </p:cNvPr>
          <p:cNvSpPr>
            <a:spLocks noGrp="1"/>
          </p:cNvSpPr>
          <p:nvPr/>
        </p:nvSpPr>
        <p:spPr>
          <a:xfrm>
            <a:off x="683405" y="6832482"/>
            <a:ext cx="7411932" cy="2512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385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System prompt</a:t>
            </a:r>
            <a:endParaRPr sz="160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87DA8188-72A6-46AF-A62A-E7520E988FBC}"/>
              </a:ext>
            </a:extLst>
          </p:cNvPr>
          <p:cNvSpPr>
            <a:spLocks noGrp="1"/>
          </p:cNvSpPr>
          <p:nvPr/>
        </p:nvSpPr>
        <p:spPr>
          <a:xfrm>
            <a:off x="683405" y="7083734"/>
            <a:ext cx="7399369" cy="201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187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Shared coaching rules plus current phase guidance</a:t>
            </a:r>
            <a:endParaRPr sz="160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FEF2536B-6F0E-4D00-9C5C-DA7AC7A8BAB3}"/>
              </a:ext>
            </a:extLst>
          </p:cNvPr>
          <p:cNvSpPr>
            <a:spLocks noGrp="1"/>
          </p:cNvSpPr>
          <p:nvPr/>
        </p:nvSpPr>
        <p:spPr>
          <a:xfrm>
            <a:off x="517579" y="7435334"/>
            <a:ext cx="30150" cy="552754"/>
          </a:xfrm>
          <a:custGeom>
            <a:avLst/>
            <a:gdLst/>
            <a:ahLst/>
            <a:cxnLst/>
            <a:rect l="l" t="t" r="r" b="b"/>
            <a:pathLst>
              <a:path w="30150" h="552754">
                <a:moveTo>
                  <a:pt x="0" y="0"/>
                </a:moveTo>
                <a:lnTo>
                  <a:pt x="30150" y="0"/>
                </a:lnTo>
                <a:lnTo>
                  <a:pt x="30150" y="552754"/>
                </a:lnTo>
                <a:lnTo>
                  <a:pt x="0" y="552754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D7A074B2-E158-4CA2-97F3-B1DD5D417DF3}"/>
              </a:ext>
            </a:extLst>
          </p:cNvPr>
          <p:cNvSpPr>
            <a:spLocks noGrp="1"/>
          </p:cNvSpPr>
          <p:nvPr/>
        </p:nvSpPr>
        <p:spPr>
          <a:xfrm>
            <a:off x="683405" y="7485584"/>
            <a:ext cx="7411932" cy="2512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385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User context</a:t>
            </a:r>
            <a:endParaRPr sz="160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8EA52F67-6C68-46C9-856B-9611424E983D}"/>
              </a:ext>
            </a:extLst>
          </p:cNvPr>
          <p:cNvSpPr>
            <a:spLocks noGrp="1"/>
          </p:cNvSpPr>
          <p:nvPr/>
        </p:nvSpPr>
        <p:spPr>
          <a:xfrm>
            <a:off x="683405" y="7736836"/>
            <a:ext cx="7399369" cy="201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187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Active history, notebook state and selected sources</a:t>
            </a:r>
            <a:endParaRPr sz="160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ABBD17AC-BB09-4335-8FDF-6BFA139DDADE}"/>
              </a:ext>
            </a:extLst>
          </p:cNvPr>
          <p:cNvSpPr>
            <a:spLocks noGrp="1"/>
          </p:cNvSpPr>
          <p:nvPr/>
        </p:nvSpPr>
        <p:spPr>
          <a:xfrm>
            <a:off x="517579" y="8088429"/>
            <a:ext cx="30150" cy="552754"/>
          </a:xfrm>
          <a:custGeom>
            <a:avLst/>
            <a:gdLst/>
            <a:ahLst/>
            <a:cxnLst/>
            <a:rect l="l" t="t" r="r" b="b"/>
            <a:pathLst>
              <a:path w="30150" h="552754">
                <a:moveTo>
                  <a:pt x="0" y="0"/>
                </a:moveTo>
                <a:lnTo>
                  <a:pt x="30150" y="0"/>
                </a:lnTo>
                <a:lnTo>
                  <a:pt x="30150" y="552754"/>
                </a:lnTo>
                <a:lnTo>
                  <a:pt x="0" y="552754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F5E037AF-4E86-43DC-9954-D6DF1239F229}"/>
              </a:ext>
            </a:extLst>
          </p:cNvPr>
          <p:cNvSpPr>
            <a:spLocks noGrp="1"/>
          </p:cNvSpPr>
          <p:nvPr/>
        </p:nvSpPr>
        <p:spPr>
          <a:xfrm>
            <a:off x="683405" y="8138679"/>
            <a:ext cx="7411932" cy="2512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385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Invariants</a:t>
            </a:r>
            <a:endParaRPr sz="160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23A8C09B-6F01-49F4-82DE-E4CCDFE56D25}"/>
              </a:ext>
            </a:extLst>
          </p:cNvPr>
          <p:cNvSpPr>
            <a:spLocks noGrp="1"/>
          </p:cNvSpPr>
          <p:nvPr/>
        </p:nvSpPr>
        <p:spPr>
          <a:xfrm>
            <a:off x="683405" y="8389931"/>
            <a:ext cx="7399369" cy="2010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187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One provider call; backend owns transitions and persistence</a:t>
            </a:r>
            <a:endParaRPr sz="160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DA67C619-C3D7-4357-ABB0-F110645273E0}"/>
              </a:ext>
            </a:extLst>
          </p:cNvPr>
          <p:cNvSpPr>
            <a:spLocks noGrp="1"/>
          </p:cNvSpPr>
          <p:nvPr/>
        </p:nvSpPr>
        <p:spPr>
          <a:xfrm>
            <a:off x="8286289" y="3831592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102685" y="2297"/>
                </a:moveTo>
                <a:cubicBezTo>
                  <a:pt x="109265" y="-751"/>
                  <a:pt x="116862" y="-751"/>
                  <a:pt x="123442" y="2297"/>
                </a:cubicBezTo>
                <a:lnTo>
                  <a:pt x="219988" y="46904"/>
                </a:lnTo>
                <a:cubicBezTo>
                  <a:pt x="223742" y="48626"/>
                  <a:pt x="226127" y="52380"/>
                  <a:pt x="226127" y="56532"/>
                </a:cubicBezTo>
                <a:cubicBezTo>
                  <a:pt x="226127" y="60683"/>
                  <a:pt x="223742" y="64437"/>
                  <a:pt x="219988" y="66160"/>
                </a:cubicBezTo>
                <a:lnTo>
                  <a:pt x="123442" y="110767"/>
                </a:lnTo>
                <a:cubicBezTo>
                  <a:pt x="116862" y="113814"/>
                  <a:pt x="109265" y="113814"/>
                  <a:pt x="102685" y="110767"/>
                </a:cubicBezTo>
                <a:lnTo>
                  <a:pt x="6139" y="66160"/>
                </a:lnTo>
                <a:cubicBezTo>
                  <a:pt x="2385" y="64393"/>
                  <a:pt x="0" y="60639"/>
                  <a:pt x="0" y="56532"/>
                </a:cubicBezTo>
                <a:cubicBezTo>
                  <a:pt x="0" y="52424"/>
                  <a:pt x="2385" y="48626"/>
                  <a:pt x="6139" y="46904"/>
                </a:cubicBezTo>
                <a:lnTo>
                  <a:pt x="102685" y="2297"/>
                </a:lnTo>
                <a:close/>
                <a:moveTo>
                  <a:pt x="21244" y="96457"/>
                </a:moveTo>
                <a:lnTo>
                  <a:pt x="93807" y="129979"/>
                </a:lnTo>
                <a:cubicBezTo>
                  <a:pt x="106041" y="135632"/>
                  <a:pt x="120130" y="135632"/>
                  <a:pt x="132364" y="129979"/>
                </a:cubicBezTo>
                <a:lnTo>
                  <a:pt x="204927" y="96457"/>
                </a:lnTo>
                <a:lnTo>
                  <a:pt x="219988" y="103435"/>
                </a:lnTo>
                <a:cubicBezTo>
                  <a:pt x="223742" y="105158"/>
                  <a:pt x="226127" y="108912"/>
                  <a:pt x="226127" y="113063"/>
                </a:cubicBezTo>
                <a:cubicBezTo>
                  <a:pt x="226127" y="117215"/>
                  <a:pt x="223742" y="120969"/>
                  <a:pt x="219988" y="122691"/>
                </a:cubicBezTo>
                <a:lnTo>
                  <a:pt x="123442" y="167298"/>
                </a:lnTo>
                <a:cubicBezTo>
                  <a:pt x="116862" y="170346"/>
                  <a:pt x="109265" y="170346"/>
                  <a:pt x="102685" y="167298"/>
                </a:cubicBezTo>
                <a:lnTo>
                  <a:pt x="6139" y="122691"/>
                </a:lnTo>
                <a:cubicBezTo>
                  <a:pt x="2385" y="120925"/>
                  <a:pt x="0" y="117171"/>
                  <a:pt x="0" y="113063"/>
                </a:cubicBezTo>
                <a:cubicBezTo>
                  <a:pt x="0" y="108956"/>
                  <a:pt x="2385" y="105158"/>
                  <a:pt x="6139" y="103435"/>
                </a:cubicBezTo>
                <a:lnTo>
                  <a:pt x="21199" y="96457"/>
                </a:lnTo>
                <a:close/>
                <a:moveTo>
                  <a:pt x="6139" y="159967"/>
                </a:moveTo>
                <a:lnTo>
                  <a:pt x="21199" y="152989"/>
                </a:lnTo>
                <a:lnTo>
                  <a:pt x="93763" y="186510"/>
                </a:lnTo>
                <a:cubicBezTo>
                  <a:pt x="105997" y="192164"/>
                  <a:pt x="120086" y="192164"/>
                  <a:pt x="132319" y="186510"/>
                </a:cubicBezTo>
                <a:lnTo>
                  <a:pt x="204883" y="152989"/>
                </a:lnTo>
                <a:lnTo>
                  <a:pt x="219944" y="159967"/>
                </a:lnTo>
                <a:cubicBezTo>
                  <a:pt x="223698" y="161689"/>
                  <a:pt x="226083" y="165444"/>
                  <a:pt x="226083" y="169595"/>
                </a:cubicBezTo>
                <a:cubicBezTo>
                  <a:pt x="226083" y="173747"/>
                  <a:pt x="223698" y="177501"/>
                  <a:pt x="219944" y="179223"/>
                </a:cubicBezTo>
                <a:lnTo>
                  <a:pt x="123398" y="223830"/>
                </a:lnTo>
                <a:cubicBezTo>
                  <a:pt x="116817" y="226878"/>
                  <a:pt x="109221" y="226878"/>
                  <a:pt x="102640" y="223830"/>
                </a:cubicBezTo>
                <a:lnTo>
                  <a:pt x="6139" y="179223"/>
                </a:lnTo>
                <a:cubicBezTo>
                  <a:pt x="2385" y="177456"/>
                  <a:pt x="0" y="173702"/>
                  <a:pt x="0" y="169595"/>
                </a:cubicBezTo>
                <a:cubicBezTo>
                  <a:pt x="0" y="165488"/>
                  <a:pt x="2385" y="161689"/>
                  <a:pt x="6139" y="159967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E87ECA3C-1195-42D5-8384-E24132047898}"/>
              </a:ext>
            </a:extLst>
          </p:cNvPr>
          <p:cNvSpPr>
            <a:spLocks noGrp="1"/>
          </p:cNvSpPr>
          <p:nvPr/>
        </p:nvSpPr>
        <p:spPr>
          <a:xfrm>
            <a:off x="8543822" y="3768779"/>
            <a:ext cx="7323994" cy="35175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781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Application Safeguards</a:t>
            </a:r>
            <a:endParaRPr sz="160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3720FDB7-3782-4401-944A-61DBE5245763}"/>
              </a:ext>
            </a:extLst>
          </p:cNvPr>
          <p:cNvSpPr>
            <a:spLocks noGrp="1"/>
          </p:cNvSpPr>
          <p:nvPr/>
        </p:nvSpPr>
        <p:spPr>
          <a:xfrm>
            <a:off x="8269958" y="4271283"/>
            <a:ext cx="30150" cy="804006"/>
          </a:xfrm>
          <a:custGeom>
            <a:avLst/>
            <a:gdLst/>
            <a:ahLst/>
            <a:cxnLst/>
            <a:rect l="l" t="t" r="r" b="b"/>
            <a:pathLst>
              <a:path w="30150" h="804006">
                <a:moveTo>
                  <a:pt x="0" y="0"/>
                </a:moveTo>
                <a:lnTo>
                  <a:pt x="30150" y="0"/>
                </a:lnTo>
                <a:lnTo>
                  <a:pt x="30150" y="804006"/>
                </a:lnTo>
                <a:lnTo>
                  <a:pt x="0" y="804006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7DE77BEC-8D43-40E6-BF1F-11742704D8E6}"/>
              </a:ext>
            </a:extLst>
          </p:cNvPr>
          <p:cNvSpPr>
            <a:spLocks noGrp="1"/>
          </p:cNvSpPr>
          <p:nvPr/>
        </p:nvSpPr>
        <p:spPr>
          <a:xfrm>
            <a:off x="8435784" y="4371784"/>
            <a:ext cx="402003" cy="402003"/>
          </a:xfrm>
          <a:custGeom>
            <a:avLst/>
            <a:gdLst/>
            <a:ahLst/>
            <a:cxnLst/>
            <a:rect l="l" t="t" r="r" b="b"/>
            <a:pathLst>
              <a:path w="402003" h="402003">
                <a:moveTo>
                  <a:pt x="201002" y="0"/>
                </a:moveTo>
                <a:lnTo>
                  <a:pt x="201002" y="0"/>
                </a:lnTo>
                <a:cubicBezTo>
                  <a:pt x="311937" y="0"/>
                  <a:pt x="402003" y="90066"/>
                  <a:pt x="402003" y="201002"/>
                </a:cubicBezTo>
                <a:lnTo>
                  <a:pt x="402003" y="201002"/>
                </a:lnTo>
                <a:cubicBezTo>
                  <a:pt x="402003" y="311937"/>
                  <a:pt x="311937" y="402003"/>
                  <a:pt x="201002" y="402003"/>
                </a:cubicBezTo>
                <a:lnTo>
                  <a:pt x="201002" y="402003"/>
                </a:lnTo>
                <a:cubicBezTo>
                  <a:pt x="90066" y="402003"/>
                  <a:pt x="0" y="311937"/>
                  <a:pt x="0" y="201002"/>
                </a:cubicBezTo>
                <a:lnTo>
                  <a:pt x="0" y="201002"/>
                </a:lnTo>
                <a:cubicBezTo>
                  <a:pt x="0" y="90066"/>
                  <a:pt x="90066" y="0"/>
                  <a:pt x="201002" y="0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9EA45981-3226-4AF5-8C2B-26EC1450EE99}"/>
              </a:ext>
            </a:extLst>
          </p:cNvPr>
          <p:cNvSpPr>
            <a:spLocks noGrp="1"/>
          </p:cNvSpPr>
          <p:nvPr/>
        </p:nvSpPr>
        <p:spPr>
          <a:xfrm>
            <a:off x="8379252" y="4371784"/>
            <a:ext cx="515066" cy="4020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781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1</a:t>
            </a:r>
            <a:endParaRPr sz="1600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00BE835A-3A03-4D48-9293-EB174E60B77C}"/>
              </a:ext>
            </a:extLst>
          </p:cNvPr>
          <p:cNvSpPr>
            <a:spLocks noGrp="1"/>
          </p:cNvSpPr>
          <p:nvPr/>
        </p:nvSpPr>
        <p:spPr>
          <a:xfrm>
            <a:off x="8988538" y="4371784"/>
            <a:ext cx="5703419" cy="3015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583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Ownership + Retrieval</a:t>
            </a:r>
            <a:endParaRPr sz="160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93B5D26F-0938-4177-804B-2641873AB09D}"/>
              </a:ext>
            </a:extLst>
          </p:cNvPr>
          <p:cNvSpPr>
            <a:spLocks noGrp="1"/>
          </p:cNvSpPr>
          <p:nvPr/>
        </p:nvSpPr>
        <p:spPr>
          <a:xfrm>
            <a:off x="8988538" y="4723536"/>
            <a:ext cx="5690856" cy="2512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385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Resolve Cognito owner and selected-source boundaries before prompting</a:t>
            </a:r>
            <a:endParaRPr sz="1600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7E80228B-CB9E-43D0-A99D-B0806D4FB2C1}"/>
              </a:ext>
            </a:extLst>
          </p:cNvPr>
          <p:cNvSpPr>
            <a:spLocks noGrp="1"/>
          </p:cNvSpPr>
          <p:nvPr/>
        </p:nvSpPr>
        <p:spPr>
          <a:xfrm>
            <a:off x="8269958" y="5226040"/>
            <a:ext cx="30150" cy="1055258"/>
          </a:xfrm>
          <a:custGeom>
            <a:avLst/>
            <a:gdLst/>
            <a:ahLst/>
            <a:cxnLst/>
            <a:rect l="l" t="t" r="r" b="b"/>
            <a:pathLst>
              <a:path w="30150" h="1055258">
                <a:moveTo>
                  <a:pt x="0" y="0"/>
                </a:moveTo>
                <a:lnTo>
                  <a:pt x="30150" y="0"/>
                </a:lnTo>
                <a:lnTo>
                  <a:pt x="30150" y="1055258"/>
                </a:lnTo>
                <a:lnTo>
                  <a:pt x="0" y="1055258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E1FF88D5-2D9C-4D27-B919-DD801148C9AA}"/>
              </a:ext>
            </a:extLst>
          </p:cNvPr>
          <p:cNvSpPr>
            <a:spLocks noGrp="1"/>
          </p:cNvSpPr>
          <p:nvPr/>
        </p:nvSpPr>
        <p:spPr>
          <a:xfrm>
            <a:off x="8435784" y="5326541"/>
            <a:ext cx="402003" cy="402003"/>
          </a:xfrm>
          <a:custGeom>
            <a:avLst/>
            <a:gdLst/>
            <a:ahLst/>
            <a:cxnLst/>
            <a:rect l="l" t="t" r="r" b="b"/>
            <a:pathLst>
              <a:path w="402003" h="402003">
                <a:moveTo>
                  <a:pt x="201002" y="0"/>
                </a:moveTo>
                <a:lnTo>
                  <a:pt x="201002" y="0"/>
                </a:lnTo>
                <a:cubicBezTo>
                  <a:pt x="311937" y="0"/>
                  <a:pt x="402003" y="90066"/>
                  <a:pt x="402003" y="201002"/>
                </a:cubicBezTo>
                <a:lnTo>
                  <a:pt x="402003" y="201002"/>
                </a:lnTo>
                <a:cubicBezTo>
                  <a:pt x="402003" y="311937"/>
                  <a:pt x="311937" y="402003"/>
                  <a:pt x="201002" y="402003"/>
                </a:cubicBezTo>
                <a:lnTo>
                  <a:pt x="201002" y="402003"/>
                </a:lnTo>
                <a:cubicBezTo>
                  <a:pt x="90066" y="402003"/>
                  <a:pt x="0" y="311937"/>
                  <a:pt x="0" y="201002"/>
                </a:cubicBezTo>
                <a:lnTo>
                  <a:pt x="0" y="201002"/>
                </a:lnTo>
                <a:cubicBezTo>
                  <a:pt x="0" y="90066"/>
                  <a:pt x="90066" y="0"/>
                  <a:pt x="201002" y="0"/>
                </a:cubicBez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1DA093EF-6C7D-4DC8-8D90-B46A5560A7A1}"/>
              </a:ext>
            </a:extLst>
          </p:cNvPr>
          <p:cNvSpPr>
            <a:spLocks noGrp="1"/>
          </p:cNvSpPr>
          <p:nvPr/>
        </p:nvSpPr>
        <p:spPr>
          <a:xfrm>
            <a:off x="8379252" y="5326541"/>
            <a:ext cx="515066" cy="4020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781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2</a:t>
            </a:r>
            <a:endParaRPr sz="1600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C7A80AAF-B523-400B-9DC0-D8E0A82B26EC}"/>
              </a:ext>
            </a:extLst>
          </p:cNvPr>
          <p:cNvSpPr>
            <a:spLocks noGrp="1"/>
          </p:cNvSpPr>
          <p:nvPr/>
        </p:nvSpPr>
        <p:spPr>
          <a:xfrm>
            <a:off x="8988538" y="5326541"/>
            <a:ext cx="6871740" cy="3015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583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Structured Validation</a:t>
            </a:r>
            <a:endParaRPr sz="1600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68E1C4BF-9826-4897-B83F-873CB9B7E0DE}"/>
              </a:ext>
            </a:extLst>
          </p:cNvPr>
          <p:cNvSpPr>
            <a:spLocks noGrp="1"/>
          </p:cNvSpPr>
          <p:nvPr/>
        </p:nvSpPr>
        <p:spPr>
          <a:xfrm>
            <a:off x="8988538" y="5678294"/>
            <a:ext cx="6859178" cy="502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385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Required coaching survives independently of optional research coding</a:t>
            </a:r>
            <a:endParaRPr sz="1600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7662260F-5E92-4D3D-80C0-541DFA87AE36}"/>
              </a:ext>
            </a:extLst>
          </p:cNvPr>
          <p:cNvSpPr>
            <a:spLocks noGrp="1"/>
          </p:cNvSpPr>
          <p:nvPr/>
        </p:nvSpPr>
        <p:spPr>
          <a:xfrm>
            <a:off x="8269958" y="6432049"/>
            <a:ext cx="30150" cy="804006"/>
          </a:xfrm>
          <a:custGeom>
            <a:avLst/>
            <a:gdLst/>
            <a:ahLst/>
            <a:cxnLst/>
            <a:rect l="l" t="t" r="r" b="b"/>
            <a:pathLst>
              <a:path w="30150" h="804006">
                <a:moveTo>
                  <a:pt x="0" y="0"/>
                </a:moveTo>
                <a:lnTo>
                  <a:pt x="30150" y="0"/>
                </a:lnTo>
                <a:lnTo>
                  <a:pt x="30150" y="804006"/>
                </a:lnTo>
                <a:lnTo>
                  <a:pt x="0" y="804006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4076A90B-8AB6-491C-8540-CCDBFC46D035}"/>
              </a:ext>
            </a:extLst>
          </p:cNvPr>
          <p:cNvSpPr>
            <a:spLocks noGrp="1"/>
          </p:cNvSpPr>
          <p:nvPr/>
        </p:nvSpPr>
        <p:spPr>
          <a:xfrm>
            <a:off x="8435784" y="6532550"/>
            <a:ext cx="402003" cy="402003"/>
          </a:xfrm>
          <a:custGeom>
            <a:avLst/>
            <a:gdLst/>
            <a:ahLst/>
            <a:cxnLst/>
            <a:rect l="l" t="t" r="r" b="b"/>
            <a:pathLst>
              <a:path w="402003" h="402003">
                <a:moveTo>
                  <a:pt x="201002" y="0"/>
                </a:moveTo>
                <a:lnTo>
                  <a:pt x="201002" y="0"/>
                </a:lnTo>
                <a:cubicBezTo>
                  <a:pt x="311937" y="0"/>
                  <a:pt x="402003" y="90066"/>
                  <a:pt x="402003" y="201002"/>
                </a:cubicBezTo>
                <a:lnTo>
                  <a:pt x="402003" y="201002"/>
                </a:lnTo>
                <a:cubicBezTo>
                  <a:pt x="402003" y="311937"/>
                  <a:pt x="311937" y="402003"/>
                  <a:pt x="201002" y="402003"/>
                </a:cubicBezTo>
                <a:lnTo>
                  <a:pt x="201002" y="402003"/>
                </a:lnTo>
                <a:cubicBezTo>
                  <a:pt x="90066" y="402003"/>
                  <a:pt x="0" y="311937"/>
                  <a:pt x="0" y="201002"/>
                </a:cubicBezTo>
                <a:lnTo>
                  <a:pt x="0" y="201002"/>
                </a:lnTo>
                <a:cubicBezTo>
                  <a:pt x="0" y="90066"/>
                  <a:pt x="90066" y="0"/>
                  <a:pt x="201002" y="0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AD253E24-7336-44A5-830E-F1B0E9CBBF49}"/>
              </a:ext>
            </a:extLst>
          </p:cNvPr>
          <p:cNvSpPr>
            <a:spLocks noGrp="1"/>
          </p:cNvSpPr>
          <p:nvPr/>
        </p:nvSpPr>
        <p:spPr>
          <a:xfrm>
            <a:off x="8379252" y="6532550"/>
            <a:ext cx="515066" cy="4020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781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3</a:t>
            </a:r>
            <a:endParaRPr sz="1600"/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6567AE66-01DE-4018-BD7F-339861B80BC9}"/>
              </a:ext>
            </a:extLst>
          </p:cNvPr>
          <p:cNvSpPr>
            <a:spLocks noGrp="1"/>
          </p:cNvSpPr>
          <p:nvPr/>
        </p:nvSpPr>
        <p:spPr>
          <a:xfrm>
            <a:off x="8988538" y="6532550"/>
            <a:ext cx="5891858" cy="3015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583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Evidence Conversion</a:t>
            </a:r>
            <a:endParaRPr sz="1600"/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28185C63-415E-440A-A37E-FC5B3551F8EF}"/>
              </a:ext>
            </a:extLst>
          </p:cNvPr>
          <p:cNvSpPr>
            <a:spLocks noGrp="1"/>
          </p:cNvSpPr>
          <p:nvPr/>
        </p:nvSpPr>
        <p:spPr>
          <a:xfrm>
            <a:off x="8988538" y="6884303"/>
            <a:ext cx="5879295" cy="2512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385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Match quotes to the current utterance, then persist offsets only</a:t>
            </a:r>
            <a:endParaRPr sz="1600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7ACCEA9A-A668-4A44-968C-E2EFDB001BF6}"/>
              </a:ext>
            </a:extLst>
          </p:cNvPr>
          <p:cNvSpPr>
            <a:spLocks noGrp="1"/>
          </p:cNvSpPr>
          <p:nvPr/>
        </p:nvSpPr>
        <p:spPr>
          <a:xfrm>
            <a:off x="8269958" y="7386807"/>
            <a:ext cx="30150" cy="804006"/>
          </a:xfrm>
          <a:custGeom>
            <a:avLst/>
            <a:gdLst/>
            <a:ahLst/>
            <a:cxnLst/>
            <a:rect l="l" t="t" r="r" b="b"/>
            <a:pathLst>
              <a:path w="30150" h="804006">
                <a:moveTo>
                  <a:pt x="0" y="0"/>
                </a:moveTo>
                <a:lnTo>
                  <a:pt x="30150" y="0"/>
                </a:lnTo>
                <a:lnTo>
                  <a:pt x="30150" y="804006"/>
                </a:lnTo>
                <a:lnTo>
                  <a:pt x="0" y="804006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91455C5B-20F2-4CEC-864C-84E80D0107B5}"/>
              </a:ext>
            </a:extLst>
          </p:cNvPr>
          <p:cNvSpPr>
            <a:spLocks noGrp="1"/>
          </p:cNvSpPr>
          <p:nvPr/>
        </p:nvSpPr>
        <p:spPr>
          <a:xfrm>
            <a:off x="8435784" y="7487308"/>
            <a:ext cx="402003" cy="402003"/>
          </a:xfrm>
          <a:custGeom>
            <a:avLst/>
            <a:gdLst/>
            <a:ahLst/>
            <a:cxnLst/>
            <a:rect l="l" t="t" r="r" b="b"/>
            <a:pathLst>
              <a:path w="402003" h="402003">
                <a:moveTo>
                  <a:pt x="201002" y="0"/>
                </a:moveTo>
                <a:lnTo>
                  <a:pt x="201002" y="0"/>
                </a:lnTo>
                <a:cubicBezTo>
                  <a:pt x="311937" y="0"/>
                  <a:pt x="402003" y="90066"/>
                  <a:pt x="402003" y="201002"/>
                </a:cubicBezTo>
                <a:lnTo>
                  <a:pt x="402003" y="201002"/>
                </a:lnTo>
                <a:cubicBezTo>
                  <a:pt x="402003" y="311937"/>
                  <a:pt x="311937" y="402003"/>
                  <a:pt x="201002" y="402003"/>
                </a:cubicBezTo>
                <a:lnTo>
                  <a:pt x="201002" y="402003"/>
                </a:lnTo>
                <a:cubicBezTo>
                  <a:pt x="90066" y="402003"/>
                  <a:pt x="0" y="311937"/>
                  <a:pt x="0" y="201002"/>
                </a:cubicBezTo>
                <a:lnTo>
                  <a:pt x="0" y="201002"/>
                </a:lnTo>
                <a:cubicBezTo>
                  <a:pt x="0" y="90066"/>
                  <a:pt x="90066" y="0"/>
                  <a:pt x="201002" y="0"/>
                </a:cubicBez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8558FC5D-2F34-41FB-87BD-456E2811ED9B}"/>
              </a:ext>
            </a:extLst>
          </p:cNvPr>
          <p:cNvSpPr>
            <a:spLocks noGrp="1"/>
          </p:cNvSpPr>
          <p:nvPr/>
        </p:nvSpPr>
        <p:spPr>
          <a:xfrm>
            <a:off x="8379252" y="7487308"/>
            <a:ext cx="515066" cy="4020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781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4</a:t>
            </a:r>
            <a:endParaRPr sz="1600"/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397B6184-E775-489A-8B60-8F0E0ECB3C4E}"/>
              </a:ext>
            </a:extLst>
          </p:cNvPr>
          <p:cNvSpPr>
            <a:spLocks noGrp="1"/>
          </p:cNvSpPr>
          <p:nvPr/>
        </p:nvSpPr>
        <p:spPr>
          <a:xfrm>
            <a:off x="8988538" y="7487308"/>
            <a:ext cx="5226040" cy="3015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583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Atomic Persistence</a:t>
            </a:r>
            <a:endParaRPr sz="1600"/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E2643E0C-3B52-4E18-80DC-293021C9634C}"/>
              </a:ext>
            </a:extLst>
          </p:cNvPr>
          <p:cNvSpPr>
            <a:spLocks noGrp="1"/>
          </p:cNvSpPr>
          <p:nvPr/>
        </p:nvSpPr>
        <p:spPr>
          <a:xfrm>
            <a:off x="8988538" y="7839060"/>
            <a:ext cx="5213478" cy="2512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385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Commit messages, assessment, transition and observation together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515193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8D3CE1C-8D23-4A8F-B9D3-8FE36A10CAEB}"/>
              </a:ext>
            </a:extLst>
          </p:cNvPr>
          <p:cNvSpPr>
            <a:spLocks noGrp="1"/>
          </p:cNvSpPr>
          <p:nvPr/>
        </p:nvSpPr>
        <p:spPr>
          <a:xfrm>
            <a:off x="508000" y="5080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829653A-A6F9-4D00-9D4C-C6FF9A4DA28F}"/>
              </a:ext>
            </a:extLst>
          </p:cNvPr>
          <p:cNvSpPr>
            <a:spLocks noGrp="1"/>
          </p:cNvSpPr>
          <p:nvPr/>
        </p:nvSpPr>
        <p:spPr>
          <a:xfrm>
            <a:off x="711200" y="635000"/>
            <a:ext cx="23114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spc="7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APP BOUNDARY</a:t>
            </a:r>
            <a:endParaRPr sz="1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8859BF3-B6AE-4DE4-82C0-B2A11E4CFAC4}"/>
              </a:ext>
            </a:extLst>
          </p:cNvPr>
          <p:cNvSpPr>
            <a:spLocks noGrp="1"/>
          </p:cNvSpPr>
          <p:nvPr/>
        </p:nvSpPr>
        <p:spPr>
          <a:xfrm>
            <a:off x="508000" y="11176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90000"/>
              </a:lnSpc>
              <a:buNone/>
            </a:pPr>
            <a:r>
              <a:rPr sz="36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FastAPI, Authentication &amp; Orchestration</a:t>
            </a:r>
            <a:endParaRPr sz="16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291B4D-5B22-47FB-A328-5DD9C871960B}"/>
              </a:ext>
            </a:extLst>
          </p:cNvPr>
          <p:cNvSpPr>
            <a:spLocks noGrp="1"/>
          </p:cNvSpPr>
          <p:nvPr/>
        </p:nvSpPr>
        <p:spPr>
          <a:xfrm>
            <a:off x="508000" y="17272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Routes coordinate typed services; business rules remain behind provider-neutral interfaces.</a:t>
            </a:r>
            <a:endParaRPr sz="16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7AC7E51-9812-47AF-9661-DA0D531A5B42}"/>
              </a:ext>
            </a:extLst>
          </p:cNvPr>
          <p:cNvSpPr>
            <a:spLocks noGrp="1"/>
          </p:cNvSpPr>
          <p:nvPr/>
        </p:nvSpPr>
        <p:spPr>
          <a:xfrm>
            <a:off x="525463" y="22987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3E89014-4D90-48A5-9C02-1321577F5866}"/>
              </a:ext>
            </a:extLst>
          </p:cNvPr>
          <p:cNvSpPr>
            <a:spLocks noGrp="1"/>
          </p:cNvSpPr>
          <p:nvPr/>
        </p:nvSpPr>
        <p:spPr>
          <a:xfrm>
            <a:off x="800100" y="2235200"/>
            <a:ext cx="73152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8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Protected API Groups</a:t>
            </a:r>
            <a:endParaRPr sz="1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BD86796-B1C2-4972-A8A7-D625B1C0CB6B}"/>
              </a:ext>
            </a:extLst>
          </p:cNvPr>
          <p:cNvSpPr>
            <a:spLocks noGrp="1"/>
          </p:cNvSpPr>
          <p:nvPr/>
        </p:nvSpPr>
        <p:spPr>
          <a:xfrm>
            <a:off x="523240" y="2743200"/>
            <a:ext cx="30480" cy="355600"/>
          </a:xfrm>
          <a:custGeom>
            <a:avLst/>
            <a:gdLst/>
            <a:ahLst/>
            <a:cxnLst/>
            <a:rect l="l" t="t" r="r" b="b"/>
            <a:pathLst>
              <a:path w="30480" h="355600">
                <a:moveTo>
                  <a:pt x="0" y="0"/>
                </a:moveTo>
                <a:lnTo>
                  <a:pt x="30480" y="0"/>
                </a:lnTo>
                <a:lnTo>
                  <a:pt x="3048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4660C74-2DCF-4332-94C2-899BB091AE9C}"/>
              </a:ext>
            </a:extLst>
          </p:cNvPr>
          <p:cNvSpPr>
            <a:spLocks noGrp="1"/>
          </p:cNvSpPr>
          <p:nvPr/>
        </p:nvSpPr>
        <p:spPr>
          <a:xfrm>
            <a:off x="640080" y="2794000"/>
            <a:ext cx="469900" cy="254000"/>
          </a:xfrm>
          <a:custGeom>
            <a:avLst/>
            <a:gdLst/>
            <a:ahLst/>
            <a:cxnLst/>
            <a:rect l="l" t="t" r="r" b="b"/>
            <a:pathLst>
              <a:path w="469900" h="254000">
                <a:moveTo>
                  <a:pt x="50800" y="0"/>
                </a:moveTo>
                <a:lnTo>
                  <a:pt x="419100" y="0"/>
                </a:lnTo>
                <a:cubicBezTo>
                  <a:pt x="447137" y="0"/>
                  <a:pt x="469900" y="22763"/>
                  <a:pt x="469900" y="50800"/>
                </a:cubicBezTo>
                <a:lnTo>
                  <a:pt x="469900" y="203200"/>
                </a:lnTo>
                <a:cubicBezTo>
                  <a:pt x="469900" y="231237"/>
                  <a:pt x="447137" y="254000"/>
                  <a:pt x="4191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5D61EFD-E052-473D-93E4-5F4694E02E1F}"/>
              </a:ext>
            </a:extLst>
          </p:cNvPr>
          <p:cNvSpPr>
            <a:spLocks noGrp="1"/>
          </p:cNvSpPr>
          <p:nvPr/>
        </p:nvSpPr>
        <p:spPr>
          <a:xfrm>
            <a:off x="640080" y="2794000"/>
            <a:ext cx="546100" cy="254000"/>
          </a:xfrm>
          <a:prstGeom prst="rect">
            <a:avLst/>
          </a:prstGeom>
          <a:noFill/>
        </p:spPr>
        <p:txBody>
          <a:bodyPr wrap="square" lIns="101600" tIns="25400" rIns="101600" bIns="25400" anchor="ctr"/>
          <a:lstStyle/>
          <a:p>
            <a:pPr>
              <a:lnSpc>
                <a:spcPct val="110000"/>
              </a:lnSpc>
              <a:buNone/>
            </a:pPr>
            <a:r>
              <a:rPr sz="1200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GET</a:t>
            </a:r>
            <a:endParaRPr sz="16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98AF842-6B0D-4423-81AE-9715D617E808}"/>
              </a:ext>
            </a:extLst>
          </p:cNvPr>
          <p:cNvSpPr>
            <a:spLocks noGrp="1"/>
          </p:cNvSpPr>
          <p:nvPr/>
        </p:nvSpPr>
        <p:spPr>
          <a:xfrm>
            <a:off x="1208088" y="2794000"/>
            <a:ext cx="190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endParaRPr sz="16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9857112-65ED-4E40-ADB4-7040C4AC8561}"/>
              </a:ext>
            </a:extLst>
          </p:cNvPr>
          <p:cNvSpPr>
            <a:spLocks noGrp="1"/>
          </p:cNvSpPr>
          <p:nvPr/>
        </p:nvSpPr>
        <p:spPr>
          <a:xfrm>
            <a:off x="1407478" y="2819400"/>
            <a:ext cx="18415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/health · liveness</a:t>
            </a:r>
            <a:endParaRPr sz="16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61E11ED-BE31-4E7E-B21A-FD6B90B2D5A1}"/>
              </a:ext>
            </a:extLst>
          </p:cNvPr>
          <p:cNvSpPr>
            <a:spLocks noGrp="1"/>
          </p:cNvSpPr>
          <p:nvPr/>
        </p:nvSpPr>
        <p:spPr>
          <a:xfrm>
            <a:off x="523240" y="3200400"/>
            <a:ext cx="30480" cy="355600"/>
          </a:xfrm>
          <a:custGeom>
            <a:avLst/>
            <a:gdLst/>
            <a:ahLst/>
            <a:cxnLst/>
            <a:rect l="l" t="t" r="r" b="b"/>
            <a:pathLst>
              <a:path w="30480" h="355600">
                <a:moveTo>
                  <a:pt x="0" y="0"/>
                </a:moveTo>
                <a:lnTo>
                  <a:pt x="30480" y="0"/>
                </a:lnTo>
                <a:lnTo>
                  <a:pt x="3048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7D2BEAC-9571-46A7-96BF-FBEA72971064}"/>
              </a:ext>
            </a:extLst>
          </p:cNvPr>
          <p:cNvSpPr>
            <a:spLocks noGrp="1"/>
          </p:cNvSpPr>
          <p:nvPr/>
        </p:nvSpPr>
        <p:spPr>
          <a:xfrm>
            <a:off x="640080" y="3251200"/>
            <a:ext cx="558800" cy="254000"/>
          </a:xfrm>
          <a:custGeom>
            <a:avLst/>
            <a:gdLst/>
            <a:ahLst/>
            <a:cxnLst/>
            <a:rect l="l" t="t" r="r" b="b"/>
            <a:pathLst>
              <a:path w="558800" h="254000">
                <a:moveTo>
                  <a:pt x="50800" y="0"/>
                </a:moveTo>
                <a:lnTo>
                  <a:pt x="508000" y="0"/>
                </a:lnTo>
                <a:cubicBezTo>
                  <a:pt x="536037" y="0"/>
                  <a:pt x="558800" y="22763"/>
                  <a:pt x="558800" y="50800"/>
                </a:cubicBezTo>
                <a:lnTo>
                  <a:pt x="558800" y="203200"/>
                </a:lnTo>
                <a:cubicBezTo>
                  <a:pt x="558800" y="231237"/>
                  <a:pt x="536037" y="254000"/>
                  <a:pt x="5080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8289D08-B92A-49F4-9DEE-4DC3FA5DAF4D}"/>
              </a:ext>
            </a:extLst>
          </p:cNvPr>
          <p:cNvSpPr>
            <a:spLocks noGrp="1"/>
          </p:cNvSpPr>
          <p:nvPr/>
        </p:nvSpPr>
        <p:spPr>
          <a:xfrm>
            <a:off x="640080" y="3251200"/>
            <a:ext cx="635000" cy="254000"/>
          </a:xfrm>
          <a:prstGeom prst="rect">
            <a:avLst/>
          </a:prstGeom>
          <a:noFill/>
        </p:spPr>
        <p:txBody>
          <a:bodyPr wrap="square" lIns="101600" tIns="25400" rIns="101600" bIns="25400" anchor="ctr"/>
          <a:lstStyle/>
          <a:p>
            <a:pPr>
              <a:lnSpc>
                <a:spcPct val="110000"/>
              </a:lnSpc>
              <a:buNone/>
            </a:pPr>
            <a:r>
              <a:rPr sz="12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GET</a:t>
            </a:r>
            <a:endParaRPr sz="16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BA34DD7-63F5-4927-90CB-B64A379FA495}"/>
              </a:ext>
            </a:extLst>
          </p:cNvPr>
          <p:cNvSpPr>
            <a:spLocks noGrp="1"/>
          </p:cNvSpPr>
          <p:nvPr/>
        </p:nvSpPr>
        <p:spPr>
          <a:xfrm>
            <a:off x="1306036" y="3251200"/>
            <a:ext cx="571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E0E2E5"/>
                </a:solidFill>
                <a:latin typeface="MiSans"/>
                <a:ea typeface="MiSans"/>
                <a:cs typeface="MiSans"/>
              </a:rPr>
              <a:t>/ready</a:t>
            </a:r>
            <a:endParaRPr sz="16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A08C112-2601-4D6C-8651-D4B4196DB53E}"/>
              </a:ext>
            </a:extLst>
          </p:cNvPr>
          <p:cNvSpPr>
            <a:spLocks noGrp="1"/>
          </p:cNvSpPr>
          <p:nvPr/>
        </p:nvSpPr>
        <p:spPr>
          <a:xfrm>
            <a:off x="1896427" y="3276600"/>
            <a:ext cx="28067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Database, storage and workflow contract</a:t>
            </a:r>
            <a:endParaRPr sz="16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628CF3B-A1DA-479E-82E7-486D78CDACD2}"/>
              </a:ext>
            </a:extLst>
          </p:cNvPr>
          <p:cNvSpPr>
            <a:spLocks noGrp="1"/>
          </p:cNvSpPr>
          <p:nvPr/>
        </p:nvSpPr>
        <p:spPr>
          <a:xfrm>
            <a:off x="523240" y="3657600"/>
            <a:ext cx="30480" cy="355600"/>
          </a:xfrm>
          <a:custGeom>
            <a:avLst/>
            <a:gdLst/>
            <a:ahLst/>
            <a:cxnLst/>
            <a:rect l="l" t="t" r="r" b="b"/>
            <a:pathLst>
              <a:path w="30480" h="355600">
                <a:moveTo>
                  <a:pt x="0" y="0"/>
                </a:moveTo>
                <a:lnTo>
                  <a:pt x="30480" y="0"/>
                </a:lnTo>
                <a:lnTo>
                  <a:pt x="3048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BD895D6-096E-4631-BDE7-CE8668B2CE32}"/>
              </a:ext>
            </a:extLst>
          </p:cNvPr>
          <p:cNvSpPr>
            <a:spLocks noGrp="1"/>
          </p:cNvSpPr>
          <p:nvPr/>
        </p:nvSpPr>
        <p:spPr>
          <a:xfrm>
            <a:off x="640080" y="3708400"/>
            <a:ext cx="558800" cy="254000"/>
          </a:xfrm>
          <a:custGeom>
            <a:avLst/>
            <a:gdLst/>
            <a:ahLst/>
            <a:cxnLst/>
            <a:rect l="l" t="t" r="r" b="b"/>
            <a:pathLst>
              <a:path w="558800" h="254000">
                <a:moveTo>
                  <a:pt x="50800" y="0"/>
                </a:moveTo>
                <a:lnTo>
                  <a:pt x="508000" y="0"/>
                </a:lnTo>
                <a:cubicBezTo>
                  <a:pt x="536037" y="0"/>
                  <a:pt x="558800" y="22763"/>
                  <a:pt x="558800" y="50800"/>
                </a:cubicBezTo>
                <a:lnTo>
                  <a:pt x="558800" y="203200"/>
                </a:lnTo>
                <a:cubicBezTo>
                  <a:pt x="558800" y="231237"/>
                  <a:pt x="536037" y="254000"/>
                  <a:pt x="5080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FC3D690-2487-4003-B579-772E3A94112D}"/>
              </a:ext>
            </a:extLst>
          </p:cNvPr>
          <p:cNvSpPr>
            <a:spLocks noGrp="1"/>
          </p:cNvSpPr>
          <p:nvPr/>
        </p:nvSpPr>
        <p:spPr>
          <a:xfrm>
            <a:off x="640080" y="3708400"/>
            <a:ext cx="635000" cy="254000"/>
          </a:xfrm>
          <a:prstGeom prst="rect">
            <a:avLst/>
          </a:prstGeom>
          <a:noFill/>
        </p:spPr>
        <p:txBody>
          <a:bodyPr wrap="square" lIns="101600" tIns="25400" rIns="101600" bIns="25400" anchor="ctr"/>
          <a:lstStyle/>
          <a:p>
            <a:pPr>
              <a:lnSpc>
                <a:spcPct val="110000"/>
              </a:lnSpc>
              <a:buNone/>
            </a:pPr>
            <a:r>
              <a:rPr sz="825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POST</a:t>
            </a:r>
            <a:endParaRPr sz="16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E45D6BA-81CA-4D4D-96DE-27BC88DB3742}"/>
              </a:ext>
            </a:extLst>
          </p:cNvPr>
          <p:cNvSpPr>
            <a:spLocks noGrp="1"/>
          </p:cNvSpPr>
          <p:nvPr/>
        </p:nvSpPr>
        <p:spPr>
          <a:xfrm>
            <a:off x="1306036" y="3708400"/>
            <a:ext cx="6731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E0E2E5"/>
                </a:solidFill>
                <a:latin typeface="MiSans"/>
                <a:ea typeface="MiSans"/>
                <a:cs typeface="MiSans"/>
              </a:rPr>
              <a:t>/coach</a:t>
            </a:r>
            <a:endParaRPr sz="16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A978606-20B4-47D2-B4E0-ABEAFF994481}"/>
              </a:ext>
            </a:extLst>
          </p:cNvPr>
          <p:cNvSpPr>
            <a:spLocks noGrp="1"/>
          </p:cNvSpPr>
          <p:nvPr/>
        </p:nvSpPr>
        <p:spPr>
          <a:xfrm>
            <a:off x="1994218" y="3733800"/>
            <a:ext cx="2540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One idempotent coaching turn</a:t>
            </a:r>
            <a:endParaRPr sz="16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9937F0D-CC74-4781-ABC6-4CDDED91F8D9}"/>
              </a:ext>
            </a:extLst>
          </p:cNvPr>
          <p:cNvSpPr>
            <a:spLocks noGrp="1"/>
          </p:cNvSpPr>
          <p:nvPr/>
        </p:nvSpPr>
        <p:spPr>
          <a:xfrm>
            <a:off x="523240" y="4114800"/>
            <a:ext cx="30480" cy="355600"/>
          </a:xfrm>
          <a:custGeom>
            <a:avLst/>
            <a:gdLst/>
            <a:ahLst/>
            <a:cxnLst/>
            <a:rect l="l" t="t" r="r" b="b"/>
            <a:pathLst>
              <a:path w="30480" h="355600">
                <a:moveTo>
                  <a:pt x="0" y="0"/>
                </a:moveTo>
                <a:lnTo>
                  <a:pt x="30480" y="0"/>
                </a:lnTo>
                <a:lnTo>
                  <a:pt x="3048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6BC4C7A6-1ADB-439C-8B76-66C494950568}"/>
              </a:ext>
            </a:extLst>
          </p:cNvPr>
          <p:cNvSpPr>
            <a:spLocks noGrp="1"/>
          </p:cNvSpPr>
          <p:nvPr/>
        </p:nvSpPr>
        <p:spPr>
          <a:xfrm>
            <a:off x="640080" y="4165600"/>
            <a:ext cx="469900" cy="254000"/>
          </a:xfrm>
          <a:custGeom>
            <a:avLst/>
            <a:gdLst/>
            <a:ahLst/>
            <a:cxnLst/>
            <a:rect l="l" t="t" r="r" b="b"/>
            <a:pathLst>
              <a:path w="469900" h="254000">
                <a:moveTo>
                  <a:pt x="50800" y="0"/>
                </a:moveTo>
                <a:lnTo>
                  <a:pt x="419100" y="0"/>
                </a:lnTo>
                <a:cubicBezTo>
                  <a:pt x="447137" y="0"/>
                  <a:pt x="469900" y="22763"/>
                  <a:pt x="469900" y="50800"/>
                </a:cubicBezTo>
                <a:lnTo>
                  <a:pt x="469900" y="203200"/>
                </a:lnTo>
                <a:cubicBezTo>
                  <a:pt x="469900" y="231237"/>
                  <a:pt x="447137" y="254000"/>
                  <a:pt x="4191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D2F54E7-E480-418D-84C3-0C28A20B6A68}"/>
              </a:ext>
            </a:extLst>
          </p:cNvPr>
          <p:cNvSpPr>
            <a:spLocks noGrp="1"/>
          </p:cNvSpPr>
          <p:nvPr/>
        </p:nvSpPr>
        <p:spPr>
          <a:xfrm>
            <a:off x="640080" y="4165600"/>
            <a:ext cx="546100" cy="254000"/>
          </a:xfrm>
          <a:prstGeom prst="rect">
            <a:avLst/>
          </a:prstGeom>
          <a:noFill/>
        </p:spPr>
        <p:txBody>
          <a:bodyPr wrap="square" lIns="101600" tIns="25400" rIns="101600" bIns="25400" anchor="ctr"/>
          <a:lstStyle/>
          <a:p>
            <a:pPr>
              <a:lnSpc>
                <a:spcPct val="110000"/>
              </a:lnSpc>
              <a:buNone/>
            </a:pPr>
            <a:r>
              <a:rPr sz="12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GET</a:t>
            </a:r>
            <a:endParaRPr sz="16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65D8C33-BF3F-43B5-B3E9-2BE3092D6949}"/>
              </a:ext>
            </a:extLst>
          </p:cNvPr>
          <p:cNvSpPr>
            <a:spLocks noGrp="1"/>
          </p:cNvSpPr>
          <p:nvPr/>
        </p:nvSpPr>
        <p:spPr>
          <a:xfrm>
            <a:off x="1208088" y="4165600"/>
            <a:ext cx="15494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E0E2E5"/>
                </a:solidFill>
                <a:latin typeface="MiSans"/>
                <a:ea typeface="MiSans"/>
                <a:cs typeface="MiSans"/>
              </a:rPr>
              <a:t>/notebooks</a:t>
            </a:r>
            <a:endParaRPr sz="16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41CA2C0-293B-4FBE-89C7-A4552D487075}"/>
              </a:ext>
            </a:extLst>
          </p:cNvPr>
          <p:cNvSpPr>
            <a:spLocks noGrp="1"/>
          </p:cNvSpPr>
          <p:nvPr/>
        </p:nvSpPr>
        <p:spPr>
          <a:xfrm>
            <a:off x="2776061" y="4191000"/>
            <a:ext cx="16002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Owner-scoped project workspace</a:t>
            </a:r>
            <a:endParaRPr sz="160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523DAC51-A2D0-4B81-839E-562C5B271183}"/>
              </a:ext>
            </a:extLst>
          </p:cNvPr>
          <p:cNvSpPr>
            <a:spLocks noGrp="1"/>
          </p:cNvSpPr>
          <p:nvPr/>
        </p:nvSpPr>
        <p:spPr>
          <a:xfrm>
            <a:off x="523240" y="4572000"/>
            <a:ext cx="30480" cy="355600"/>
          </a:xfrm>
          <a:custGeom>
            <a:avLst/>
            <a:gdLst/>
            <a:ahLst/>
            <a:cxnLst/>
            <a:rect l="l" t="t" r="r" b="b"/>
            <a:pathLst>
              <a:path w="30480" h="355600">
                <a:moveTo>
                  <a:pt x="0" y="0"/>
                </a:moveTo>
                <a:lnTo>
                  <a:pt x="30480" y="0"/>
                </a:lnTo>
                <a:lnTo>
                  <a:pt x="3048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142E02DB-24BC-434B-BF2B-B042866AAFCC}"/>
              </a:ext>
            </a:extLst>
          </p:cNvPr>
          <p:cNvSpPr>
            <a:spLocks noGrp="1"/>
          </p:cNvSpPr>
          <p:nvPr/>
        </p:nvSpPr>
        <p:spPr>
          <a:xfrm>
            <a:off x="640080" y="4622800"/>
            <a:ext cx="469900" cy="254000"/>
          </a:xfrm>
          <a:custGeom>
            <a:avLst/>
            <a:gdLst/>
            <a:ahLst/>
            <a:cxnLst/>
            <a:rect l="l" t="t" r="r" b="b"/>
            <a:pathLst>
              <a:path w="469900" h="254000">
                <a:moveTo>
                  <a:pt x="50800" y="0"/>
                </a:moveTo>
                <a:lnTo>
                  <a:pt x="419100" y="0"/>
                </a:lnTo>
                <a:cubicBezTo>
                  <a:pt x="447137" y="0"/>
                  <a:pt x="469900" y="22763"/>
                  <a:pt x="469900" y="50800"/>
                </a:cubicBezTo>
                <a:lnTo>
                  <a:pt x="469900" y="203200"/>
                </a:lnTo>
                <a:cubicBezTo>
                  <a:pt x="469900" y="231237"/>
                  <a:pt x="447137" y="254000"/>
                  <a:pt x="4191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1FAFEA1-FBB4-4222-B2F9-75F79E1DB325}"/>
              </a:ext>
            </a:extLst>
          </p:cNvPr>
          <p:cNvSpPr>
            <a:spLocks noGrp="1"/>
          </p:cNvSpPr>
          <p:nvPr/>
        </p:nvSpPr>
        <p:spPr>
          <a:xfrm>
            <a:off x="640080" y="4622800"/>
            <a:ext cx="546100" cy="254000"/>
          </a:xfrm>
          <a:prstGeom prst="rect">
            <a:avLst/>
          </a:prstGeom>
          <a:noFill/>
        </p:spPr>
        <p:txBody>
          <a:bodyPr wrap="square" lIns="101600" tIns="25400" rIns="101600" bIns="25400" anchor="ctr"/>
          <a:lstStyle/>
          <a:p>
            <a:pPr>
              <a:lnSpc>
                <a:spcPct val="110000"/>
              </a:lnSpc>
              <a:buNone/>
            </a:pPr>
            <a:r>
              <a:rPr sz="825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PATCH</a:t>
            </a:r>
            <a:endParaRPr sz="16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4C6AC488-DF36-4F69-A96A-85F254CF08B6}"/>
              </a:ext>
            </a:extLst>
          </p:cNvPr>
          <p:cNvSpPr>
            <a:spLocks noGrp="1"/>
          </p:cNvSpPr>
          <p:nvPr/>
        </p:nvSpPr>
        <p:spPr>
          <a:xfrm>
            <a:off x="1208088" y="4622800"/>
            <a:ext cx="19431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E0E2E5"/>
                </a:solidFill>
                <a:latin typeface="MiSans"/>
                <a:ea typeface="MiSans"/>
                <a:cs typeface="MiSans"/>
              </a:rPr>
              <a:t>/notebooks/{id}</a:t>
            </a:r>
            <a:endParaRPr sz="16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C091C862-B1DE-4B57-A600-1F0B1D034716}"/>
              </a:ext>
            </a:extLst>
          </p:cNvPr>
          <p:cNvSpPr>
            <a:spLocks noGrp="1"/>
          </p:cNvSpPr>
          <p:nvPr/>
        </p:nvSpPr>
        <p:spPr>
          <a:xfrm>
            <a:off x="3167063" y="4648200"/>
            <a:ext cx="18415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Rename and coaching preferences</a:t>
            </a:r>
            <a:endParaRPr sz="160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16B1A60A-E1E1-46CD-940C-3781E7EC0740}"/>
              </a:ext>
            </a:extLst>
          </p:cNvPr>
          <p:cNvSpPr>
            <a:spLocks noGrp="1"/>
          </p:cNvSpPr>
          <p:nvPr/>
        </p:nvSpPr>
        <p:spPr>
          <a:xfrm>
            <a:off x="523240" y="5029200"/>
            <a:ext cx="30480" cy="355600"/>
          </a:xfrm>
          <a:custGeom>
            <a:avLst/>
            <a:gdLst/>
            <a:ahLst/>
            <a:cxnLst/>
            <a:rect l="l" t="t" r="r" b="b"/>
            <a:pathLst>
              <a:path w="30480" h="355600">
                <a:moveTo>
                  <a:pt x="0" y="0"/>
                </a:moveTo>
                <a:lnTo>
                  <a:pt x="30480" y="0"/>
                </a:lnTo>
                <a:lnTo>
                  <a:pt x="3048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DCB3CD22-DF2D-42D7-93A7-DE4676C6893F}"/>
              </a:ext>
            </a:extLst>
          </p:cNvPr>
          <p:cNvSpPr>
            <a:spLocks noGrp="1"/>
          </p:cNvSpPr>
          <p:nvPr/>
        </p:nvSpPr>
        <p:spPr>
          <a:xfrm>
            <a:off x="640080" y="5080000"/>
            <a:ext cx="469900" cy="254000"/>
          </a:xfrm>
          <a:custGeom>
            <a:avLst/>
            <a:gdLst/>
            <a:ahLst/>
            <a:cxnLst/>
            <a:rect l="l" t="t" r="r" b="b"/>
            <a:pathLst>
              <a:path w="469900" h="254000">
                <a:moveTo>
                  <a:pt x="50800" y="0"/>
                </a:moveTo>
                <a:lnTo>
                  <a:pt x="419100" y="0"/>
                </a:lnTo>
                <a:cubicBezTo>
                  <a:pt x="447137" y="0"/>
                  <a:pt x="469900" y="22763"/>
                  <a:pt x="469900" y="50800"/>
                </a:cubicBezTo>
                <a:lnTo>
                  <a:pt x="469900" y="203200"/>
                </a:lnTo>
                <a:cubicBezTo>
                  <a:pt x="469900" y="231237"/>
                  <a:pt x="447137" y="254000"/>
                  <a:pt x="4191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B8412BE2-4A69-4507-9D6A-7ACA1B162D62}"/>
              </a:ext>
            </a:extLst>
          </p:cNvPr>
          <p:cNvSpPr>
            <a:spLocks noGrp="1"/>
          </p:cNvSpPr>
          <p:nvPr/>
        </p:nvSpPr>
        <p:spPr>
          <a:xfrm>
            <a:off x="640080" y="5080000"/>
            <a:ext cx="546100" cy="254000"/>
          </a:xfrm>
          <a:prstGeom prst="rect">
            <a:avLst/>
          </a:prstGeom>
          <a:noFill/>
        </p:spPr>
        <p:txBody>
          <a:bodyPr wrap="square" lIns="101600" tIns="25400" rIns="101600" bIns="25400" anchor="ctr"/>
          <a:lstStyle/>
          <a:p>
            <a:pPr>
              <a:lnSpc>
                <a:spcPct val="110000"/>
              </a:lnSpc>
              <a:buNone/>
            </a:pPr>
            <a:r>
              <a:rPr sz="825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POST</a:t>
            </a:r>
            <a:endParaRPr sz="160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AABC1105-37C7-4BDE-AF65-4AED10F2409C}"/>
              </a:ext>
            </a:extLst>
          </p:cNvPr>
          <p:cNvSpPr>
            <a:spLocks noGrp="1"/>
          </p:cNvSpPr>
          <p:nvPr/>
        </p:nvSpPr>
        <p:spPr>
          <a:xfrm>
            <a:off x="1208088" y="5080000"/>
            <a:ext cx="1358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E0E2E5"/>
                </a:solidFill>
                <a:latin typeface="MiSans"/>
                <a:ea typeface="MiSans"/>
                <a:cs typeface="MiSans"/>
              </a:rPr>
              <a:t>/select-stage</a:t>
            </a:r>
            <a:endParaRPr sz="160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B2D0E892-2FAA-4663-9514-8BD37BDE3607}"/>
              </a:ext>
            </a:extLst>
          </p:cNvPr>
          <p:cNvSpPr>
            <a:spLocks noGrp="1"/>
          </p:cNvSpPr>
          <p:nvPr/>
        </p:nvSpPr>
        <p:spPr>
          <a:xfrm>
            <a:off x="2580640" y="5105400"/>
            <a:ext cx="21336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Phase 2 audited selection</a:t>
            </a:r>
            <a:endParaRPr sz="160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A776DCE-7B7C-4A93-9F44-BB9C503187EA}"/>
              </a:ext>
            </a:extLst>
          </p:cNvPr>
          <p:cNvSpPr>
            <a:spLocks noGrp="1"/>
          </p:cNvSpPr>
          <p:nvPr/>
        </p:nvSpPr>
        <p:spPr>
          <a:xfrm>
            <a:off x="523240" y="5486400"/>
            <a:ext cx="30480" cy="355600"/>
          </a:xfrm>
          <a:custGeom>
            <a:avLst/>
            <a:gdLst/>
            <a:ahLst/>
            <a:cxnLst/>
            <a:rect l="l" t="t" r="r" b="b"/>
            <a:pathLst>
              <a:path w="30480" h="355600">
                <a:moveTo>
                  <a:pt x="0" y="0"/>
                </a:moveTo>
                <a:lnTo>
                  <a:pt x="30480" y="0"/>
                </a:lnTo>
                <a:lnTo>
                  <a:pt x="30480" y="355600"/>
                </a:lnTo>
                <a:lnTo>
                  <a:pt x="0" y="3556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335F6E54-3320-481D-9ED2-4E9D882E82DC}"/>
              </a:ext>
            </a:extLst>
          </p:cNvPr>
          <p:cNvSpPr>
            <a:spLocks noGrp="1"/>
          </p:cNvSpPr>
          <p:nvPr/>
        </p:nvSpPr>
        <p:spPr>
          <a:xfrm>
            <a:off x="640080" y="5537200"/>
            <a:ext cx="469900" cy="254000"/>
          </a:xfrm>
          <a:custGeom>
            <a:avLst/>
            <a:gdLst/>
            <a:ahLst/>
            <a:cxnLst/>
            <a:rect l="l" t="t" r="r" b="b"/>
            <a:pathLst>
              <a:path w="469900" h="254000">
                <a:moveTo>
                  <a:pt x="50800" y="0"/>
                </a:moveTo>
                <a:lnTo>
                  <a:pt x="419100" y="0"/>
                </a:lnTo>
                <a:cubicBezTo>
                  <a:pt x="447137" y="0"/>
                  <a:pt x="469900" y="22763"/>
                  <a:pt x="469900" y="50800"/>
                </a:cubicBezTo>
                <a:lnTo>
                  <a:pt x="469900" y="203200"/>
                </a:lnTo>
                <a:cubicBezTo>
                  <a:pt x="469900" y="231237"/>
                  <a:pt x="447137" y="254000"/>
                  <a:pt x="4191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E688564A-A232-4092-8BB4-BC396058F4AA}"/>
              </a:ext>
            </a:extLst>
          </p:cNvPr>
          <p:cNvSpPr>
            <a:spLocks noGrp="1"/>
          </p:cNvSpPr>
          <p:nvPr/>
        </p:nvSpPr>
        <p:spPr>
          <a:xfrm>
            <a:off x="640080" y="5537200"/>
            <a:ext cx="546100" cy="254000"/>
          </a:xfrm>
          <a:prstGeom prst="rect">
            <a:avLst/>
          </a:prstGeom>
          <a:noFill/>
        </p:spPr>
        <p:txBody>
          <a:bodyPr wrap="square" lIns="101600" tIns="25400" rIns="101600" bIns="25400" anchor="ctr"/>
          <a:lstStyle/>
          <a:p>
            <a:pPr>
              <a:lnSpc>
                <a:spcPct val="110000"/>
              </a:lnSpc>
              <a:buNone/>
            </a:pPr>
            <a:r>
              <a:rPr sz="1200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GET</a:t>
            </a:r>
            <a:endParaRPr sz="160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3A70908A-25EE-4CAD-8A62-E250E58302F6}"/>
              </a:ext>
            </a:extLst>
          </p:cNvPr>
          <p:cNvSpPr>
            <a:spLocks noGrp="1"/>
          </p:cNvSpPr>
          <p:nvPr/>
        </p:nvSpPr>
        <p:spPr>
          <a:xfrm>
            <a:off x="1208088" y="5537200"/>
            <a:ext cx="17526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E0E2E5"/>
                </a:solidFill>
                <a:latin typeface="MiSans"/>
                <a:ea typeface="MiSans"/>
                <a:cs typeface="MiSans"/>
              </a:rPr>
              <a:t>/professor/research/*</a:t>
            </a:r>
            <a:endParaRPr sz="160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9E2A8221-B066-48CE-9831-038F6E7DBCA4}"/>
              </a:ext>
            </a:extLst>
          </p:cNvPr>
          <p:cNvSpPr>
            <a:spLocks noGrp="1"/>
          </p:cNvSpPr>
          <p:nvPr/>
        </p:nvSpPr>
        <p:spPr>
          <a:xfrm>
            <a:off x="2971641" y="5562600"/>
            <a:ext cx="17653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Lecturer-only research views</a:t>
            </a:r>
            <a:endParaRPr sz="160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0006E55E-6E12-4A5E-95F0-EF4BAE71CFDA}"/>
              </a:ext>
            </a:extLst>
          </p:cNvPr>
          <p:cNvSpPr>
            <a:spLocks noGrp="1"/>
          </p:cNvSpPr>
          <p:nvPr/>
        </p:nvSpPr>
        <p:spPr>
          <a:xfrm>
            <a:off x="8258175" y="22987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100013"/>
                </a:moveTo>
                <a:cubicBezTo>
                  <a:pt x="168503" y="100013"/>
                  <a:pt x="189309" y="79206"/>
                  <a:pt x="189309" y="53578"/>
                </a:cubicBezTo>
                <a:cubicBezTo>
                  <a:pt x="189309" y="27950"/>
                  <a:pt x="168503" y="7144"/>
                  <a:pt x="142875" y="7144"/>
                </a:cubicBezTo>
                <a:cubicBezTo>
                  <a:pt x="117247" y="7144"/>
                  <a:pt x="96441" y="27950"/>
                  <a:pt x="96441" y="53578"/>
                </a:cubicBezTo>
                <a:cubicBezTo>
                  <a:pt x="96441" y="79206"/>
                  <a:pt x="117247" y="100013"/>
                  <a:pt x="142875" y="100013"/>
                </a:cubicBezTo>
                <a:close/>
                <a:moveTo>
                  <a:pt x="42863" y="103584"/>
                </a:moveTo>
                <a:cubicBezTo>
                  <a:pt x="60605" y="103584"/>
                  <a:pt x="75009" y="89180"/>
                  <a:pt x="75009" y="71438"/>
                </a:cubicBezTo>
                <a:cubicBezTo>
                  <a:pt x="75009" y="53695"/>
                  <a:pt x="60605" y="39291"/>
                  <a:pt x="42863" y="39291"/>
                </a:cubicBezTo>
                <a:cubicBezTo>
                  <a:pt x="25120" y="39291"/>
                  <a:pt x="10716" y="53695"/>
                  <a:pt x="10716" y="71438"/>
                </a:cubicBezTo>
                <a:cubicBezTo>
                  <a:pt x="10716" y="89180"/>
                  <a:pt x="25120" y="103584"/>
                  <a:pt x="42862" y="103584"/>
                </a:cubicBezTo>
                <a:close/>
                <a:moveTo>
                  <a:pt x="0" y="185738"/>
                </a:moveTo>
                <a:lnTo>
                  <a:pt x="0" y="200025"/>
                </a:lnTo>
                <a:cubicBezTo>
                  <a:pt x="0" y="207928"/>
                  <a:pt x="6385" y="214313"/>
                  <a:pt x="14288" y="214313"/>
                </a:cubicBezTo>
                <a:lnTo>
                  <a:pt x="52998" y="214313"/>
                </a:lnTo>
                <a:cubicBezTo>
                  <a:pt x="51078" y="209937"/>
                  <a:pt x="50006" y="205115"/>
                  <a:pt x="50006" y="200025"/>
                </a:cubicBezTo>
                <a:lnTo>
                  <a:pt x="50006" y="192881"/>
                </a:lnTo>
                <a:cubicBezTo>
                  <a:pt x="50006" y="169128"/>
                  <a:pt x="58936" y="147429"/>
                  <a:pt x="73625" y="130999"/>
                </a:cubicBezTo>
                <a:cubicBezTo>
                  <a:pt x="68401" y="129436"/>
                  <a:pt x="62865" y="128588"/>
                  <a:pt x="57150" y="128588"/>
                </a:cubicBezTo>
                <a:cubicBezTo>
                  <a:pt x="25584" y="128588"/>
                  <a:pt x="0" y="154171"/>
                  <a:pt x="0" y="185738"/>
                </a:cubicBezTo>
                <a:close/>
                <a:moveTo>
                  <a:pt x="275034" y="71438"/>
                </a:moveTo>
                <a:cubicBezTo>
                  <a:pt x="275034" y="53695"/>
                  <a:pt x="260630" y="39291"/>
                  <a:pt x="242888" y="39291"/>
                </a:cubicBezTo>
                <a:cubicBezTo>
                  <a:pt x="225145" y="39291"/>
                  <a:pt x="210741" y="53695"/>
                  <a:pt x="210741" y="71438"/>
                </a:cubicBezTo>
                <a:cubicBezTo>
                  <a:pt x="210741" y="89180"/>
                  <a:pt x="225145" y="103584"/>
                  <a:pt x="242888" y="103584"/>
                </a:cubicBezTo>
                <a:cubicBezTo>
                  <a:pt x="260630" y="103584"/>
                  <a:pt x="275034" y="89180"/>
                  <a:pt x="275034" y="71438"/>
                </a:cubicBezTo>
                <a:close/>
                <a:moveTo>
                  <a:pt x="71438" y="192881"/>
                </a:moveTo>
                <a:lnTo>
                  <a:pt x="71438" y="200025"/>
                </a:lnTo>
                <a:cubicBezTo>
                  <a:pt x="71438" y="207928"/>
                  <a:pt x="77822" y="214313"/>
                  <a:pt x="85725" y="214313"/>
                </a:cubicBezTo>
                <a:lnTo>
                  <a:pt x="155734" y="214313"/>
                </a:lnTo>
                <a:cubicBezTo>
                  <a:pt x="152564" y="204668"/>
                  <a:pt x="152921" y="194489"/>
                  <a:pt x="160511" y="185738"/>
                </a:cubicBezTo>
                <a:cubicBezTo>
                  <a:pt x="154260" y="178504"/>
                  <a:pt x="151358" y="168012"/>
                  <a:pt x="155421" y="157475"/>
                </a:cubicBezTo>
                <a:cubicBezTo>
                  <a:pt x="158368" y="149840"/>
                  <a:pt x="162520" y="142696"/>
                  <a:pt x="167655" y="136356"/>
                </a:cubicBezTo>
                <a:cubicBezTo>
                  <a:pt x="170066" y="133410"/>
                  <a:pt x="172834" y="131132"/>
                  <a:pt x="175826" y="129480"/>
                </a:cubicBezTo>
                <a:cubicBezTo>
                  <a:pt x="165958" y="124346"/>
                  <a:pt x="154751" y="121444"/>
                  <a:pt x="142875" y="121444"/>
                </a:cubicBezTo>
                <a:cubicBezTo>
                  <a:pt x="103406" y="121444"/>
                  <a:pt x="71438" y="153412"/>
                  <a:pt x="71438" y="192881"/>
                </a:cubicBezTo>
                <a:close/>
                <a:moveTo>
                  <a:pt x="278874" y="173191"/>
                </a:moveTo>
                <a:cubicBezTo>
                  <a:pt x="281687" y="171584"/>
                  <a:pt x="283116" y="168235"/>
                  <a:pt x="281910" y="165155"/>
                </a:cubicBezTo>
                <a:cubicBezTo>
                  <a:pt x="279767" y="159618"/>
                  <a:pt x="276776" y="154394"/>
                  <a:pt x="273025" y="149796"/>
                </a:cubicBezTo>
                <a:cubicBezTo>
                  <a:pt x="270971" y="147251"/>
                  <a:pt x="267355" y="146804"/>
                  <a:pt x="264542" y="148456"/>
                </a:cubicBezTo>
                <a:cubicBezTo>
                  <a:pt x="254809" y="154082"/>
                  <a:pt x="242843" y="147206"/>
                  <a:pt x="242843" y="135910"/>
                </a:cubicBezTo>
                <a:cubicBezTo>
                  <a:pt x="242843" y="132651"/>
                  <a:pt x="240655" y="129748"/>
                  <a:pt x="237440" y="129257"/>
                </a:cubicBezTo>
                <a:cubicBezTo>
                  <a:pt x="231681" y="128364"/>
                  <a:pt x="225475" y="128364"/>
                  <a:pt x="219715" y="129257"/>
                </a:cubicBezTo>
                <a:cubicBezTo>
                  <a:pt x="216500" y="129748"/>
                  <a:pt x="214312" y="132651"/>
                  <a:pt x="214312" y="135910"/>
                </a:cubicBezTo>
                <a:cubicBezTo>
                  <a:pt x="214312" y="147161"/>
                  <a:pt x="202347" y="154082"/>
                  <a:pt x="192613" y="148456"/>
                </a:cubicBezTo>
                <a:cubicBezTo>
                  <a:pt x="189801" y="146849"/>
                  <a:pt x="186184" y="147295"/>
                  <a:pt x="184130" y="149796"/>
                </a:cubicBezTo>
                <a:cubicBezTo>
                  <a:pt x="180380" y="154394"/>
                  <a:pt x="177388" y="159618"/>
                  <a:pt x="175245" y="165155"/>
                </a:cubicBezTo>
                <a:cubicBezTo>
                  <a:pt x="174084" y="168191"/>
                  <a:pt x="175468" y="171539"/>
                  <a:pt x="178281" y="173147"/>
                </a:cubicBezTo>
                <a:cubicBezTo>
                  <a:pt x="188059" y="178772"/>
                  <a:pt x="188059" y="192569"/>
                  <a:pt x="178281" y="198239"/>
                </a:cubicBezTo>
                <a:cubicBezTo>
                  <a:pt x="175468" y="199846"/>
                  <a:pt x="174040" y="203195"/>
                  <a:pt x="175245" y="206231"/>
                </a:cubicBezTo>
                <a:cubicBezTo>
                  <a:pt x="177388" y="211768"/>
                  <a:pt x="180380" y="216991"/>
                  <a:pt x="184130" y="221590"/>
                </a:cubicBezTo>
                <a:cubicBezTo>
                  <a:pt x="186184" y="224135"/>
                  <a:pt x="189801" y="224582"/>
                  <a:pt x="192613" y="222930"/>
                </a:cubicBezTo>
                <a:cubicBezTo>
                  <a:pt x="202347" y="217304"/>
                  <a:pt x="214312" y="224224"/>
                  <a:pt x="214312" y="235476"/>
                </a:cubicBezTo>
                <a:cubicBezTo>
                  <a:pt x="214312" y="238735"/>
                  <a:pt x="216500" y="241637"/>
                  <a:pt x="219715" y="242128"/>
                </a:cubicBezTo>
                <a:cubicBezTo>
                  <a:pt x="225475" y="243021"/>
                  <a:pt x="231681" y="243021"/>
                  <a:pt x="237440" y="242128"/>
                </a:cubicBezTo>
                <a:cubicBezTo>
                  <a:pt x="240655" y="241637"/>
                  <a:pt x="242843" y="238735"/>
                  <a:pt x="242843" y="235476"/>
                </a:cubicBezTo>
                <a:cubicBezTo>
                  <a:pt x="242843" y="224224"/>
                  <a:pt x="254809" y="217304"/>
                  <a:pt x="264542" y="222930"/>
                </a:cubicBezTo>
                <a:cubicBezTo>
                  <a:pt x="267355" y="224537"/>
                  <a:pt x="270971" y="224091"/>
                  <a:pt x="273025" y="221590"/>
                </a:cubicBezTo>
                <a:cubicBezTo>
                  <a:pt x="276776" y="216991"/>
                  <a:pt x="279767" y="211768"/>
                  <a:pt x="281910" y="206231"/>
                </a:cubicBezTo>
                <a:cubicBezTo>
                  <a:pt x="283071" y="203195"/>
                  <a:pt x="281687" y="199846"/>
                  <a:pt x="278874" y="198239"/>
                </a:cubicBezTo>
                <a:cubicBezTo>
                  <a:pt x="269096" y="192613"/>
                  <a:pt x="269096" y="178817"/>
                  <a:pt x="278874" y="173147"/>
                </a:cubicBezTo>
                <a:close/>
                <a:moveTo>
                  <a:pt x="210741" y="185738"/>
                </a:moveTo>
                <a:cubicBezTo>
                  <a:pt x="210741" y="175881"/>
                  <a:pt x="218743" y="167878"/>
                  <a:pt x="228600" y="167878"/>
                </a:cubicBezTo>
                <a:cubicBezTo>
                  <a:pt x="238457" y="167878"/>
                  <a:pt x="246459" y="175881"/>
                  <a:pt x="246459" y="185738"/>
                </a:cubicBezTo>
                <a:cubicBezTo>
                  <a:pt x="246459" y="195594"/>
                  <a:pt x="238457" y="203597"/>
                  <a:pt x="228600" y="203597"/>
                </a:cubicBezTo>
                <a:cubicBezTo>
                  <a:pt x="218743" y="203597"/>
                  <a:pt x="210741" y="195594"/>
                  <a:pt x="210741" y="185738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A2A81E28-7148-4F96-9EC7-F8F69F906B2D}"/>
              </a:ext>
            </a:extLst>
          </p:cNvPr>
          <p:cNvSpPr>
            <a:spLocks noGrp="1"/>
          </p:cNvSpPr>
          <p:nvPr/>
        </p:nvSpPr>
        <p:spPr>
          <a:xfrm>
            <a:off x="8547100" y="2235200"/>
            <a:ext cx="73152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8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Provider-Neutral Orchestration</a:t>
            </a:r>
            <a:endParaRPr sz="160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0CA6D48C-29D8-4764-9704-E7E3A5549AD9}"/>
              </a:ext>
            </a:extLst>
          </p:cNvPr>
          <p:cNvSpPr>
            <a:spLocks noGrp="1"/>
          </p:cNvSpPr>
          <p:nvPr/>
        </p:nvSpPr>
        <p:spPr>
          <a:xfrm>
            <a:off x="8270240" y="2743200"/>
            <a:ext cx="30480" cy="812800"/>
          </a:xfrm>
          <a:custGeom>
            <a:avLst/>
            <a:gdLst/>
            <a:ahLst/>
            <a:cxnLst/>
            <a:rect l="l" t="t" r="r" b="b"/>
            <a:pathLst>
              <a:path w="30480" h="812800">
                <a:moveTo>
                  <a:pt x="0" y="0"/>
                </a:moveTo>
                <a:lnTo>
                  <a:pt x="30480" y="0"/>
                </a:lnTo>
                <a:lnTo>
                  <a:pt x="3048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8784E96F-C6E6-4230-825D-7B1FE22CBA22}"/>
              </a:ext>
            </a:extLst>
          </p:cNvPr>
          <p:cNvSpPr>
            <a:spLocks noGrp="1"/>
          </p:cNvSpPr>
          <p:nvPr/>
        </p:nvSpPr>
        <p:spPr>
          <a:xfrm>
            <a:off x="8441055" y="2908300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122238" y="0"/>
                </a:moveTo>
                <a:cubicBezTo>
                  <a:pt x="122238" y="-6147"/>
                  <a:pt x="117272" y="-11112"/>
                  <a:pt x="111125" y="-11112"/>
                </a:cubicBezTo>
                <a:cubicBezTo>
                  <a:pt x="104978" y="-11112"/>
                  <a:pt x="100013" y="-6147"/>
                  <a:pt x="100013" y="0"/>
                </a:cubicBezTo>
                <a:lnTo>
                  <a:pt x="100013" y="22225"/>
                </a:lnTo>
                <a:lnTo>
                  <a:pt x="66675" y="22225"/>
                </a:lnTo>
                <a:cubicBezTo>
                  <a:pt x="48270" y="22225"/>
                  <a:pt x="33337" y="37157"/>
                  <a:pt x="33337" y="55563"/>
                </a:cubicBezTo>
                <a:lnTo>
                  <a:pt x="33337" y="133350"/>
                </a:lnTo>
                <a:cubicBezTo>
                  <a:pt x="33337" y="151755"/>
                  <a:pt x="48270" y="166688"/>
                  <a:pt x="66675" y="166688"/>
                </a:cubicBezTo>
                <a:lnTo>
                  <a:pt x="155575" y="166688"/>
                </a:lnTo>
                <a:cubicBezTo>
                  <a:pt x="173980" y="166688"/>
                  <a:pt x="188913" y="151755"/>
                  <a:pt x="188913" y="133350"/>
                </a:cubicBezTo>
                <a:lnTo>
                  <a:pt x="188913" y="55563"/>
                </a:lnTo>
                <a:cubicBezTo>
                  <a:pt x="188913" y="37157"/>
                  <a:pt x="173980" y="22225"/>
                  <a:pt x="155575" y="22225"/>
                </a:cubicBezTo>
                <a:lnTo>
                  <a:pt x="122238" y="22225"/>
                </a:lnTo>
                <a:lnTo>
                  <a:pt x="122238" y="0"/>
                </a:lnTo>
                <a:close/>
                <a:moveTo>
                  <a:pt x="55563" y="127794"/>
                </a:moveTo>
                <a:cubicBezTo>
                  <a:pt x="55563" y="123175"/>
                  <a:pt x="59278" y="119459"/>
                  <a:pt x="63897" y="119459"/>
                </a:cubicBezTo>
                <a:lnTo>
                  <a:pt x="75009" y="119459"/>
                </a:lnTo>
                <a:cubicBezTo>
                  <a:pt x="79628" y="119459"/>
                  <a:pt x="83344" y="123175"/>
                  <a:pt x="83344" y="127794"/>
                </a:cubicBezTo>
                <a:cubicBezTo>
                  <a:pt x="83344" y="132412"/>
                  <a:pt x="79628" y="136128"/>
                  <a:pt x="75009" y="136128"/>
                </a:cubicBezTo>
                <a:lnTo>
                  <a:pt x="63897" y="136128"/>
                </a:lnTo>
                <a:cubicBezTo>
                  <a:pt x="59278" y="136128"/>
                  <a:pt x="55563" y="132412"/>
                  <a:pt x="55563" y="127794"/>
                </a:cubicBezTo>
                <a:close/>
                <a:moveTo>
                  <a:pt x="97234" y="127794"/>
                </a:moveTo>
                <a:cubicBezTo>
                  <a:pt x="97234" y="123175"/>
                  <a:pt x="100950" y="119459"/>
                  <a:pt x="105569" y="119459"/>
                </a:cubicBezTo>
                <a:lnTo>
                  <a:pt x="116681" y="119459"/>
                </a:lnTo>
                <a:cubicBezTo>
                  <a:pt x="121300" y="119459"/>
                  <a:pt x="125016" y="123175"/>
                  <a:pt x="125016" y="127794"/>
                </a:cubicBezTo>
                <a:cubicBezTo>
                  <a:pt x="125016" y="132412"/>
                  <a:pt x="121300" y="136128"/>
                  <a:pt x="116681" y="136128"/>
                </a:cubicBezTo>
                <a:lnTo>
                  <a:pt x="105569" y="136128"/>
                </a:lnTo>
                <a:cubicBezTo>
                  <a:pt x="100950" y="136128"/>
                  <a:pt x="97234" y="132412"/>
                  <a:pt x="97234" y="127794"/>
                </a:cubicBezTo>
                <a:close/>
                <a:moveTo>
                  <a:pt x="138906" y="127794"/>
                </a:moveTo>
                <a:cubicBezTo>
                  <a:pt x="138906" y="123175"/>
                  <a:pt x="142622" y="119459"/>
                  <a:pt x="147241" y="119459"/>
                </a:cubicBezTo>
                <a:lnTo>
                  <a:pt x="158353" y="119459"/>
                </a:lnTo>
                <a:cubicBezTo>
                  <a:pt x="162972" y="119459"/>
                  <a:pt x="166688" y="123175"/>
                  <a:pt x="166688" y="127794"/>
                </a:cubicBezTo>
                <a:cubicBezTo>
                  <a:pt x="166688" y="132412"/>
                  <a:pt x="162972" y="136128"/>
                  <a:pt x="158353" y="136128"/>
                </a:cubicBezTo>
                <a:lnTo>
                  <a:pt x="147241" y="136128"/>
                </a:lnTo>
                <a:cubicBezTo>
                  <a:pt x="142622" y="136128"/>
                  <a:pt x="138906" y="132412"/>
                  <a:pt x="138906" y="127794"/>
                </a:cubicBezTo>
                <a:close/>
                <a:moveTo>
                  <a:pt x="77788" y="61119"/>
                </a:moveTo>
                <a:cubicBezTo>
                  <a:pt x="86987" y="61119"/>
                  <a:pt x="94456" y="68588"/>
                  <a:pt x="94456" y="77788"/>
                </a:cubicBezTo>
                <a:cubicBezTo>
                  <a:pt x="94456" y="86987"/>
                  <a:pt x="86987" y="94456"/>
                  <a:pt x="77788" y="94456"/>
                </a:cubicBezTo>
                <a:cubicBezTo>
                  <a:pt x="68588" y="94456"/>
                  <a:pt x="61119" y="86987"/>
                  <a:pt x="61119" y="77788"/>
                </a:cubicBezTo>
                <a:cubicBezTo>
                  <a:pt x="61119" y="68588"/>
                  <a:pt x="68588" y="61119"/>
                  <a:pt x="77788" y="61119"/>
                </a:cubicBezTo>
                <a:close/>
                <a:moveTo>
                  <a:pt x="127794" y="77788"/>
                </a:moveTo>
                <a:cubicBezTo>
                  <a:pt x="127794" y="68588"/>
                  <a:pt x="135263" y="61119"/>
                  <a:pt x="144463" y="61119"/>
                </a:cubicBezTo>
                <a:cubicBezTo>
                  <a:pt x="153662" y="61119"/>
                  <a:pt x="161131" y="68588"/>
                  <a:pt x="161131" y="77788"/>
                </a:cubicBezTo>
                <a:cubicBezTo>
                  <a:pt x="161131" y="86987"/>
                  <a:pt x="153662" y="94456"/>
                  <a:pt x="144463" y="94456"/>
                </a:cubicBezTo>
                <a:cubicBezTo>
                  <a:pt x="135263" y="94456"/>
                  <a:pt x="127794" y="86987"/>
                  <a:pt x="127794" y="77788"/>
                </a:cubicBezTo>
                <a:close/>
                <a:moveTo>
                  <a:pt x="22225" y="77788"/>
                </a:moveTo>
                <a:cubicBezTo>
                  <a:pt x="22225" y="71641"/>
                  <a:pt x="17259" y="66675"/>
                  <a:pt x="11112" y="66675"/>
                </a:cubicBezTo>
                <a:cubicBezTo>
                  <a:pt x="4966" y="66675"/>
                  <a:pt x="0" y="71641"/>
                  <a:pt x="0" y="77788"/>
                </a:cubicBezTo>
                <a:lnTo>
                  <a:pt x="0" y="111125"/>
                </a:lnTo>
                <a:cubicBezTo>
                  <a:pt x="0" y="117272"/>
                  <a:pt x="4966" y="122238"/>
                  <a:pt x="11112" y="122238"/>
                </a:cubicBezTo>
                <a:cubicBezTo>
                  <a:pt x="17259" y="122238"/>
                  <a:pt x="22225" y="117272"/>
                  <a:pt x="22225" y="111125"/>
                </a:cubicBezTo>
                <a:lnTo>
                  <a:pt x="22225" y="77788"/>
                </a:lnTo>
                <a:close/>
                <a:moveTo>
                  <a:pt x="211138" y="66675"/>
                </a:moveTo>
                <a:cubicBezTo>
                  <a:pt x="204991" y="66675"/>
                  <a:pt x="200025" y="71641"/>
                  <a:pt x="200025" y="77788"/>
                </a:cubicBezTo>
                <a:lnTo>
                  <a:pt x="200025" y="111125"/>
                </a:lnTo>
                <a:cubicBezTo>
                  <a:pt x="200025" y="117272"/>
                  <a:pt x="204991" y="122238"/>
                  <a:pt x="211138" y="122238"/>
                </a:cubicBezTo>
                <a:cubicBezTo>
                  <a:pt x="217284" y="122238"/>
                  <a:pt x="222250" y="117272"/>
                  <a:pt x="222250" y="111125"/>
                </a:cubicBezTo>
                <a:lnTo>
                  <a:pt x="222250" y="77788"/>
                </a:lnTo>
                <a:cubicBezTo>
                  <a:pt x="222250" y="71641"/>
                  <a:pt x="217284" y="66675"/>
                  <a:pt x="211138" y="66675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EE229804-07DC-4853-A0CD-61C080F8180F}"/>
              </a:ext>
            </a:extLst>
          </p:cNvPr>
          <p:cNvSpPr>
            <a:spLocks noGrp="1"/>
          </p:cNvSpPr>
          <p:nvPr/>
        </p:nvSpPr>
        <p:spPr>
          <a:xfrm>
            <a:off x="8761730" y="2844800"/>
            <a:ext cx="18669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Request Builder</a:t>
            </a:r>
            <a:endParaRPr sz="160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3B04D41A-3A5A-4041-B809-36FA74206E92}"/>
              </a:ext>
            </a:extLst>
          </p:cNvPr>
          <p:cNvSpPr>
            <a:spLocks noGrp="1"/>
          </p:cNvSpPr>
          <p:nvPr/>
        </p:nvSpPr>
        <p:spPr>
          <a:xfrm>
            <a:off x="8437880" y="3200400"/>
            <a:ext cx="74041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Authoritative phase, profile, revision and sources</a:t>
            </a:r>
            <a:endParaRPr sz="160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0C3216E6-6848-4FC9-B840-64D1A5DA29AF}"/>
              </a:ext>
            </a:extLst>
          </p:cNvPr>
          <p:cNvSpPr>
            <a:spLocks noGrp="1"/>
          </p:cNvSpPr>
          <p:nvPr/>
        </p:nvSpPr>
        <p:spPr>
          <a:xfrm>
            <a:off x="8270240" y="3708400"/>
            <a:ext cx="30480" cy="812800"/>
          </a:xfrm>
          <a:custGeom>
            <a:avLst/>
            <a:gdLst/>
            <a:ahLst/>
            <a:cxnLst/>
            <a:rect l="l" t="t" r="r" b="b"/>
            <a:pathLst>
              <a:path w="30480" h="812800">
                <a:moveTo>
                  <a:pt x="0" y="0"/>
                </a:moveTo>
                <a:lnTo>
                  <a:pt x="30480" y="0"/>
                </a:lnTo>
                <a:lnTo>
                  <a:pt x="3048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1999DA4B-08F4-426B-9860-C9A88F3EA528}"/>
              </a:ext>
            </a:extLst>
          </p:cNvPr>
          <p:cNvSpPr>
            <a:spLocks noGrp="1"/>
          </p:cNvSpPr>
          <p:nvPr/>
        </p:nvSpPr>
        <p:spPr>
          <a:xfrm>
            <a:off x="8463280" y="38735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4536" y="96748"/>
                </a:moveTo>
                <a:cubicBezTo>
                  <a:pt x="178877" y="92407"/>
                  <a:pt x="178877" y="85358"/>
                  <a:pt x="174536" y="81017"/>
                </a:cubicBezTo>
                <a:lnTo>
                  <a:pt x="118973" y="25455"/>
                </a:lnTo>
                <a:cubicBezTo>
                  <a:pt x="114632" y="21114"/>
                  <a:pt x="107583" y="21114"/>
                  <a:pt x="103242" y="25455"/>
                </a:cubicBezTo>
                <a:cubicBezTo>
                  <a:pt x="98901" y="29795"/>
                  <a:pt x="98901" y="36845"/>
                  <a:pt x="103242" y="41186"/>
                </a:cubicBezTo>
                <a:lnTo>
                  <a:pt x="139844" y="77788"/>
                </a:lnTo>
                <a:lnTo>
                  <a:pt x="11112" y="77788"/>
                </a:ln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139844" y="100013"/>
                </a:lnTo>
                <a:lnTo>
                  <a:pt x="103242" y="136614"/>
                </a:lnTo>
                <a:cubicBezTo>
                  <a:pt x="98901" y="140955"/>
                  <a:pt x="98901" y="148005"/>
                  <a:pt x="103242" y="152345"/>
                </a:cubicBezTo>
                <a:cubicBezTo>
                  <a:pt x="107583" y="156686"/>
                  <a:pt x="114632" y="156686"/>
                  <a:pt x="118973" y="152345"/>
                </a:cubicBezTo>
                <a:lnTo>
                  <a:pt x="174536" y="96783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6B9FC24E-2BE9-4BE8-829E-AF1A19D51EEA}"/>
              </a:ext>
            </a:extLst>
          </p:cNvPr>
          <p:cNvSpPr>
            <a:spLocks noGrp="1"/>
          </p:cNvSpPr>
          <p:nvPr/>
        </p:nvSpPr>
        <p:spPr>
          <a:xfrm>
            <a:off x="8761730" y="3810000"/>
            <a:ext cx="26543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Structured Provider</a:t>
            </a:r>
            <a:endParaRPr sz="160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6D6C2AF2-9069-45F5-A005-181444A85702}"/>
              </a:ext>
            </a:extLst>
          </p:cNvPr>
          <p:cNvSpPr>
            <a:spLocks noGrp="1"/>
          </p:cNvSpPr>
          <p:nvPr/>
        </p:nvSpPr>
        <p:spPr>
          <a:xfrm>
            <a:off x="8437880" y="4165600"/>
            <a:ext cx="74041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Mock/OpenAI now; Bedrock contract is frozen</a:t>
            </a:r>
            <a:endParaRPr sz="160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6004782E-90BC-4376-AF20-3435FB73F855}"/>
              </a:ext>
            </a:extLst>
          </p:cNvPr>
          <p:cNvSpPr>
            <a:spLocks noGrp="1"/>
          </p:cNvSpPr>
          <p:nvPr/>
        </p:nvSpPr>
        <p:spPr>
          <a:xfrm>
            <a:off x="8270240" y="4673600"/>
            <a:ext cx="30480" cy="812800"/>
          </a:xfrm>
          <a:custGeom>
            <a:avLst/>
            <a:gdLst/>
            <a:ahLst/>
            <a:cxnLst/>
            <a:rect l="l" t="t" r="r" b="b"/>
            <a:pathLst>
              <a:path w="30480" h="812800">
                <a:moveTo>
                  <a:pt x="0" y="0"/>
                </a:moveTo>
                <a:lnTo>
                  <a:pt x="30480" y="0"/>
                </a:lnTo>
                <a:lnTo>
                  <a:pt x="3048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FA33E6E0-5FCD-4247-B14F-66C7266EB5FF}"/>
              </a:ext>
            </a:extLst>
          </p:cNvPr>
          <p:cNvSpPr>
            <a:spLocks noGrp="1"/>
          </p:cNvSpPr>
          <p:nvPr/>
        </p:nvSpPr>
        <p:spPr>
          <a:xfrm>
            <a:off x="8463280" y="48387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0739" y="1806"/>
                </a:moveTo>
                <a:cubicBezTo>
                  <a:pt x="85914" y="-590"/>
                  <a:pt x="91886" y="-590"/>
                  <a:pt x="97061" y="1806"/>
                </a:cubicBezTo>
                <a:lnTo>
                  <a:pt x="172973" y="36880"/>
                </a:lnTo>
                <a:cubicBezTo>
                  <a:pt x="175925" y="38234"/>
                  <a:pt x="177800" y="41186"/>
                  <a:pt x="177800" y="44450"/>
                </a:cubicBezTo>
                <a:cubicBezTo>
                  <a:pt x="177800" y="47714"/>
                  <a:pt x="175925" y="50666"/>
                  <a:pt x="172973" y="52020"/>
                </a:cubicBezTo>
                <a:lnTo>
                  <a:pt x="97061" y="87094"/>
                </a:lnTo>
                <a:cubicBezTo>
                  <a:pt x="91886" y="89490"/>
                  <a:pt x="85914" y="89490"/>
                  <a:pt x="80739" y="87094"/>
                </a:cubicBezTo>
                <a:lnTo>
                  <a:pt x="4827" y="52020"/>
                </a:lnTo>
                <a:cubicBezTo>
                  <a:pt x="1875" y="50631"/>
                  <a:pt x="0" y="47680"/>
                  <a:pt x="0" y="44450"/>
                </a:cubicBezTo>
                <a:cubicBezTo>
                  <a:pt x="0" y="41220"/>
                  <a:pt x="1875" y="38234"/>
                  <a:pt x="4827" y="36880"/>
                </a:cubicBezTo>
                <a:lnTo>
                  <a:pt x="80739" y="1806"/>
                </a:lnTo>
                <a:close/>
                <a:moveTo>
                  <a:pt x="16703" y="75843"/>
                </a:moveTo>
                <a:lnTo>
                  <a:pt x="73759" y="102200"/>
                </a:lnTo>
                <a:cubicBezTo>
                  <a:pt x="83378" y="106645"/>
                  <a:pt x="94456" y="106645"/>
                  <a:pt x="104076" y="102200"/>
                </a:cubicBezTo>
                <a:lnTo>
                  <a:pt x="161131" y="75843"/>
                </a:lnTo>
                <a:lnTo>
                  <a:pt x="172973" y="81330"/>
                </a:lnTo>
                <a:cubicBezTo>
                  <a:pt x="175925" y="82684"/>
                  <a:pt x="177800" y="85636"/>
                  <a:pt x="177800" y="88900"/>
                </a:cubicBezTo>
                <a:cubicBezTo>
                  <a:pt x="177800" y="92164"/>
                  <a:pt x="175925" y="95116"/>
                  <a:pt x="172973" y="96470"/>
                </a:cubicBezTo>
                <a:lnTo>
                  <a:pt x="97061" y="131544"/>
                </a:lnTo>
                <a:cubicBezTo>
                  <a:pt x="91886" y="133940"/>
                  <a:pt x="85914" y="133940"/>
                  <a:pt x="80739" y="131544"/>
                </a:cubicBezTo>
                <a:lnTo>
                  <a:pt x="4827" y="96470"/>
                </a:lnTo>
                <a:cubicBezTo>
                  <a:pt x="1875" y="95081"/>
                  <a:pt x="0" y="92130"/>
                  <a:pt x="0" y="88900"/>
                </a:cubicBezTo>
                <a:cubicBezTo>
                  <a:pt x="0" y="85670"/>
                  <a:pt x="1875" y="82684"/>
                  <a:pt x="4827" y="81330"/>
                </a:cubicBezTo>
                <a:lnTo>
                  <a:pt x="16669" y="75843"/>
                </a:lnTo>
                <a:close/>
                <a:moveTo>
                  <a:pt x="4827" y="125780"/>
                </a:moveTo>
                <a:lnTo>
                  <a:pt x="16669" y="120293"/>
                </a:lnTo>
                <a:lnTo>
                  <a:pt x="73724" y="146650"/>
                </a:lnTo>
                <a:cubicBezTo>
                  <a:pt x="83344" y="151095"/>
                  <a:pt x="94422" y="151095"/>
                  <a:pt x="104041" y="146650"/>
                </a:cubicBezTo>
                <a:lnTo>
                  <a:pt x="161097" y="120293"/>
                </a:lnTo>
                <a:lnTo>
                  <a:pt x="172938" y="125780"/>
                </a:lnTo>
                <a:cubicBezTo>
                  <a:pt x="175890" y="127134"/>
                  <a:pt x="177765" y="130086"/>
                  <a:pt x="177765" y="133350"/>
                </a:cubicBezTo>
                <a:cubicBezTo>
                  <a:pt x="177765" y="136614"/>
                  <a:pt x="175890" y="139566"/>
                  <a:pt x="172938" y="140920"/>
                </a:cubicBezTo>
                <a:lnTo>
                  <a:pt x="97026" y="175994"/>
                </a:lnTo>
                <a:cubicBezTo>
                  <a:pt x="91852" y="178390"/>
                  <a:pt x="85879" y="178390"/>
                  <a:pt x="80705" y="175994"/>
                </a:cubicBezTo>
                <a:lnTo>
                  <a:pt x="4827" y="140920"/>
                </a:lnTo>
                <a:cubicBezTo>
                  <a:pt x="1875" y="139531"/>
                  <a:pt x="0" y="136580"/>
                  <a:pt x="0" y="133350"/>
                </a:cubicBezTo>
                <a:cubicBezTo>
                  <a:pt x="0" y="130120"/>
                  <a:pt x="1875" y="127134"/>
                  <a:pt x="4827" y="125780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0B9498D5-FE87-407F-9993-5D82051745B5}"/>
              </a:ext>
            </a:extLst>
          </p:cNvPr>
          <p:cNvSpPr>
            <a:spLocks noGrp="1"/>
          </p:cNvSpPr>
          <p:nvPr/>
        </p:nvSpPr>
        <p:spPr>
          <a:xfrm>
            <a:off x="8761730" y="4775200"/>
            <a:ext cx="17653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Transition Service</a:t>
            </a:r>
            <a:endParaRPr sz="160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793785D0-3B02-4188-8364-69F53EC91722}"/>
              </a:ext>
            </a:extLst>
          </p:cNvPr>
          <p:cNvSpPr>
            <a:spLocks noGrp="1"/>
          </p:cNvSpPr>
          <p:nvPr/>
        </p:nvSpPr>
        <p:spPr>
          <a:xfrm>
            <a:off x="8437880" y="5130800"/>
            <a:ext cx="74041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Validates STAY/ADVANCE and pending Next</a:t>
            </a:r>
            <a:endParaRPr sz="160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92CC65A7-978E-41CF-8743-052BFF444912}"/>
              </a:ext>
            </a:extLst>
          </p:cNvPr>
          <p:cNvSpPr>
            <a:spLocks noGrp="1"/>
          </p:cNvSpPr>
          <p:nvPr/>
        </p:nvSpPr>
        <p:spPr>
          <a:xfrm>
            <a:off x="8270240" y="5638800"/>
            <a:ext cx="30480" cy="812800"/>
          </a:xfrm>
          <a:custGeom>
            <a:avLst/>
            <a:gdLst/>
            <a:ahLst/>
            <a:cxnLst/>
            <a:rect l="l" t="t" r="r" b="b"/>
            <a:pathLst>
              <a:path w="30480" h="812800">
                <a:moveTo>
                  <a:pt x="0" y="0"/>
                </a:moveTo>
                <a:lnTo>
                  <a:pt x="30480" y="0"/>
                </a:lnTo>
                <a:lnTo>
                  <a:pt x="3048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5E68BE8A-2632-4024-9A13-7995FF3D110E}"/>
              </a:ext>
            </a:extLst>
          </p:cNvPr>
          <p:cNvSpPr>
            <a:spLocks noGrp="1"/>
          </p:cNvSpPr>
          <p:nvPr/>
        </p:nvSpPr>
        <p:spPr>
          <a:xfrm>
            <a:off x="8463280" y="58039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22225" y="22225"/>
                </a:moveTo>
                <a:cubicBezTo>
                  <a:pt x="22225" y="16078"/>
                  <a:pt x="17259" y="11112"/>
                  <a:pt x="11112" y="11112"/>
                </a:cubicBezTo>
                <a:cubicBezTo>
                  <a:pt x="4966" y="11112"/>
                  <a:pt x="0" y="16078"/>
                  <a:pt x="0" y="22225"/>
                </a:cubicBezTo>
                <a:lnTo>
                  <a:pt x="0" y="138906"/>
                </a:lnTo>
                <a:cubicBezTo>
                  <a:pt x="0" y="154255"/>
                  <a:pt x="12432" y="166688"/>
                  <a:pt x="27781" y="166688"/>
                </a:cubicBezTo>
                <a:lnTo>
                  <a:pt x="166688" y="166688"/>
                </a:lnTo>
                <a:cubicBezTo>
                  <a:pt x="172834" y="166688"/>
                  <a:pt x="177800" y="161722"/>
                  <a:pt x="177800" y="155575"/>
                </a:cubicBezTo>
                <a:cubicBezTo>
                  <a:pt x="177800" y="149428"/>
                  <a:pt x="172834" y="144463"/>
                  <a:pt x="166688" y="144463"/>
                </a:cubicBezTo>
                <a:lnTo>
                  <a:pt x="27781" y="144463"/>
                </a:lnTo>
                <a:cubicBezTo>
                  <a:pt x="24725" y="144463"/>
                  <a:pt x="22225" y="141962"/>
                  <a:pt x="22225" y="138906"/>
                </a:cubicBezTo>
                <a:lnTo>
                  <a:pt x="22225" y="22225"/>
                </a:lnTo>
                <a:close/>
                <a:moveTo>
                  <a:pt x="163423" y="52298"/>
                </a:moveTo>
                <a:cubicBezTo>
                  <a:pt x="167764" y="47957"/>
                  <a:pt x="167764" y="40908"/>
                  <a:pt x="163423" y="36567"/>
                </a:cubicBezTo>
                <a:cubicBezTo>
                  <a:pt x="159082" y="32226"/>
                  <a:pt x="152033" y="32226"/>
                  <a:pt x="147692" y="36567"/>
                </a:cubicBezTo>
                <a:lnTo>
                  <a:pt x="111125" y="73169"/>
                </a:lnTo>
                <a:lnTo>
                  <a:pt x="91192" y="53271"/>
                </a:lnTo>
                <a:cubicBezTo>
                  <a:pt x="86851" y="48930"/>
                  <a:pt x="79802" y="48930"/>
                  <a:pt x="75461" y="53271"/>
                </a:cubicBezTo>
                <a:lnTo>
                  <a:pt x="42123" y="86608"/>
                </a:lnTo>
                <a:cubicBezTo>
                  <a:pt x="37783" y="90949"/>
                  <a:pt x="37783" y="97998"/>
                  <a:pt x="42123" y="102339"/>
                </a:cubicBezTo>
                <a:cubicBezTo>
                  <a:pt x="46464" y="106680"/>
                  <a:pt x="53514" y="106680"/>
                  <a:pt x="57854" y="102339"/>
                </a:cubicBezTo>
                <a:lnTo>
                  <a:pt x="83344" y="76850"/>
                </a:lnTo>
                <a:lnTo>
                  <a:pt x="103277" y="96783"/>
                </a:lnTo>
                <a:cubicBezTo>
                  <a:pt x="107618" y="101124"/>
                  <a:pt x="114667" y="101124"/>
                  <a:pt x="119008" y="96783"/>
                </a:cubicBezTo>
                <a:lnTo>
                  <a:pt x="163458" y="52333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3D73376D-ED04-4509-91E8-36D57D11A23A}"/>
              </a:ext>
            </a:extLst>
          </p:cNvPr>
          <p:cNvSpPr>
            <a:spLocks noGrp="1"/>
          </p:cNvSpPr>
          <p:nvPr/>
        </p:nvSpPr>
        <p:spPr>
          <a:xfrm>
            <a:off x="8761730" y="5740400"/>
            <a:ext cx="18415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Research Coding</a:t>
            </a:r>
            <a:endParaRPr sz="1600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00606514-D63A-4A05-B856-3478FB4E737F}"/>
              </a:ext>
            </a:extLst>
          </p:cNvPr>
          <p:cNvSpPr>
            <a:spLocks noGrp="1"/>
          </p:cNvSpPr>
          <p:nvPr/>
        </p:nvSpPr>
        <p:spPr>
          <a:xfrm>
            <a:off x="8437880" y="6096000"/>
            <a:ext cx="74041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Soft-validates optional coding independently</a:t>
            </a:r>
            <a:endParaRPr sz="1600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D261B9A5-ECFD-45A0-8FA6-1CEDF86F32B0}"/>
              </a:ext>
            </a:extLst>
          </p:cNvPr>
          <p:cNvSpPr>
            <a:spLocks noGrp="1"/>
          </p:cNvSpPr>
          <p:nvPr/>
        </p:nvSpPr>
        <p:spPr>
          <a:xfrm>
            <a:off x="533400" y="6654800"/>
            <a:ext cx="15214600" cy="1270000"/>
          </a:xfrm>
          <a:custGeom>
            <a:avLst/>
            <a:gdLst/>
            <a:ahLst/>
            <a:cxnLst/>
            <a:rect l="l" t="t" r="r" b="b"/>
            <a:pathLst>
              <a:path w="15214600" h="1270000">
                <a:moveTo>
                  <a:pt x="0" y="0"/>
                </a:moveTo>
                <a:lnTo>
                  <a:pt x="15214600" y="0"/>
                </a:lnTo>
                <a:lnTo>
                  <a:pt x="15214600" y="1270000"/>
                </a:lnTo>
                <a:lnTo>
                  <a:pt x="0" y="12700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>
              <a:alpha val="5098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C27274F9-9541-400D-8C15-F4549F877167}"/>
              </a:ext>
            </a:extLst>
          </p:cNvPr>
          <p:cNvSpPr>
            <a:spLocks noGrp="1"/>
          </p:cNvSpPr>
          <p:nvPr/>
        </p:nvSpPr>
        <p:spPr>
          <a:xfrm>
            <a:off x="533400" y="6654800"/>
            <a:ext cx="50800" cy="1270000"/>
          </a:xfrm>
          <a:custGeom>
            <a:avLst/>
            <a:gdLst/>
            <a:ahLst/>
            <a:cxnLst/>
            <a:rect l="l" t="t" r="r" b="b"/>
            <a:pathLst>
              <a:path w="50800" h="1270000">
                <a:moveTo>
                  <a:pt x="0" y="0"/>
                </a:moveTo>
                <a:lnTo>
                  <a:pt x="50800" y="0"/>
                </a:lnTo>
                <a:lnTo>
                  <a:pt x="50800" y="1270000"/>
                </a:lnTo>
                <a:lnTo>
                  <a:pt x="0" y="12700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302B7A43-85F5-4AAB-820D-6699FB5ACA9B}"/>
              </a:ext>
            </a:extLst>
          </p:cNvPr>
          <p:cNvSpPr>
            <a:spLocks noGrp="1"/>
          </p:cNvSpPr>
          <p:nvPr/>
        </p:nvSpPr>
        <p:spPr>
          <a:xfrm>
            <a:off x="844550" y="6858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B7DD89A3-066A-4C04-9D2A-D7BA6684A175}"/>
              </a:ext>
            </a:extLst>
          </p:cNvPr>
          <p:cNvSpPr>
            <a:spLocks noGrp="1"/>
          </p:cNvSpPr>
          <p:nvPr/>
        </p:nvSpPr>
        <p:spPr>
          <a:xfrm>
            <a:off x="1282700" y="6807200"/>
            <a:ext cx="70231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Authentication &amp; Authorization</a:t>
            </a:r>
            <a:endParaRPr sz="1600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2299C21F-D32B-4D84-BB1C-2EFBCE68BE9E}"/>
              </a:ext>
            </a:extLst>
          </p:cNvPr>
          <p:cNvSpPr>
            <a:spLocks noGrp="1"/>
          </p:cNvSpPr>
          <p:nvPr/>
        </p:nvSpPr>
        <p:spPr>
          <a:xfrm>
            <a:off x="1282700" y="7213600"/>
            <a:ext cx="34544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Cognito PKCE + secure cookies</a:t>
            </a:r>
            <a:endParaRPr sz="160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B7F26194-41C2-4D26-B717-642A1266AB80}"/>
              </a:ext>
            </a:extLst>
          </p:cNvPr>
          <p:cNvSpPr>
            <a:spLocks noGrp="1"/>
          </p:cNvSpPr>
          <p:nvPr/>
        </p:nvSpPr>
        <p:spPr>
          <a:xfrm>
            <a:off x="4846003" y="7213600"/>
            <a:ext cx="34544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Roles stored server-side</a:t>
            </a:r>
            <a:endParaRPr sz="1600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816460CC-0A54-443F-BB1D-EE5871E871B2}"/>
              </a:ext>
            </a:extLst>
          </p:cNvPr>
          <p:cNvSpPr>
            <a:spLocks noGrp="1"/>
          </p:cNvSpPr>
          <p:nvPr/>
        </p:nvSpPr>
        <p:spPr>
          <a:xfrm>
            <a:off x="1282700" y="7518400"/>
            <a:ext cx="34544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Owner resolved per protected route</a:t>
            </a:r>
            <a:endParaRPr sz="1600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3F161305-5E93-41FA-8211-A1DC7645F107}"/>
              </a:ext>
            </a:extLst>
          </p:cNvPr>
          <p:cNvSpPr>
            <a:spLocks noGrp="1"/>
          </p:cNvSpPr>
          <p:nvPr/>
        </p:nvSpPr>
        <p:spPr>
          <a:xfrm>
            <a:off x="4846003" y="7518400"/>
            <a:ext cx="34544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Rate limits + stable errors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541400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7610207-20BE-4330-BF90-469F2DD3A1B3}"/>
              </a:ext>
            </a:extLst>
          </p:cNvPr>
          <p:cNvSpPr>
            <a:spLocks noGrp="1"/>
          </p:cNvSpPr>
          <p:nvPr/>
        </p:nvSpPr>
        <p:spPr>
          <a:xfrm>
            <a:off x="448132" y="448132"/>
            <a:ext cx="44813" cy="448132"/>
          </a:xfrm>
          <a:custGeom>
            <a:avLst/>
            <a:gdLst/>
            <a:ahLst/>
            <a:cxnLst/>
            <a:rect l="l" t="t" r="r" b="b"/>
            <a:pathLst>
              <a:path w="44813" h="448132">
                <a:moveTo>
                  <a:pt x="0" y="0"/>
                </a:moveTo>
                <a:lnTo>
                  <a:pt x="44813" y="0"/>
                </a:lnTo>
                <a:lnTo>
                  <a:pt x="44813" y="448132"/>
                </a:lnTo>
                <a:lnTo>
                  <a:pt x="0" y="448132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80A1612-5C00-4469-971E-036F3E284B38}"/>
              </a:ext>
            </a:extLst>
          </p:cNvPr>
          <p:cNvSpPr>
            <a:spLocks noGrp="1"/>
          </p:cNvSpPr>
          <p:nvPr/>
        </p:nvSpPr>
        <p:spPr>
          <a:xfrm>
            <a:off x="627385" y="560165"/>
            <a:ext cx="2699997" cy="22406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35" spc="62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DATA &amp; DEPLOYMENT</a:t>
            </a:r>
            <a:endParaRPr sz="1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19D65C-46E9-48D2-B9B2-1E89E1216A53}"/>
              </a:ext>
            </a:extLst>
          </p:cNvPr>
          <p:cNvSpPr>
            <a:spLocks noGrp="1"/>
          </p:cNvSpPr>
          <p:nvPr/>
        </p:nvSpPr>
        <p:spPr>
          <a:xfrm>
            <a:off x="448132" y="985891"/>
            <a:ext cx="15561395" cy="4481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90000"/>
              </a:lnSpc>
              <a:buNone/>
            </a:pPr>
            <a:r>
              <a:rPr sz="3176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Durable Learning Records with Local and AWS Adapters</a:t>
            </a:r>
            <a:endParaRPr sz="16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2575329-7728-4F2D-9907-7C1E6BC4EA62}"/>
              </a:ext>
            </a:extLst>
          </p:cNvPr>
          <p:cNvSpPr>
            <a:spLocks noGrp="1"/>
          </p:cNvSpPr>
          <p:nvPr/>
        </p:nvSpPr>
        <p:spPr>
          <a:xfrm>
            <a:off x="448132" y="1523650"/>
            <a:ext cx="15449362" cy="26887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411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The same repository contracts are used while each environment selects its infrastructure.</a:t>
            </a:r>
            <a:endParaRPr sz="16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CFF8ACE-B55C-408B-84E8-EA986CD64B3D}"/>
              </a:ext>
            </a:extLst>
          </p:cNvPr>
          <p:cNvSpPr>
            <a:spLocks noGrp="1"/>
          </p:cNvSpPr>
          <p:nvPr/>
        </p:nvSpPr>
        <p:spPr>
          <a:xfrm>
            <a:off x="488744" y="2072612"/>
            <a:ext cx="176452" cy="201660"/>
          </a:xfrm>
          <a:custGeom>
            <a:avLst/>
            <a:gdLst/>
            <a:ahLst/>
            <a:cxnLst/>
            <a:rect l="l" t="t" r="r" b="b"/>
            <a:pathLst>
              <a:path w="176452" h="201660">
                <a:moveTo>
                  <a:pt x="25207" y="12604"/>
                </a:moveTo>
                <a:cubicBezTo>
                  <a:pt x="11304" y="12604"/>
                  <a:pt x="0" y="23908"/>
                  <a:pt x="0" y="37811"/>
                </a:cubicBezTo>
                <a:lnTo>
                  <a:pt x="0" y="63019"/>
                </a:lnTo>
                <a:cubicBezTo>
                  <a:pt x="0" y="76922"/>
                  <a:pt x="11304" y="88226"/>
                  <a:pt x="25207" y="88226"/>
                </a:cubicBezTo>
                <a:lnTo>
                  <a:pt x="151245" y="88226"/>
                </a:lnTo>
                <a:cubicBezTo>
                  <a:pt x="165148" y="88226"/>
                  <a:pt x="176452" y="76922"/>
                  <a:pt x="176452" y="63019"/>
                </a:cubicBezTo>
                <a:lnTo>
                  <a:pt x="176452" y="37811"/>
                </a:lnTo>
                <a:cubicBezTo>
                  <a:pt x="176452" y="23908"/>
                  <a:pt x="165148" y="12604"/>
                  <a:pt x="151245" y="12604"/>
                </a:cubicBezTo>
                <a:lnTo>
                  <a:pt x="25207" y="12604"/>
                </a:lnTo>
                <a:close/>
                <a:moveTo>
                  <a:pt x="110283" y="40962"/>
                </a:moveTo>
                <a:cubicBezTo>
                  <a:pt x="115500" y="40962"/>
                  <a:pt x="119735" y="45198"/>
                  <a:pt x="119735" y="50415"/>
                </a:cubicBezTo>
                <a:cubicBezTo>
                  <a:pt x="119735" y="55632"/>
                  <a:pt x="115500" y="59868"/>
                  <a:pt x="110283" y="59868"/>
                </a:cubicBezTo>
                <a:cubicBezTo>
                  <a:pt x="105065" y="59868"/>
                  <a:pt x="100830" y="55632"/>
                  <a:pt x="100830" y="50415"/>
                </a:cubicBezTo>
                <a:cubicBezTo>
                  <a:pt x="100830" y="45198"/>
                  <a:pt x="105065" y="40962"/>
                  <a:pt x="110283" y="40962"/>
                </a:cubicBezTo>
                <a:close/>
                <a:moveTo>
                  <a:pt x="132339" y="50415"/>
                </a:moveTo>
                <a:cubicBezTo>
                  <a:pt x="132339" y="45198"/>
                  <a:pt x="136575" y="40962"/>
                  <a:pt x="141792" y="40962"/>
                </a:cubicBezTo>
                <a:cubicBezTo>
                  <a:pt x="147009" y="40962"/>
                  <a:pt x="151245" y="45198"/>
                  <a:pt x="151245" y="50415"/>
                </a:cubicBezTo>
                <a:cubicBezTo>
                  <a:pt x="151245" y="55632"/>
                  <a:pt x="147009" y="59868"/>
                  <a:pt x="141792" y="59868"/>
                </a:cubicBezTo>
                <a:cubicBezTo>
                  <a:pt x="136575" y="59868"/>
                  <a:pt x="132339" y="55632"/>
                  <a:pt x="132339" y="50415"/>
                </a:cubicBezTo>
                <a:close/>
                <a:moveTo>
                  <a:pt x="25207" y="113433"/>
                </a:moveTo>
                <a:cubicBezTo>
                  <a:pt x="11304" y="113433"/>
                  <a:pt x="0" y="124737"/>
                  <a:pt x="0" y="138641"/>
                </a:cubicBezTo>
                <a:lnTo>
                  <a:pt x="0" y="163848"/>
                </a:lnTo>
                <a:cubicBezTo>
                  <a:pt x="0" y="177752"/>
                  <a:pt x="11304" y="189056"/>
                  <a:pt x="25207" y="189056"/>
                </a:cubicBezTo>
                <a:lnTo>
                  <a:pt x="151245" y="189056"/>
                </a:lnTo>
                <a:cubicBezTo>
                  <a:pt x="165148" y="189056"/>
                  <a:pt x="176452" y="177752"/>
                  <a:pt x="176452" y="163848"/>
                </a:cubicBezTo>
                <a:lnTo>
                  <a:pt x="176452" y="138641"/>
                </a:lnTo>
                <a:cubicBezTo>
                  <a:pt x="176452" y="124737"/>
                  <a:pt x="165148" y="113433"/>
                  <a:pt x="151245" y="113433"/>
                </a:cubicBezTo>
                <a:lnTo>
                  <a:pt x="25207" y="113433"/>
                </a:lnTo>
                <a:close/>
                <a:moveTo>
                  <a:pt x="110283" y="141792"/>
                </a:moveTo>
                <a:cubicBezTo>
                  <a:pt x="115500" y="141792"/>
                  <a:pt x="119735" y="146028"/>
                  <a:pt x="119735" y="151245"/>
                </a:cubicBezTo>
                <a:cubicBezTo>
                  <a:pt x="119735" y="156462"/>
                  <a:pt x="115500" y="160697"/>
                  <a:pt x="110283" y="160697"/>
                </a:cubicBezTo>
                <a:cubicBezTo>
                  <a:pt x="105065" y="160697"/>
                  <a:pt x="100830" y="156462"/>
                  <a:pt x="100830" y="151245"/>
                </a:cubicBezTo>
                <a:cubicBezTo>
                  <a:pt x="100830" y="146028"/>
                  <a:pt x="105065" y="141792"/>
                  <a:pt x="110283" y="141792"/>
                </a:cubicBezTo>
                <a:close/>
                <a:moveTo>
                  <a:pt x="132339" y="151245"/>
                </a:moveTo>
                <a:cubicBezTo>
                  <a:pt x="132339" y="146028"/>
                  <a:pt x="136575" y="141792"/>
                  <a:pt x="141792" y="141792"/>
                </a:cubicBezTo>
                <a:cubicBezTo>
                  <a:pt x="147009" y="141792"/>
                  <a:pt x="151245" y="146028"/>
                  <a:pt x="151245" y="151245"/>
                </a:cubicBezTo>
                <a:cubicBezTo>
                  <a:pt x="151245" y="156462"/>
                  <a:pt x="147009" y="160697"/>
                  <a:pt x="141792" y="160697"/>
                </a:cubicBezTo>
                <a:cubicBezTo>
                  <a:pt x="136575" y="160697"/>
                  <a:pt x="132339" y="156462"/>
                  <a:pt x="132339" y="151245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071B598-C5DE-497F-B42C-D78AFE4590A1}"/>
              </a:ext>
            </a:extLst>
          </p:cNvPr>
          <p:cNvSpPr>
            <a:spLocks noGrp="1"/>
          </p:cNvSpPr>
          <p:nvPr/>
        </p:nvSpPr>
        <p:spPr>
          <a:xfrm>
            <a:off x="705808" y="2016595"/>
            <a:ext cx="4817422" cy="31369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588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Runtime Modes</a:t>
            </a:r>
            <a:endParaRPr sz="1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A502DBB-9439-4436-B374-F95274A255CC}"/>
              </a:ext>
            </a:extLst>
          </p:cNvPr>
          <p:cNvSpPr>
            <a:spLocks noGrp="1"/>
          </p:cNvSpPr>
          <p:nvPr/>
        </p:nvSpPr>
        <p:spPr>
          <a:xfrm>
            <a:off x="461576" y="2464728"/>
            <a:ext cx="26888" cy="627385"/>
          </a:xfrm>
          <a:custGeom>
            <a:avLst/>
            <a:gdLst/>
            <a:ahLst/>
            <a:cxnLst/>
            <a:rect l="l" t="t" r="r" b="b"/>
            <a:pathLst>
              <a:path w="26888" h="627385">
                <a:moveTo>
                  <a:pt x="0" y="0"/>
                </a:moveTo>
                <a:lnTo>
                  <a:pt x="26888" y="0"/>
                </a:lnTo>
                <a:lnTo>
                  <a:pt x="26888" y="627385"/>
                </a:lnTo>
                <a:lnTo>
                  <a:pt x="0" y="627385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8058C1D-BA15-4A2A-A788-E75479083D6B}"/>
              </a:ext>
            </a:extLst>
          </p:cNvPr>
          <p:cNvSpPr>
            <a:spLocks noGrp="1"/>
          </p:cNvSpPr>
          <p:nvPr/>
        </p:nvSpPr>
        <p:spPr>
          <a:xfrm>
            <a:off x="609460" y="2554354"/>
            <a:ext cx="4884642" cy="22406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35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Local DB</a:t>
            </a:r>
            <a:endParaRPr sz="16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7D52AA5-E6B1-4E35-8BC1-736C1849FCEA}"/>
              </a:ext>
            </a:extLst>
          </p:cNvPr>
          <p:cNvSpPr>
            <a:spLocks noGrp="1"/>
          </p:cNvSpPr>
          <p:nvPr/>
        </p:nvSpPr>
        <p:spPr>
          <a:xfrm>
            <a:off x="609460" y="2778420"/>
            <a:ext cx="4884642" cy="22406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35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SQLite</a:t>
            </a:r>
            <a:endParaRPr sz="16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CFD448E-AE5B-4E16-AA7E-2B661758882D}"/>
              </a:ext>
            </a:extLst>
          </p:cNvPr>
          <p:cNvSpPr>
            <a:spLocks noGrp="1"/>
          </p:cNvSpPr>
          <p:nvPr/>
        </p:nvSpPr>
        <p:spPr>
          <a:xfrm>
            <a:off x="461576" y="3226553"/>
            <a:ext cx="26888" cy="627385"/>
          </a:xfrm>
          <a:custGeom>
            <a:avLst/>
            <a:gdLst/>
            <a:ahLst/>
            <a:cxnLst/>
            <a:rect l="l" t="t" r="r" b="b"/>
            <a:pathLst>
              <a:path w="26888" h="627385">
                <a:moveTo>
                  <a:pt x="0" y="0"/>
                </a:moveTo>
                <a:lnTo>
                  <a:pt x="26888" y="0"/>
                </a:lnTo>
                <a:lnTo>
                  <a:pt x="26888" y="627385"/>
                </a:lnTo>
                <a:lnTo>
                  <a:pt x="0" y="627385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CBC6E57-E0E0-45CC-A138-613275C27258}"/>
              </a:ext>
            </a:extLst>
          </p:cNvPr>
          <p:cNvSpPr>
            <a:spLocks noGrp="1"/>
          </p:cNvSpPr>
          <p:nvPr/>
        </p:nvSpPr>
        <p:spPr>
          <a:xfrm>
            <a:off x="609460" y="3316179"/>
            <a:ext cx="4884642" cy="22406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35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Production DB</a:t>
            </a:r>
            <a:endParaRPr sz="16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038A6E3-8957-4C06-8776-D7FF99B70AA7}"/>
              </a:ext>
            </a:extLst>
          </p:cNvPr>
          <p:cNvSpPr>
            <a:spLocks noGrp="1"/>
          </p:cNvSpPr>
          <p:nvPr/>
        </p:nvSpPr>
        <p:spPr>
          <a:xfrm>
            <a:off x="609460" y="3540245"/>
            <a:ext cx="4884642" cy="22406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35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Aurora DSQL</a:t>
            </a:r>
            <a:endParaRPr sz="16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BC73476-5A0C-4003-85C5-2F309B4028CB}"/>
              </a:ext>
            </a:extLst>
          </p:cNvPr>
          <p:cNvSpPr>
            <a:spLocks noGrp="1"/>
          </p:cNvSpPr>
          <p:nvPr/>
        </p:nvSpPr>
        <p:spPr>
          <a:xfrm>
            <a:off x="461576" y="3988378"/>
            <a:ext cx="26888" cy="851451"/>
          </a:xfrm>
          <a:custGeom>
            <a:avLst/>
            <a:gdLst/>
            <a:ahLst/>
            <a:cxnLst/>
            <a:rect l="l" t="t" r="r" b="b"/>
            <a:pathLst>
              <a:path w="26888" h="851451">
                <a:moveTo>
                  <a:pt x="0" y="0"/>
                </a:moveTo>
                <a:lnTo>
                  <a:pt x="26888" y="0"/>
                </a:lnTo>
                <a:lnTo>
                  <a:pt x="26888" y="851451"/>
                </a:lnTo>
                <a:lnTo>
                  <a:pt x="0" y="851451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ABF2FA8-0A7A-4C84-8901-82EB77683BB4}"/>
              </a:ext>
            </a:extLst>
          </p:cNvPr>
          <p:cNvSpPr>
            <a:spLocks noGrp="1"/>
          </p:cNvSpPr>
          <p:nvPr/>
        </p:nvSpPr>
        <p:spPr>
          <a:xfrm>
            <a:off x="609460" y="4078004"/>
            <a:ext cx="4884642" cy="22406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35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Transactions</a:t>
            </a:r>
            <a:endParaRPr sz="16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327A968-AEFC-49F7-8361-7D0BD43936B8}"/>
              </a:ext>
            </a:extLst>
          </p:cNvPr>
          <p:cNvSpPr>
            <a:spLocks noGrp="1"/>
          </p:cNvSpPr>
          <p:nvPr/>
        </p:nvSpPr>
        <p:spPr>
          <a:xfrm>
            <a:off x="609460" y="4302070"/>
            <a:ext cx="4884642" cy="22406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35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Per-operation DB units</a:t>
            </a:r>
            <a:endParaRPr sz="16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6D526C0-03C7-4C03-A565-A2FFCCB69D0F}"/>
              </a:ext>
            </a:extLst>
          </p:cNvPr>
          <p:cNvSpPr>
            <a:spLocks noGrp="1"/>
          </p:cNvSpPr>
          <p:nvPr/>
        </p:nvSpPr>
        <p:spPr>
          <a:xfrm>
            <a:off x="609460" y="4570950"/>
            <a:ext cx="4873439" cy="17925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059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OCC retries on DSQL</a:t>
            </a:r>
            <a:endParaRPr sz="16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FAD0864-9392-430F-BC54-C0A3B5ED7D01}"/>
              </a:ext>
            </a:extLst>
          </p:cNvPr>
          <p:cNvSpPr>
            <a:spLocks noGrp="1"/>
          </p:cNvSpPr>
          <p:nvPr/>
        </p:nvSpPr>
        <p:spPr>
          <a:xfrm>
            <a:off x="461576" y="4974127"/>
            <a:ext cx="26888" cy="627385"/>
          </a:xfrm>
          <a:custGeom>
            <a:avLst/>
            <a:gdLst/>
            <a:ahLst/>
            <a:cxnLst/>
            <a:rect l="l" t="t" r="r" b="b"/>
            <a:pathLst>
              <a:path w="26888" h="627385">
                <a:moveTo>
                  <a:pt x="0" y="0"/>
                </a:moveTo>
                <a:lnTo>
                  <a:pt x="26888" y="0"/>
                </a:lnTo>
                <a:lnTo>
                  <a:pt x="26888" y="627385"/>
                </a:lnTo>
                <a:lnTo>
                  <a:pt x="0" y="627385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515EA89-424D-4FA9-8558-99B4C4E2EFB3}"/>
              </a:ext>
            </a:extLst>
          </p:cNvPr>
          <p:cNvSpPr>
            <a:spLocks noGrp="1"/>
          </p:cNvSpPr>
          <p:nvPr/>
        </p:nvSpPr>
        <p:spPr>
          <a:xfrm>
            <a:off x="609460" y="5063753"/>
            <a:ext cx="4884642" cy="22406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35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Files</a:t>
            </a:r>
            <a:endParaRPr sz="16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F4DEF76-5579-4506-922C-B9B9F189B081}"/>
              </a:ext>
            </a:extLst>
          </p:cNvPr>
          <p:cNvSpPr>
            <a:spLocks noGrp="1"/>
          </p:cNvSpPr>
          <p:nvPr/>
        </p:nvSpPr>
        <p:spPr>
          <a:xfrm>
            <a:off x="609460" y="5287819"/>
            <a:ext cx="4884642" cy="22406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35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Local root / Amazon S3</a:t>
            </a:r>
            <a:endParaRPr sz="16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E94D404-05B2-4D73-AB15-9226B7638F2E}"/>
              </a:ext>
            </a:extLst>
          </p:cNvPr>
          <p:cNvSpPr>
            <a:spLocks noGrp="1"/>
          </p:cNvSpPr>
          <p:nvPr/>
        </p:nvSpPr>
        <p:spPr>
          <a:xfrm>
            <a:off x="461576" y="5735951"/>
            <a:ext cx="26888" cy="851451"/>
          </a:xfrm>
          <a:custGeom>
            <a:avLst/>
            <a:gdLst/>
            <a:ahLst/>
            <a:cxnLst/>
            <a:rect l="l" t="t" r="r" b="b"/>
            <a:pathLst>
              <a:path w="26888" h="851451">
                <a:moveTo>
                  <a:pt x="0" y="0"/>
                </a:moveTo>
                <a:lnTo>
                  <a:pt x="26888" y="0"/>
                </a:lnTo>
                <a:lnTo>
                  <a:pt x="26888" y="851451"/>
                </a:lnTo>
                <a:lnTo>
                  <a:pt x="0" y="851451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E419549-32ED-4585-95AA-2A2BA72443BD}"/>
              </a:ext>
            </a:extLst>
          </p:cNvPr>
          <p:cNvSpPr>
            <a:spLocks noGrp="1"/>
          </p:cNvSpPr>
          <p:nvPr/>
        </p:nvSpPr>
        <p:spPr>
          <a:xfrm>
            <a:off x="609460" y="5825578"/>
            <a:ext cx="4884642" cy="22406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35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Provider</a:t>
            </a:r>
            <a:endParaRPr sz="16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4A16820-6EFE-4D33-AE20-6789C54352F0}"/>
              </a:ext>
            </a:extLst>
          </p:cNvPr>
          <p:cNvSpPr>
            <a:spLocks noGrp="1"/>
          </p:cNvSpPr>
          <p:nvPr/>
        </p:nvSpPr>
        <p:spPr>
          <a:xfrm>
            <a:off x="609460" y="6049644"/>
            <a:ext cx="4884642" cy="22406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35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Mock or OpenAI</a:t>
            </a:r>
            <a:endParaRPr sz="16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84521D6-325C-438A-974D-5FED8FD9950B}"/>
              </a:ext>
            </a:extLst>
          </p:cNvPr>
          <p:cNvSpPr>
            <a:spLocks noGrp="1"/>
          </p:cNvSpPr>
          <p:nvPr/>
        </p:nvSpPr>
        <p:spPr>
          <a:xfrm>
            <a:off x="609460" y="6318524"/>
            <a:ext cx="4873439" cy="17925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059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Bedrock adapter planned</a:t>
            </a:r>
            <a:endParaRPr sz="160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560A1CE-1B71-47B5-8881-7D63B27A38FF}"/>
              </a:ext>
            </a:extLst>
          </p:cNvPr>
          <p:cNvSpPr>
            <a:spLocks noGrp="1"/>
          </p:cNvSpPr>
          <p:nvPr/>
        </p:nvSpPr>
        <p:spPr>
          <a:xfrm>
            <a:off x="5669434" y="2072612"/>
            <a:ext cx="201660" cy="201660"/>
          </a:xfrm>
          <a:custGeom>
            <a:avLst/>
            <a:gdLst/>
            <a:ahLst/>
            <a:cxnLst/>
            <a:rect l="l" t="t" r="r" b="b"/>
            <a:pathLst>
              <a:path w="201660" h="201660">
                <a:moveTo>
                  <a:pt x="111858" y="-512"/>
                </a:moveTo>
                <a:cubicBezTo>
                  <a:pt x="105044" y="-4451"/>
                  <a:pt x="96615" y="-4451"/>
                  <a:pt x="89802" y="-512"/>
                </a:cubicBezTo>
                <a:lnTo>
                  <a:pt x="56638" y="18630"/>
                </a:lnTo>
                <a:cubicBezTo>
                  <a:pt x="49824" y="22569"/>
                  <a:pt x="45610" y="29855"/>
                  <a:pt x="45610" y="37732"/>
                </a:cubicBezTo>
                <a:lnTo>
                  <a:pt x="45610" y="77867"/>
                </a:lnTo>
                <a:lnTo>
                  <a:pt x="10831" y="97955"/>
                </a:lnTo>
                <a:cubicBezTo>
                  <a:pt x="4017" y="101893"/>
                  <a:pt x="-197" y="109180"/>
                  <a:pt x="-197" y="117057"/>
                </a:cubicBezTo>
                <a:lnTo>
                  <a:pt x="-197" y="155380"/>
                </a:lnTo>
                <a:cubicBezTo>
                  <a:pt x="-197" y="163258"/>
                  <a:pt x="4017" y="170544"/>
                  <a:pt x="10831" y="174483"/>
                </a:cubicBezTo>
                <a:lnTo>
                  <a:pt x="44034" y="193625"/>
                </a:lnTo>
                <a:cubicBezTo>
                  <a:pt x="50848" y="197563"/>
                  <a:pt x="59277" y="197563"/>
                  <a:pt x="66091" y="193625"/>
                </a:cubicBezTo>
                <a:lnTo>
                  <a:pt x="100869" y="173537"/>
                </a:lnTo>
                <a:lnTo>
                  <a:pt x="135648" y="193625"/>
                </a:lnTo>
                <a:cubicBezTo>
                  <a:pt x="142461" y="197563"/>
                  <a:pt x="150890" y="197563"/>
                  <a:pt x="157704" y="193625"/>
                </a:cubicBezTo>
                <a:lnTo>
                  <a:pt x="190828" y="174483"/>
                </a:lnTo>
                <a:cubicBezTo>
                  <a:pt x="197642" y="170544"/>
                  <a:pt x="201856" y="163258"/>
                  <a:pt x="201856" y="155380"/>
                </a:cubicBezTo>
                <a:lnTo>
                  <a:pt x="201856" y="117057"/>
                </a:lnTo>
                <a:cubicBezTo>
                  <a:pt x="201856" y="109180"/>
                  <a:pt x="197642" y="101893"/>
                  <a:pt x="190828" y="97955"/>
                </a:cubicBezTo>
                <a:lnTo>
                  <a:pt x="156050" y="77867"/>
                </a:lnTo>
                <a:lnTo>
                  <a:pt x="156050" y="37732"/>
                </a:lnTo>
                <a:cubicBezTo>
                  <a:pt x="156050" y="29855"/>
                  <a:pt x="151835" y="22569"/>
                  <a:pt x="145022" y="18630"/>
                </a:cubicBezTo>
                <a:lnTo>
                  <a:pt x="111858" y="-512"/>
                </a:lnTo>
                <a:close/>
                <a:moveTo>
                  <a:pt x="91377" y="115245"/>
                </a:moveTo>
                <a:lnTo>
                  <a:pt x="91377" y="157192"/>
                </a:lnTo>
                <a:lnTo>
                  <a:pt x="56599" y="177279"/>
                </a:lnTo>
                <a:cubicBezTo>
                  <a:pt x="56126" y="177555"/>
                  <a:pt x="55575" y="177712"/>
                  <a:pt x="55023" y="177712"/>
                </a:cubicBezTo>
                <a:lnTo>
                  <a:pt x="55023" y="136238"/>
                </a:lnTo>
                <a:lnTo>
                  <a:pt x="91377" y="115245"/>
                </a:lnTo>
                <a:close/>
                <a:moveTo>
                  <a:pt x="182518" y="115482"/>
                </a:moveTo>
                <a:cubicBezTo>
                  <a:pt x="182793" y="115954"/>
                  <a:pt x="182951" y="116506"/>
                  <a:pt x="182951" y="117057"/>
                </a:cubicBezTo>
                <a:lnTo>
                  <a:pt x="182951" y="155380"/>
                </a:lnTo>
                <a:cubicBezTo>
                  <a:pt x="182951" y="156522"/>
                  <a:pt x="182360" y="157547"/>
                  <a:pt x="181375" y="158098"/>
                </a:cubicBezTo>
                <a:lnTo>
                  <a:pt x="148173" y="177240"/>
                </a:lnTo>
                <a:cubicBezTo>
                  <a:pt x="147700" y="177516"/>
                  <a:pt x="147148" y="177673"/>
                  <a:pt x="146597" y="177673"/>
                </a:cubicBezTo>
                <a:lnTo>
                  <a:pt x="146597" y="136199"/>
                </a:lnTo>
                <a:lnTo>
                  <a:pt x="182518" y="115482"/>
                </a:lnTo>
                <a:close/>
                <a:moveTo>
                  <a:pt x="137184" y="37732"/>
                </a:moveTo>
                <a:lnTo>
                  <a:pt x="137184" y="77867"/>
                </a:lnTo>
                <a:lnTo>
                  <a:pt x="100830" y="98860"/>
                </a:lnTo>
                <a:lnTo>
                  <a:pt x="100830" y="56914"/>
                </a:lnTo>
                <a:lnTo>
                  <a:pt x="136750" y="36196"/>
                </a:lnTo>
                <a:cubicBezTo>
                  <a:pt x="137026" y="36669"/>
                  <a:pt x="137184" y="37220"/>
                  <a:pt x="137184" y="37772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A9FF6A5-4491-41CB-957D-C192EF20F055}"/>
              </a:ext>
            </a:extLst>
          </p:cNvPr>
          <p:cNvSpPr>
            <a:spLocks noGrp="1"/>
          </p:cNvSpPr>
          <p:nvPr/>
        </p:nvSpPr>
        <p:spPr>
          <a:xfrm>
            <a:off x="5899102" y="2016595"/>
            <a:ext cx="4817422" cy="31369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588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Environments</a:t>
            </a:r>
            <a:endParaRPr sz="160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B5C66747-A44C-4AF5-BD83-5159500296E0}"/>
              </a:ext>
            </a:extLst>
          </p:cNvPr>
          <p:cNvSpPr>
            <a:spLocks noGrp="1"/>
          </p:cNvSpPr>
          <p:nvPr/>
        </p:nvSpPr>
        <p:spPr>
          <a:xfrm>
            <a:off x="5654870" y="2464728"/>
            <a:ext cx="26888" cy="761825"/>
          </a:xfrm>
          <a:custGeom>
            <a:avLst/>
            <a:gdLst/>
            <a:ahLst/>
            <a:cxnLst/>
            <a:rect l="l" t="t" r="r" b="b"/>
            <a:pathLst>
              <a:path w="26888" h="761825">
                <a:moveTo>
                  <a:pt x="0" y="0"/>
                </a:moveTo>
                <a:lnTo>
                  <a:pt x="26888" y="0"/>
                </a:lnTo>
                <a:lnTo>
                  <a:pt x="26888" y="761825"/>
                </a:lnTo>
                <a:lnTo>
                  <a:pt x="0" y="761825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799E71D-B42C-46CE-9B60-99DB741AA179}"/>
              </a:ext>
            </a:extLst>
          </p:cNvPr>
          <p:cNvSpPr>
            <a:spLocks noGrp="1"/>
          </p:cNvSpPr>
          <p:nvPr/>
        </p:nvSpPr>
        <p:spPr>
          <a:xfrm>
            <a:off x="5802754" y="2599167"/>
            <a:ext cx="1008298" cy="22406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35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Development</a:t>
            </a:r>
            <a:endParaRPr sz="160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60D36D30-D383-47CC-9960-AB9D538E368F}"/>
              </a:ext>
            </a:extLst>
          </p:cNvPr>
          <p:cNvSpPr>
            <a:spLocks noGrp="1"/>
          </p:cNvSpPr>
          <p:nvPr/>
        </p:nvSpPr>
        <p:spPr>
          <a:xfrm>
            <a:off x="9993631" y="2599167"/>
            <a:ext cx="616182" cy="224066"/>
          </a:xfrm>
          <a:custGeom>
            <a:avLst/>
            <a:gdLst/>
            <a:ahLst/>
            <a:cxnLst/>
            <a:rect l="l" t="t" r="r" b="b"/>
            <a:pathLst>
              <a:path w="616182" h="224066">
                <a:moveTo>
                  <a:pt x="44813" y="0"/>
                </a:moveTo>
                <a:lnTo>
                  <a:pt x="571369" y="0"/>
                </a:lnTo>
                <a:cubicBezTo>
                  <a:pt x="596118" y="0"/>
                  <a:pt x="616182" y="20064"/>
                  <a:pt x="616182" y="44813"/>
                </a:cubicBezTo>
                <a:lnTo>
                  <a:pt x="616182" y="179253"/>
                </a:lnTo>
                <a:cubicBezTo>
                  <a:pt x="616182" y="204003"/>
                  <a:pt x="596118" y="224066"/>
                  <a:pt x="571369" y="224066"/>
                </a:cubicBezTo>
                <a:lnTo>
                  <a:pt x="44813" y="224066"/>
                </a:lnTo>
                <a:cubicBezTo>
                  <a:pt x="20064" y="224066"/>
                  <a:pt x="0" y="204003"/>
                  <a:pt x="0" y="179253"/>
                </a:cubicBezTo>
                <a:lnTo>
                  <a:pt x="0" y="44813"/>
                </a:lnTo>
                <a:cubicBezTo>
                  <a:pt x="0" y="20064"/>
                  <a:pt x="20064" y="0"/>
                  <a:pt x="44813" y="0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D7134B0-E431-4471-B928-C90EA3CAF437}"/>
              </a:ext>
            </a:extLst>
          </p:cNvPr>
          <p:cNvSpPr>
            <a:spLocks noGrp="1"/>
          </p:cNvSpPr>
          <p:nvPr/>
        </p:nvSpPr>
        <p:spPr>
          <a:xfrm>
            <a:off x="9993631" y="2599167"/>
            <a:ext cx="683402" cy="224066"/>
          </a:xfrm>
          <a:prstGeom prst="rect">
            <a:avLst/>
          </a:prstGeom>
          <a:noFill/>
        </p:spPr>
        <p:txBody>
          <a:bodyPr wrap="square" lIns="89626" tIns="22407" rIns="89626" bIns="22407" anchor="ctr"/>
          <a:lstStyle/>
          <a:p>
            <a:pPr>
              <a:lnSpc>
                <a:spcPct val="110000"/>
              </a:lnSpc>
              <a:buNone/>
            </a:pPr>
            <a:r>
              <a:rPr sz="1059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ACTIVE</a:t>
            </a:r>
            <a:endParaRPr sz="16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E057AFDC-2305-4EA2-919B-360E6FDCF1DF}"/>
              </a:ext>
            </a:extLst>
          </p:cNvPr>
          <p:cNvSpPr>
            <a:spLocks noGrp="1"/>
          </p:cNvSpPr>
          <p:nvPr/>
        </p:nvSpPr>
        <p:spPr>
          <a:xfrm>
            <a:off x="5802754" y="2868047"/>
            <a:ext cx="4884642" cy="22406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35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Local mock and deterministic tests</a:t>
            </a:r>
            <a:endParaRPr sz="160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A8A89757-8943-4971-9109-D9B6CCCD825B}"/>
              </a:ext>
            </a:extLst>
          </p:cNvPr>
          <p:cNvSpPr>
            <a:spLocks noGrp="1"/>
          </p:cNvSpPr>
          <p:nvPr/>
        </p:nvSpPr>
        <p:spPr>
          <a:xfrm>
            <a:off x="5654870" y="3360992"/>
            <a:ext cx="26888" cy="761825"/>
          </a:xfrm>
          <a:custGeom>
            <a:avLst/>
            <a:gdLst/>
            <a:ahLst/>
            <a:cxnLst/>
            <a:rect l="l" t="t" r="r" b="b"/>
            <a:pathLst>
              <a:path w="26888" h="761825">
                <a:moveTo>
                  <a:pt x="0" y="0"/>
                </a:moveTo>
                <a:lnTo>
                  <a:pt x="26888" y="0"/>
                </a:lnTo>
                <a:lnTo>
                  <a:pt x="26888" y="761825"/>
                </a:lnTo>
                <a:lnTo>
                  <a:pt x="0" y="761825"/>
                </a:lnTo>
                <a:lnTo>
                  <a:pt x="0" y="0"/>
                </a:ln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C1710B91-C23E-4CF5-AE96-01CC550914C8}"/>
              </a:ext>
            </a:extLst>
          </p:cNvPr>
          <p:cNvSpPr>
            <a:spLocks noGrp="1"/>
          </p:cNvSpPr>
          <p:nvPr/>
        </p:nvSpPr>
        <p:spPr>
          <a:xfrm>
            <a:off x="5802754" y="3495432"/>
            <a:ext cx="616182" cy="22406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35" b="1">
                <a:solidFill>
                  <a:srgbClr val="788A9C"/>
                </a:solidFill>
                <a:latin typeface="Liter"/>
                <a:ea typeface="Liter"/>
                <a:cs typeface="Liter"/>
              </a:rPr>
              <a:t>Staging</a:t>
            </a:r>
            <a:endParaRPr sz="160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FA5458FA-51F9-4E50-A144-655DB20E6ADC}"/>
              </a:ext>
            </a:extLst>
          </p:cNvPr>
          <p:cNvSpPr>
            <a:spLocks noGrp="1"/>
          </p:cNvSpPr>
          <p:nvPr/>
        </p:nvSpPr>
        <p:spPr>
          <a:xfrm>
            <a:off x="10193330" y="3495432"/>
            <a:ext cx="414522" cy="224066"/>
          </a:xfrm>
          <a:custGeom>
            <a:avLst/>
            <a:gdLst/>
            <a:ahLst/>
            <a:cxnLst/>
            <a:rect l="l" t="t" r="r" b="b"/>
            <a:pathLst>
              <a:path w="414522" h="224066">
                <a:moveTo>
                  <a:pt x="44813" y="0"/>
                </a:moveTo>
                <a:lnTo>
                  <a:pt x="369709" y="0"/>
                </a:lnTo>
                <a:cubicBezTo>
                  <a:pt x="394459" y="0"/>
                  <a:pt x="414522" y="20064"/>
                  <a:pt x="414522" y="44813"/>
                </a:cubicBezTo>
                <a:lnTo>
                  <a:pt x="414522" y="179253"/>
                </a:lnTo>
                <a:cubicBezTo>
                  <a:pt x="414522" y="204003"/>
                  <a:pt x="394459" y="224066"/>
                  <a:pt x="369709" y="224066"/>
                </a:cubicBezTo>
                <a:lnTo>
                  <a:pt x="44813" y="224066"/>
                </a:lnTo>
                <a:cubicBezTo>
                  <a:pt x="20064" y="224066"/>
                  <a:pt x="0" y="204003"/>
                  <a:pt x="0" y="179253"/>
                </a:cubicBezTo>
                <a:lnTo>
                  <a:pt x="0" y="44813"/>
                </a:lnTo>
                <a:cubicBezTo>
                  <a:pt x="0" y="20064"/>
                  <a:pt x="20064" y="0"/>
                  <a:pt x="44813" y="0"/>
                </a:cubicBez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0E8F4BC4-409B-42DA-B98C-4E0ECBC245DF}"/>
              </a:ext>
            </a:extLst>
          </p:cNvPr>
          <p:cNvSpPr>
            <a:spLocks noGrp="1"/>
          </p:cNvSpPr>
          <p:nvPr/>
        </p:nvSpPr>
        <p:spPr>
          <a:xfrm>
            <a:off x="10193330" y="3495432"/>
            <a:ext cx="481742" cy="224066"/>
          </a:xfrm>
          <a:prstGeom prst="rect">
            <a:avLst/>
          </a:prstGeom>
          <a:noFill/>
        </p:spPr>
        <p:txBody>
          <a:bodyPr wrap="square" lIns="89626" tIns="22407" rIns="89626" bIns="22407" anchor="ctr"/>
          <a:lstStyle/>
          <a:p>
            <a:pPr>
              <a:lnSpc>
                <a:spcPct val="110000"/>
              </a:lnSpc>
              <a:buNone/>
            </a:pPr>
            <a:r>
              <a:rPr sz="1059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QA</a:t>
            </a:r>
            <a:endParaRPr sz="160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3D0AAC44-0464-45EA-9032-7F1F24628A62}"/>
              </a:ext>
            </a:extLst>
          </p:cNvPr>
          <p:cNvSpPr>
            <a:spLocks noGrp="1"/>
          </p:cNvSpPr>
          <p:nvPr/>
        </p:nvSpPr>
        <p:spPr>
          <a:xfrm>
            <a:off x="5802754" y="3764312"/>
            <a:ext cx="4884642" cy="22406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35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Disposable reset and smoke only</a:t>
            </a:r>
            <a:endParaRPr sz="160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A2BF72D2-8FB6-4A83-8EF4-0567FFF9BB58}"/>
              </a:ext>
            </a:extLst>
          </p:cNvPr>
          <p:cNvSpPr>
            <a:spLocks noGrp="1"/>
          </p:cNvSpPr>
          <p:nvPr/>
        </p:nvSpPr>
        <p:spPr>
          <a:xfrm>
            <a:off x="5654870" y="4257257"/>
            <a:ext cx="26888" cy="761825"/>
          </a:xfrm>
          <a:custGeom>
            <a:avLst/>
            <a:gdLst/>
            <a:ahLst/>
            <a:cxnLst/>
            <a:rect l="l" t="t" r="r" b="b"/>
            <a:pathLst>
              <a:path w="26888" h="761825">
                <a:moveTo>
                  <a:pt x="0" y="0"/>
                </a:moveTo>
                <a:lnTo>
                  <a:pt x="26888" y="0"/>
                </a:lnTo>
                <a:lnTo>
                  <a:pt x="26888" y="761825"/>
                </a:lnTo>
                <a:lnTo>
                  <a:pt x="0" y="761825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6A96C5F0-CA1C-4935-855A-0C2843539CAB}"/>
              </a:ext>
            </a:extLst>
          </p:cNvPr>
          <p:cNvSpPr>
            <a:spLocks noGrp="1"/>
          </p:cNvSpPr>
          <p:nvPr/>
        </p:nvSpPr>
        <p:spPr>
          <a:xfrm>
            <a:off x="5802754" y="4391697"/>
            <a:ext cx="840248" cy="22406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35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Production</a:t>
            </a:r>
            <a:endParaRPr sz="160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FBC3188E-341C-472D-A4AD-4FE195DD5035}"/>
              </a:ext>
            </a:extLst>
          </p:cNvPr>
          <p:cNvSpPr>
            <a:spLocks noGrp="1"/>
          </p:cNvSpPr>
          <p:nvPr/>
        </p:nvSpPr>
        <p:spPr>
          <a:xfrm>
            <a:off x="10024160" y="4391697"/>
            <a:ext cx="582572" cy="224066"/>
          </a:xfrm>
          <a:custGeom>
            <a:avLst/>
            <a:gdLst/>
            <a:ahLst/>
            <a:cxnLst/>
            <a:rect l="l" t="t" r="r" b="b"/>
            <a:pathLst>
              <a:path w="582572" h="224066">
                <a:moveTo>
                  <a:pt x="44813" y="0"/>
                </a:moveTo>
                <a:lnTo>
                  <a:pt x="537759" y="0"/>
                </a:lnTo>
                <a:cubicBezTo>
                  <a:pt x="562508" y="0"/>
                  <a:pt x="582572" y="20064"/>
                  <a:pt x="582572" y="44813"/>
                </a:cubicBezTo>
                <a:lnTo>
                  <a:pt x="582572" y="179253"/>
                </a:lnTo>
                <a:cubicBezTo>
                  <a:pt x="582572" y="204003"/>
                  <a:pt x="562508" y="224066"/>
                  <a:pt x="537759" y="224066"/>
                </a:cubicBezTo>
                <a:lnTo>
                  <a:pt x="44813" y="224066"/>
                </a:lnTo>
                <a:cubicBezTo>
                  <a:pt x="20064" y="224066"/>
                  <a:pt x="0" y="204003"/>
                  <a:pt x="0" y="179253"/>
                </a:cubicBezTo>
                <a:lnTo>
                  <a:pt x="0" y="44813"/>
                </a:lnTo>
                <a:cubicBezTo>
                  <a:pt x="0" y="20064"/>
                  <a:pt x="20064" y="0"/>
                  <a:pt x="44813" y="0"/>
                </a:cubicBez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57059562-ED09-4A50-B662-51927AF9FB03}"/>
              </a:ext>
            </a:extLst>
          </p:cNvPr>
          <p:cNvSpPr>
            <a:spLocks noGrp="1"/>
          </p:cNvSpPr>
          <p:nvPr/>
        </p:nvSpPr>
        <p:spPr>
          <a:xfrm>
            <a:off x="10024160" y="4391697"/>
            <a:ext cx="649792" cy="224066"/>
          </a:xfrm>
          <a:prstGeom prst="rect">
            <a:avLst/>
          </a:prstGeom>
          <a:noFill/>
        </p:spPr>
        <p:txBody>
          <a:bodyPr wrap="square" lIns="89626" tIns="22407" rIns="89626" bIns="22407" anchor="ctr"/>
          <a:lstStyle/>
          <a:p>
            <a:pPr>
              <a:lnSpc>
                <a:spcPct val="110000"/>
              </a:lnSpc>
              <a:buNone/>
            </a:pPr>
            <a:r>
              <a:rPr sz="1059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GATED</a:t>
            </a:r>
            <a:endParaRPr sz="160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AC1C71B0-9BA4-4150-95DC-BD87A3854E04}"/>
              </a:ext>
            </a:extLst>
          </p:cNvPr>
          <p:cNvSpPr>
            <a:spLocks noGrp="1"/>
          </p:cNvSpPr>
          <p:nvPr/>
        </p:nvSpPr>
        <p:spPr>
          <a:xfrm>
            <a:off x="5802754" y="4660576"/>
            <a:ext cx="4884642" cy="22406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35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DSQL, S3, Cognito and marker readiness</a:t>
            </a:r>
            <a:endParaRPr sz="160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41B72309-A867-475C-A7A2-870B858BAD1A}"/>
              </a:ext>
            </a:extLst>
          </p:cNvPr>
          <p:cNvSpPr>
            <a:spLocks noGrp="1"/>
          </p:cNvSpPr>
          <p:nvPr/>
        </p:nvSpPr>
        <p:spPr>
          <a:xfrm>
            <a:off x="10862728" y="2072612"/>
            <a:ext cx="201660" cy="201660"/>
          </a:xfrm>
          <a:custGeom>
            <a:avLst/>
            <a:gdLst/>
            <a:ahLst/>
            <a:cxnLst/>
            <a:rect l="l" t="t" r="r" b="b"/>
            <a:pathLst>
              <a:path w="201660" h="201660">
                <a:moveTo>
                  <a:pt x="100830" y="0"/>
                </a:moveTo>
                <a:cubicBezTo>
                  <a:pt x="102642" y="0"/>
                  <a:pt x="104453" y="394"/>
                  <a:pt x="106108" y="1142"/>
                </a:cubicBezTo>
                <a:lnTo>
                  <a:pt x="180312" y="32612"/>
                </a:lnTo>
                <a:cubicBezTo>
                  <a:pt x="188977" y="36275"/>
                  <a:pt x="195436" y="44822"/>
                  <a:pt x="195397" y="55141"/>
                </a:cubicBezTo>
                <a:cubicBezTo>
                  <a:pt x="195200" y="94213"/>
                  <a:pt x="179130" y="165700"/>
                  <a:pt x="111267" y="198194"/>
                </a:cubicBezTo>
                <a:cubicBezTo>
                  <a:pt x="104690" y="201344"/>
                  <a:pt x="97049" y="201344"/>
                  <a:pt x="90471" y="198194"/>
                </a:cubicBezTo>
                <a:cubicBezTo>
                  <a:pt x="22569" y="165700"/>
                  <a:pt x="6538" y="94213"/>
                  <a:pt x="6341" y="55141"/>
                </a:cubicBezTo>
                <a:cubicBezTo>
                  <a:pt x="6302" y="44822"/>
                  <a:pt x="12761" y="36275"/>
                  <a:pt x="21426" y="32612"/>
                </a:cubicBezTo>
                <a:lnTo>
                  <a:pt x="95591" y="1142"/>
                </a:lnTo>
                <a:cubicBezTo>
                  <a:pt x="97246" y="394"/>
                  <a:pt x="99018" y="0"/>
                  <a:pt x="100830" y="0"/>
                </a:cubicBezTo>
                <a:close/>
                <a:moveTo>
                  <a:pt x="100830" y="26310"/>
                </a:moveTo>
                <a:lnTo>
                  <a:pt x="100830" y="175231"/>
                </a:lnTo>
                <a:cubicBezTo>
                  <a:pt x="155183" y="148921"/>
                  <a:pt x="169796" y="90629"/>
                  <a:pt x="170150" y="55732"/>
                </a:cubicBezTo>
                <a:lnTo>
                  <a:pt x="100830" y="26350"/>
                </a:lnTo>
                <a:lnTo>
                  <a:pt x="100830" y="2635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C8E3DFB4-6D45-45D5-8C45-5593F6ACBEE8}"/>
              </a:ext>
            </a:extLst>
          </p:cNvPr>
          <p:cNvSpPr>
            <a:spLocks noGrp="1"/>
          </p:cNvSpPr>
          <p:nvPr/>
        </p:nvSpPr>
        <p:spPr>
          <a:xfrm>
            <a:off x="11092396" y="2016595"/>
            <a:ext cx="4817422" cy="31369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588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Identity &amp; Access</a:t>
            </a:r>
            <a:endParaRPr sz="160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22859C76-2BD3-4F94-8DAD-FD5661E45326}"/>
              </a:ext>
            </a:extLst>
          </p:cNvPr>
          <p:cNvSpPr>
            <a:spLocks noGrp="1"/>
          </p:cNvSpPr>
          <p:nvPr/>
        </p:nvSpPr>
        <p:spPr>
          <a:xfrm>
            <a:off x="10848164" y="2464728"/>
            <a:ext cx="26888" cy="627385"/>
          </a:xfrm>
          <a:custGeom>
            <a:avLst/>
            <a:gdLst/>
            <a:ahLst/>
            <a:cxnLst/>
            <a:rect l="l" t="t" r="r" b="b"/>
            <a:pathLst>
              <a:path w="26888" h="627385">
                <a:moveTo>
                  <a:pt x="0" y="0"/>
                </a:moveTo>
                <a:lnTo>
                  <a:pt x="26888" y="0"/>
                </a:lnTo>
                <a:lnTo>
                  <a:pt x="26888" y="627385"/>
                </a:lnTo>
                <a:lnTo>
                  <a:pt x="0" y="627385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F487F2B3-B527-4A04-B1D0-878445529E60}"/>
              </a:ext>
            </a:extLst>
          </p:cNvPr>
          <p:cNvSpPr>
            <a:spLocks noGrp="1"/>
          </p:cNvSpPr>
          <p:nvPr/>
        </p:nvSpPr>
        <p:spPr>
          <a:xfrm>
            <a:off x="10996047" y="2554354"/>
            <a:ext cx="4884642" cy="22406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35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Students</a:t>
            </a:r>
            <a:endParaRPr sz="160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1A1908B9-BE84-4177-BFDB-3A1C8DE66A80}"/>
              </a:ext>
            </a:extLst>
          </p:cNvPr>
          <p:cNvSpPr>
            <a:spLocks noGrp="1"/>
          </p:cNvSpPr>
          <p:nvPr/>
        </p:nvSpPr>
        <p:spPr>
          <a:xfrm>
            <a:off x="10996047" y="2823234"/>
            <a:ext cx="4873439" cy="17925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059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Cognito subject maps to an internal user</a:t>
            </a:r>
            <a:endParaRPr sz="160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A328AE28-42EF-4B54-991B-3C48EF44BF37}"/>
              </a:ext>
            </a:extLst>
          </p:cNvPr>
          <p:cNvSpPr>
            <a:spLocks noGrp="1"/>
          </p:cNvSpPr>
          <p:nvPr/>
        </p:nvSpPr>
        <p:spPr>
          <a:xfrm>
            <a:off x="10848164" y="3181597"/>
            <a:ext cx="26888" cy="627385"/>
          </a:xfrm>
          <a:custGeom>
            <a:avLst/>
            <a:gdLst/>
            <a:ahLst/>
            <a:cxnLst/>
            <a:rect l="l" t="t" r="r" b="b"/>
            <a:pathLst>
              <a:path w="26888" h="627385">
                <a:moveTo>
                  <a:pt x="0" y="0"/>
                </a:moveTo>
                <a:lnTo>
                  <a:pt x="26888" y="0"/>
                </a:lnTo>
                <a:lnTo>
                  <a:pt x="26888" y="627385"/>
                </a:lnTo>
                <a:lnTo>
                  <a:pt x="0" y="627385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0E648204-FFF1-46FF-B367-FF7BED6B94B8}"/>
              </a:ext>
            </a:extLst>
          </p:cNvPr>
          <p:cNvSpPr>
            <a:spLocks noGrp="1"/>
          </p:cNvSpPr>
          <p:nvPr/>
        </p:nvSpPr>
        <p:spPr>
          <a:xfrm>
            <a:off x="10996047" y="3271224"/>
            <a:ext cx="4884642" cy="22406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35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Lecturer / Admin</a:t>
            </a:r>
            <a:endParaRPr sz="160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67331F26-F727-4699-A10A-B8B0B8116860}"/>
              </a:ext>
            </a:extLst>
          </p:cNvPr>
          <p:cNvSpPr>
            <a:spLocks noGrp="1"/>
          </p:cNvSpPr>
          <p:nvPr/>
        </p:nvSpPr>
        <p:spPr>
          <a:xfrm>
            <a:off x="10996047" y="3540103"/>
            <a:ext cx="4873439" cy="17925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059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Persisted role; never trusted from browser claims</a:t>
            </a:r>
            <a:endParaRPr sz="160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FCF2C9D1-A06B-4FF0-A5A1-EB37B2AAD6EE}"/>
              </a:ext>
            </a:extLst>
          </p:cNvPr>
          <p:cNvSpPr>
            <a:spLocks noGrp="1"/>
          </p:cNvSpPr>
          <p:nvPr/>
        </p:nvSpPr>
        <p:spPr>
          <a:xfrm>
            <a:off x="10848164" y="3898472"/>
            <a:ext cx="26888" cy="627385"/>
          </a:xfrm>
          <a:custGeom>
            <a:avLst/>
            <a:gdLst/>
            <a:ahLst/>
            <a:cxnLst/>
            <a:rect l="l" t="t" r="r" b="b"/>
            <a:pathLst>
              <a:path w="26888" h="627385">
                <a:moveTo>
                  <a:pt x="0" y="0"/>
                </a:moveTo>
                <a:lnTo>
                  <a:pt x="26888" y="0"/>
                </a:lnTo>
                <a:lnTo>
                  <a:pt x="26888" y="627385"/>
                </a:lnTo>
                <a:lnTo>
                  <a:pt x="0" y="627385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7AB3E281-E58B-44FF-8683-0BFE8C3BAF5B}"/>
              </a:ext>
            </a:extLst>
          </p:cNvPr>
          <p:cNvSpPr>
            <a:spLocks noGrp="1"/>
          </p:cNvSpPr>
          <p:nvPr/>
        </p:nvSpPr>
        <p:spPr>
          <a:xfrm>
            <a:off x="10996047" y="3988099"/>
            <a:ext cx="4884642" cy="22406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35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Research access</a:t>
            </a:r>
            <a:endParaRPr sz="160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71645213-677B-4F69-84E7-2B976BC15ADD}"/>
              </a:ext>
            </a:extLst>
          </p:cNvPr>
          <p:cNvSpPr>
            <a:spLocks noGrp="1"/>
          </p:cNvSpPr>
          <p:nvPr/>
        </p:nvSpPr>
        <p:spPr>
          <a:xfrm>
            <a:off x="10996047" y="4256978"/>
            <a:ext cx="4873439" cy="17925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059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Identifiable reads are audited and fail-closed</a:t>
            </a:r>
            <a:endParaRPr sz="160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F8DDA239-C0BA-4DF2-84B9-6821B0253B46}"/>
              </a:ext>
            </a:extLst>
          </p:cNvPr>
          <p:cNvSpPr>
            <a:spLocks noGrp="1"/>
          </p:cNvSpPr>
          <p:nvPr/>
        </p:nvSpPr>
        <p:spPr>
          <a:xfrm>
            <a:off x="10848164" y="4615342"/>
            <a:ext cx="26888" cy="627385"/>
          </a:xfrm>
          <a:custGeom>
            <a:avLst/>
            <a:gdLst/>
            <a:ahLst/>
            <a:cxnLst/>
            <a:rect l="l" t="t" r="r" b="b"/>
            <a:pathLst>
              <a:path w="26888" h="627385">
                <a:moveTo>
                  <a:pt x="0" y="0"/>
                </a:moveTo>
                <a:lnTo>
                  <a:pt x="26888" y="0"/>
                </a:lnTo>
                <a:lnTo>
                  <a:pt x="26888" y="627385"/>
                </a:lnTo>
                <a:lnTo>
                  <a:pt x="0" y="627385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59E0184E-0D8B-40B6-BF08-9DD418CEE2A4}"/>
              </a:ext>
            </a:extLst>
          </p:cNvPr>
          <p:cNvSpPr>
            <a:spLocks noGrp="1"/>
          </p:cNvSpPr>
          <p:nvPr/>
        </p:nvSpPr>
        <p:spPr>
          <a:xfrm>
            <a:off x="10996047" y="4704968"/>
            <a:ext cx="4884642" cy="22406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35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Secrets</a:t>
            </a:r>
            <a:endParaRPr sz="160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1714143F-1E24-46CF-B1C3-D27DDBD42145}"/>
              </a:ext>
            </a:extLst>
          </p:cNvPr>
          <p:cNvSpPr>
            <a:spLocks noGrp="1"/>
          </p:cNvSpPr>
          <p:nvPr/>
        </p:nvSpPr>
        <p:spPr>
          <a:xfrm>
            <a:off x="10996047" y="4973848"/>
            <a:ext cx="4873439" cy="17925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059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IAM/environment; never stored in research data</a:t>
            </a:r>
            <a:endParaRPr sz="160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5469D975-547A-40C9-80FC-3678148FB5DE}"/>
              </a:ext>
            </a:extLst>
          </p:cNvPr>
          <p:cNvSpPr>
            <a:spLocks noGrp="1"/>
          </p:cNvSpPr>
          <p:nvPr/>
        </p:nvSpPr>
        <p:spPr>
          <a:xfrm>
            <a:off x="470539" y="6811332"/>
            <a:ext cx="15337329" cy="1658090"/>
          </a:xfrm>
          <a:custGeom>
            <a:avLst/>
            <a:gdLst/>
            <a:ahLst/>
            <a:cxnLst/>
            <a:rect l="l" t="t" r="r" b="b"/>
            <a:pathLst>
              <a:path w="15337329" h="1658090">
                <a:moveTo>
                  <a:pt x="0" y="0"/>
                </a:moveTo>
                <a:lnTo>
                  <a:pt x="15337329" y="0"/>
                </a:lnTo>
                <a:lnTo>
                  <a:pt x="15337329" y="1658090"/>
                </a:lnTo>
                <a:lnTo>
                  <a:pt x="0" y="1658090"/>
                </a:lnTo>
                <a:lnTo>
                  <a:pt x="0" y="0"/>
                </a:lnTo>
                <a:close/>
              </a:path>
            </a:pathLst>
          </a:custGeom>
          <a:solidFill>
            <a:srgbClr val="4A6D8A">
              <a:alpha val="5098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6175FF4C-26AF-43AD-A4FB-2DC81FD68925}"/>
              </a:ext>
            </a:extLst>
          </p:cNvPr>
          <p:cNvSpPr>
            <a:spLocks noGrp="1"/>
          </p:cNvSpPr>
          <p:nvPr/>
        </p:nvSpPr>
        <p:spPr>
          <a:xfrm>
            <a:off x="470539" y="6811332"/>
            <a:ext cx="44813" cy="1658090"/>
          </a:xfrm>
          <a:custGeom>
            <a:avLst/>
            <a:gdLst/>
            <a:ahLst/>
            <a:cxnLst/>
            <a:rect l="l" t="t" r="r" b="b"/>
            <a:pathLst>
              <a:path w="44813" h="1658090">
                <a:moveTo>
                  <a:pt x="0" y="0"/>
                </a:moveTo>
                <a:lnTo>
                  <a:pt x="44813" y="0"/>
                </a:lnTo>
                <a:lnTo>
                  <a:pt x="44813" y="1658090"/>
                </a:lnTo>
                <a:lnTo>
                  <a:pt x="0" y="165809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94832524-E122-4298-98CE-5281BC9B6A8B}"/>
              </a:ext>
            </a:extLst>
          </p:cNvPr>
          <p:cNvSpPr>
            <a:spLocks noGrp="1"/>
          </p:cNvSpPr>
          <p:nvPr/>
        </p:nvSpPr>
        <p:spPr>
          <a:xfrm>
            <a:off x="747821" y="7035398"/>
            <a:ext cx="196058" cy="224066"/>
          </a:xfrm>
          <a:custGeom>
            <a:avLst/>
            <a:gdLst/>
            <a:ahLst/>
            <a:cxnLst/>
            <a:rect l="l" t="t" r="r" b="b"/>
            <a:pathLst>
              <a:path w="196058" h="224066">
                <a:moveTo>
                  <a:pt x="196058" y="90064"/>
                </a:moveTo>
                <a:cubicBezTo>
                  <a:pt x="189581" y="94353"/>
                  <a:pt x="182141" y="97810"/>
                  <a:pt x="174395" y="100567"/>
                </a:cubicBezTo>
                <a:cubicBezTo>
                  <a:pt x="153827" y="107919"/>
                  <a:pt x="126825" y="112033"/>
                  <a:pt x="98029" y="112033"/>
                </a:cubicBezTo>
                <a:cubicBezTo>
                  <a:pt x="69233" y="112033"/>
                  <a:pt x="42187" y="107876"/>
                  <a:pt x="21663" y="100567"/>
                </a:cubicBezTo>
                <a:cubicBezTo>
                  <a:pt x="13960" y="97810"/>
                  <a:pt x="6477" y="94353"/>
                  <a:pt x="0" y="90064"/>
                </a:cubicBezTo>
                <a:lnTo>
                  <a:pt x="0" y="126037"/>
                </a:lnTo>
                <a:cubicBezTo>
                  <a:pt x="0" y="145380"/>
                  <a:pt x="43894" y="161048"/>
                  <a:pt x="98029" y="161048"/>
                </a:cubicBezTo>
                <a:cubicBezTo>
                  <a:pt x="152164" y="161048"/>
                  <a:pt x="196058" y="145380"/>
                  <a:pt x="196058" y="126037"/>
                </a:cubicBezTo>
                <a:lnTo>
                  <a:pt x="196058" y="90064"/>
                </a:lnTo>
                <a:close/>
                <a:moveTo>
                  <a:pt x="196058" y="56017"/>
                </a:moveTo>
                <a:lnTo>
                  <a:pt x="196058" y="35010"/>
                </a:lnTo>
                <a:cubicBezTo>
                  <a:pt x="196058" y="15667"/>
                  <a:pt x="152164" y="0"/>
                  <a:pt x="98029" y="0"/>
                </a:cubicBezTo>
                <a:cubicBezTo>
                  <a:pt x="43894" y="0"/>
                  <a:pt x="0" y="15667"/>
                  <a:pt x="0" y="35010"/>
                </a:cubicBezTo>
                <a:lnTo>
                  <a:pt x="0" y="56017"/>
                </a:lnTo>
                <a:cubicBezTo>
                  <a:pt x="0" y="75360"/>
                  <a:pt x="43894" y="91027"/>
                  <a:pt x="98029" y="91027"/>
                </a:cubicBezTo>
                <a:cubicBezTo>
                  <a:pt x="152164" y="91027"/>
                  <a:pt x="196058" y="75360"/>
                  <a:pt x="196058" y="56017"/>
                </a:cubicBezTo>
                <a:close/>
                <a:moveTo>
                  <a:pt x="174395" y="170588"/>
                </a:moveTo>
                <a:cubicBezTo>
                  <a:pt x="153870" y="177896"/>
                  <a:pt x="126869" y="182054"/>
                  <a:pt x="98029" y="182054"/>
                </a:cubicBezTo>
                <a:cubicBezTo>
                  <a:pt x="69189" y="182054"/>
                  <a:pt x="42187" y="177896"/>
                  <a:pt x="21663" y="170588"/>
                </a:cubicBezTo>
                <a:cubicBezTo>
                  <a:pt x="13960" y="167831"/>
                  <a:pt x="6477" y="164374"/>
                  <a:pt x="0" y="160085"/>
                </a:cubicBezTo>
                <a:lnTo>
                  <a:pt x="0" y="189056"/>
                </a:lnTo>
                <a:cubicBezTo>
                  <a:pt x="0" y="208399"/>
                  <a:pt x="43894" y="224066"/>
                  <a:pt x="98029" y="224066"/>
                </a:cubicBezTo>
                <a:cubicBezTo>
                  <a:pt x="152164" y="224066"/>
                  <a:pt x="196058" y="208399"/>
                  <a:pt x="196058" y="189056"/>
                </a:cubicBezTo>
                <a:lnTo>
                  <a:pt x="196058" y="160085"/>
                </a:lnTo>
                <a:cubicBezTo>
                  <a:pt x="189581" y="164374"/>
                  <a:pt x="182141" y="167831"/>
                  <a:pt x="174395" y="170588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4C62EDE0-F8BC-4385-8857-2C50032D0A93}"/>
              </a:ext>
            </a:extLst>
          </p:cNvPr>
          <p:cNvSpPr>
            <a:spLocks noGrp="1"/>
          </p:cNvSpPr>
          <p:nvPr/>
        </p:nvSpPr>
        <p:spPr>
          <a:xfrm>
            <a:off x="1113189" y="6990585"/>
            <a:ext cx="14788367" cy="31369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588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Data Model &amp; Lifecycle</a:t>
            </a:r>
            <a:endParaRPr sz="1600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1248E1A6-EDB8-40B0-98C0-8042E5C54BE2}"/>
              </a:ext>
            </a:extLst>
          </p:cNvPr>
          <p:cNvSpPr>
            <a:spLocks noGrp="1"/>
          </p:cNvSpPr>
          <p:nvPr/>
        </p:nvSpPr>
        <p:spPr>
          <a:xfrm>
            <a:off x="1113189" y="7393904"/>
            <a:ext cx="14777163" cy="53775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411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Users → notebooks → messages, sources and research observations. Reviews and adjudications append to observations; access audits remain independent.</a:t>
            </a:r>
            <a:endParaRPr sz="1600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82E66BA5-F953-4526-83DF-3EDFCBCED244}"/>
              </a:ext>
            </a:extLst>
          </p:cNvPr>
          <p:cNvSpPr>
            <a:spLocks noGrp="1"/>
          </p:cNvSpPr>
          <p:nvPr/>
        </p:nvSpPr>
        <p:spPr>
          <a:xfrm>
            <a:off x="1113189" y="8066103"/>
            <a:ext cx="7338167" cy="22406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35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Ownership: every notebook, source and message query respects the authenticated user boundary</a:t>
            </a:r>
            <a:endParaRPr sz="1600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7A710CF4-B4B9-4D00-8CD2-931EC3D62330}"/>
              </a:ext>
            </a:extLst>
          </p:cNvPr>
          <p:cNvSpPr>
            <a:spLocks noGrp="1"/>
          </p:cNvSpPr>
          <p:nvPr/>
        </p:nvSpPr>
        <p:spPr>
          <a:xfrm>
            <a:off x="8548264" y="8066103"/>
            <a:ext cx="7338167" cy="22406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235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Contract: cde2300-five-phase-v1 blocks silent interpretation of old six-stage data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671500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E733675-F28D-42C2-83FB-5F4122AA404F}"/>
              </a:ext>
            </a:extLst>
          </p:cNvPr>
          <p:cNvSpPr>
            <a:spLocks noGrp="1"/>
          </p:cNvSpPr>
          <p:nvPr/>
        </p:nvSpPr>
        <p:spPr>
          <a:xfrm>
            <a:off x="508000" y="5080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74AEAC-A053-47A5-858A-38E4CF35C586}"/>
              </a:ext>
            </a:extLst>
          </p:cNvPr>
          <p:cNvSpPr>
            <a:spLocks noGrp="1"/>
          </p:cNvSpPr>
          <p:nvPr/>
        </p:nvSpPr>
        <p:spPr>
          <a:xfrm>
            <a:off x="711200" y="635000"/>
            <a:ext cx="22098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spc="7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RESEARCH &amp; REVIEW</a:t>
            </a:r>
            <a:endParaRPr sz="1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6DF3C5-5624-4908-AF65-DD1EAC42F78F}"/>
              </a:ext>
            </a:extLst>
          </p:cNvPr>
          <p:cNvSpPr>
            <a:spLocks noGrp="1"/>
          </p:cNvSpPr>
          <p:nvPr/>
        </p:nvSpPr>
        <p:spPr>
          <a:xfrm>
            <a:off x="508000" y="11176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90000"/>
              </a:lnSpc>
              <a:buNone/>
            </a:pPr>
            <a:r>
              <a:rPr sz="36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Two Views: Student Reflection and Lecturer Validation</a:t>
            </a:r>
            <a:endParaRPr sz="16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1928069-324E-4E52-A3E5-5F44A9375B0F}"/>
              </a:ext>
            </a:extLst>
          </p:cNvPr>
          <p:cNvSpPr>
            <a:spLocks noGrp="1"/>
          </p:cNvSpPr>
          <p:nvPr/>
        </p:nvSpPr>
        <p:spPr>
          <a:xfrm>
            <a:off x="508000" y="1879600"/>
            <a:ext cx="91948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20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Student Review</a:t>
            </a:r>
            <a:endParaRPr sz="1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72FF8DA-45AB-4746-A7DF-14714D51D7A7}"/>
              </a:ext>
            </a:extLst>
          </p:cNvPr>
          <p:cNvSpPr>
            <a:spLocks noGrp="1"/>
          </p:cNvSpPr>
          <p:nvPr/>
        </p:nvSpPr>
        <p:spPr>
          <a:xfrm>
            <a:off x="508000" y="2336800"/>
            <a:ext cx="9169400" cy="1320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40000"/>
              </a:lnSpc>
              <a:buNone/>
            </a:pPr>
            <a:r>
              <a:rPr sz="16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Shows cumulative Quick/Strict Facione evidence and Reflection-only provisional synthesis.</a:t>
            </a:r>
            <a:endParaRPr sz="16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DCACB75-CEF9-4B4F-9AB9-BC4AE33BD365}"/>
              </a:ext>
            </a:extLst>
          </p:cNvPr>
          <p:cNvSpPr>
            <a:spLocks noGrp="1"/>
          </p:cNvSpPr>
          <p:nvPr/>
        </p:nvSpPr>
        <p:spPr>
          <a:xfrm>
            <a:off x="508000" y="3860800"/>
            <a:ext cx="91948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20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Lecturer Research</a:t>
            </a:r>
            <a:endParaRPr sz="16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19681F6-0B86-4B1F-A187-5027F06C7E8C}"/>
              </a:ext>
            </a:extLst>
          </p:cNvPr>
          <p:cNvSpPr>
            <a:spLocks noGrp="1"/>
          </p:cNvSpPr>
          <p:nvPr/>
        </p:nvSpPr>
        <p:spPr>
          <a:xfrm>
            <a:off x="508000" y="4318000"/>
            <a:ext cx="9169400" cy="990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40000"/>
              </a:lnSpc>
              <a:buNone/>
            </a:pPr>
            <a:r>
              <a:rPr sz="16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Shows attributable observations, transcript context, reviews, adjudication and export.</a:t>
            </a:r>
            <a:endParaRPr sz="16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90EAC67-2DF5-48E7-AE68-25E75B41D433}"/>
              </a:ext>
            </a:extLst>
          </p:cNvPr>
          <p:cNvSpPr>
            <a:spLocks noGrp="1"/>
          </p:cNvSpPr>
          <p:nvPr/>
        </p:nvSpPr>
        <p:spPr>
          <a:xfrm>
            <a:off x="533400" y="5511800"/>
            <a:ext cx="9042400" cy="1320800"/>
          </a:xfrm>
          <a:custGeom>
            <a:avLst/>
            <a:gdLst/>
            <a:ahLst/>
            <a:cxnLst/>
            <a:rect l="l" t="t" r="r" b="b"/>
            <a:pathLst>
              <a:path w="9042400" h="1320800">
                <a:moveTo>
                  <a:pt x="0" y="0"/>
                </a:moveTo>
                <a:lnTo>
                  <a:pt x="9042400" y="0"/>
                </a:lnTo>
                <a:lnTo>
                  <a:pt x="9042400" y="1320800"/>
                </a:lnTo>
                <a:lnTo>
                  <a:pt x="0" y="13208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>
              <a:alpha val="5098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0DBA12D-DA88-425C-A647-9BD07177E15E}"/>
              </a:ext>
            </a:extLst>
          </p:cNvPr>
          <p:cNvSpPr>
            <a:spLocks noGrp="1"/>
          </p:cNvSpPr>
          <p:nvPr/>
        </p:nvSpPr>
        <p:spPr>
          <a:xfrm>
            <a:off x="533400" y="5511800"/>
            <a:ext cx="50800" cy="1320800"/>
          </a:xfrm>
          <a:custGeom>
            <a:avLst/>
            <a:gdLst/>
            <a:ahLst/>
            <a:cxnLst/>
            <a:rect l="l" t="t" r="r" b="b"/>
            <a:pathLst>
              <a:path w="50800" h="1320800">
                <a:moveTo>
                  <a:pt x="0" y="0"/>
                </a:moveTo>
                <a:lnTo>
                  <a:pt x="50800" y="0"/>
                </a:lnTo>
                <a:lnTo>
                  <a:pt x="50800" y="1320800"/>
                </a:lnTo>
                <a:lnTo>
                  <a:pt x="0" y="13208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58E41F1-0459-415F-9ED3-4F4C6DBDABA6}"/>
              </a:ext>
            </a:extLst>
          </p:cNvPr>
          <p:cNvSpPr>
            <a:spLocks noGrp="1"/>
          </p:cNvSpPr>
          <p:nvPr/>
        </p:nvSpPr>
        <p:spPr>
          <a:xfrm>
            <a:off x="812800" y="57150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116245" y="152400"/>
                </a:moveTo>
                <a:cubicBezTo>
                  <a:pt x="119142" y="143550"/>
                  <a:pt x="124936" y="135533"/>
                  <a:pt x="131485" y="128627"/>
                </a:cubicBezTo>
                <a:cubicBezTo>
                  <a:pt x="144462" y="114975"/>
                  <a:pt x="152400" y="96520"/>
                  <a:pt x="152400" y="76200"/>
                </a:cubicBezTo>
                <a:cubicBezTo>
                  <a:pt x="152400" y="34131"/>
                  <a:pt x="118269" y="0"/>
                  <a:pt x="76200" y="0"/>
                </a:cubicBezTo>
                <a:cubicBezTo>
                  <a:pt x="34131" y="0"/>
                  <a:pt x="0" y="34131"/>
                  <a:pt x="0" y="76200"/>
                </a:cubicBezTo>
                <a:cubicBezTo>
                  <a:pt x="0" y="96520"/>
                  <a:pt x="7938" y="114975"/>
                  <a:pt x="20915" y="128627"/>
                </a:cubicBezTo>
                <a:cubicBezTo>
                  <a:pt x="27464" y="135533"/>
                  <a:pt x="33298" y="143550"/>
                  <a:pt x="36155" y="152400"/>
                </a:cubicBezTo>
                <a:lnTo>
                  <a:pt x="116205" y="152400"/>
                </a:lnTo>
                <a:close/>
                <a:moveTo>
                  <a:pt x="114300" y="171450"/>
                </a:moveTo>
                <a:lnTo>
                  <a:pt x="38100" y="171450"/>
                </a:lnTo>
                <a:lnTo>
                  <a:pt x="38100" y="177800"/>
                </a:lnTo>
                <a:cubicBezTo>
                  <a:pt x="38100" y="195342"/>
                  <a:pt x="52308" y="209550"/>
                  <a:pt x="69850" y="209550"/>
                </a:cubicBezTo>
                <a:lnTo>
                  <a:pt x="82550" y="209550"/>
                </a:lnTo>
                <a:cubicBezTo>
                  <a:pt x="100092" y="209550"/>
                  <a:pt x="114300" y="195342"/>
                  <a:pt x="114300" y="177800"/>
                </a:cubicBezTo>
                <a:lnTo>
                  <a:pt x="114300" y="171450"/>
                </a:lnTo>
                <a:close/>
                <a:moveTo>
                  <a:pt x="73025" y="44450"/>
                </a:moveTo>
                <a:cubicBezTo>
                  <a:pt x="57229" y="44450"/>
                  <a:pt x="44450" y="57229"/>
                  <a:pt x="44450" y="73025"/>
                </a:cubicBezTo>
                <a:cubicBezTo>
                  <a:pt x="44450" y="78303"/>
                  <a:pt x="40203" y="82550"/>
                  <a:pt x="34925" y="82550"/>
                </a:cubicBezTo>
                <a:cubicBezTo>
                  <a:pt x="29647" y="82550"/>
                  <a:pt x="25400" y="78303"/>
                  <a:pt x="25400" y="73025"/>
                </a:cubicBezTo>
                <a:cubicBezTo>
                  <a:pt x="25400" y="46712"/>
                  <a:pt x="46712" y="25400"/>
                  <a:pt x="73025" y="25400"/>
                </a:cubicBezTo>
                <a:cubicBezTo>
                  <a:pt x="78303" y="25400"/>
                  <a:pt x="82550" y="29647"/>
                  <a:pt x="82550" y="34925"/>
                </a:cubicBezTo>
                <a:cubicBezTo>
                  <a:pt x="82550" y="40203"/>
                  <a:pt x="78303" y="44450"/>
                  <a:pt x="73025" y="44450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922136B-80EF-4EB7-82E9-28D3CF950340}"/>
              </a:ext>
            </a:extLst>
          </p:cNvPr>
          <p:cNvSpPr>
            <a:spLocks noGrp="1"/>
          </p:cNvSpPr>
          <p:nvPr/>
        </p:nvSpPr>
        <p:spPr>
          <a:xfrm>
            <a:off x="1117600" y="5664200"/>
            <a:ext cx="14224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Key Safeguard</a:t>
            </a:r>
            <a:endParaRPr sz="16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9373DD0-630F-472F-9A55-400476DA0C89}"/>
              </a:ext>
            </a:extLst>
          </p:cNvPr>
          <p:cNvSpPr>
            <a:spLocks noGrp="1"/>
          </p:cNvSpPr>
          <p:nvPr/>
        </p:nvSpPr>
        <p:spPr>
          <a:xfrm>
            <a:off x="762000" y="6070600"/>
            <a:ext cx="89154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The same conversation supports learning and research without exposing staff-only codes to students.</a:t>
            </a:r>
            <a:endParaRPr sz="16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A41F690-CA6F-49CB-AD34-F6C9C80CC457}"/>
              </a:ext>
            </a:extLst>
          </p:cNvPr>
          <p:cNvSpPr>
            <a:spLocks noGrp="1"/>
          </p:cNvSpPr>
          <p:nvPr/>
        </p:nvSpPr>
        <p:spPr>
          <a:xfrm>
            <a:off x="9773920" y="1879600"/>
            <a:ext cx="60833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8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Visibility Principles</a:t>
            </a:r>
            <a:endParaRPr sz="16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56EE8B6-E672-44D2-BF5F-33F963DB707A}"/>
              </a:ext>
            </a:extLst>
          </p:cNvPr>
          <p:cNvSpPr>
            <a:spLocks noGrp="1"/>
          </p:cNvSpPr>
          <p:nvPr/>
        </p:nvSpPr>
        <p:spPr>
          <a:xfrm>
            <a:off x="9789160" y="2387600"/>
            <a:ext cx="30480" cy="812800"/>
          </a:xfrm>
          <a:custGeom>
            <a:avLst/>
            <a:gdLst/>
            <a:ahLst/>
            <a:cxnLst/>
            <a:rect l="l" t="t" r="r" b="b"/>
            <a:pathLst>
              <a:path w="30480" h="812800">
                <a:moveTo>
                  <a:pt x="0" y="0"/>
                </a:moveTo>
                <a:lnTo>
                  <a:pt x="30480" y="0"/>
                </a:lnTo>
                <a:lnTo>
                  <a:pt x="3048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851E3E0-CE69-48CD-9C89-53A0A7B0FEAF}"/>
              </a:ext>
            </a:extLst>
          </p:cNvPr>
          <p:cNvSpPr>
            <a:spLocks noGrp="1"/>
          </p:cNvSpPr>
          <p:nvPr/>
        </p:nvSpPr>
        <p:spPr>
          <a:xfrm>
            <a:off x="10007600" y="2489200"/>
            <a:ext cx="5842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Student Review</a:t>
            </a:r>
            <a:endParaRPr sz="16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C83361B-6B75-4D11-8464-1149F11681DD}"/>
              </a:ext>
            </a:extLst>
          </p:cNvPr>
          <p:cNvSpPr>
            <a:spLocks noGrp="1"/>
          </p:cNvSpPr>
          <p:nvPr/>
        </p:nvSpPr>
        <p:spPr>
          <a:xfrm>
            <a:off x="10007600" y="2844800"/>
            <a:ext cx="58293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Numeric Facione profile, behaviour counts and reflective explanation</a:t>
            </a:r>
            <a:endParaRPr sz="16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185278C-3528-46E6-A35D-E662B5E53CD2}"/>
              </a:ext>
            </a:extLst>
          </p:cNvPr>
          <p:cNvSpPr>
            <a:spLocks noGrp="1"/>
          </p:cNvSpPr>
          <p:nvPr/>
        </p:nvSpPr>
        <p:spPr>
          <a:xfrm>
            <a:off x="9789160" y="3352800"/>
            <a:ext cx="30480" cy="812800"/>
          </a:xfrm>
          <a:custGeom>
            <a:avLst/>
            <a:gdLst/>
            <a:ahLst/>
            <a:cxnLst/>
            <a:rect l="l" t="t" r="r" b="b"/>
            <a:pathLst>
              <a:path w="30480" h="812800">
                <a:moveTo>
                  <a:pt x="0" y="0"/>
                </a:moveTo>
                <a:lnTo>
                  <a:pt x="30480" y="0"/>
                </a:lnTo>
                <a:lnTo>
                  <a:pt x="3048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A13E650-53C4-4AE9-A777-0A1D223D3085}"/>
              </a:ext>
            </a:extLst>
          </p:cNvPr>
          <p:cNvSpPr>
            <a:spLocks noGrp="1"/>
          </p:cNvSpPr>
          <p:nvPr/>
        </p:nvSpPr>
        <p:spPr>
          <a:xfrm>
            <a:off x="10007600" y="3454400"/>
            <a:ext cx="5842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Automated Observations</a:t>
            </a:r>
            <a:endParaRPr sz="16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BE10943-22E6-4D8E-BFE9-B0BE160BED4F}"/>
              </a:ext>
            </a:extLst>
          </p:cNvPr>
          <p:cNvSpPr>
            <a:spLocks noGrp="1"/>
          </p:cNvSpPr>
          <p:nvPr/>
        </p:nvSpPr>
        <p:spPr>
          <a:xfrm>
            <a:off x="10007600" y="3810000"/>
            <a:ext cx="58293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CLEAR, Facione occurrences and design-ethics concepts</a:t>
            </a:r>
            <a:endParaRPr sz="16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C3C1922-1E48-4B91-A9AC-E8F129DB046E}"/>
              </a:ext>
            </a:extLst>
          </p:cNvPr>
          <p:cNvSpPr>
            <a:spLocks noGrp="1"/>
          </p:cNvSpPr>
          <p:nvPr/>
        </p:nvSpPr>
        <p:spPr>
          <a:xfrm>
            <a:off x="9789160" y="4318000"/>
            <a:ext cx="30480" cy="812800"/>
          </a:xfrm>
          <a:custGeom>
            <a:avLst/>
            <a:gdLst/>
            <a:ahLst/>
            <a:cxnLst/>
            <a:rect l="l" t="t" r="r" b="b"/>
            <a:pathLst>
              <a:path w="30480" h="812800">
                <a:moveTo>
                  <a:pt x="0" y="0"/>
                </a:moveTo>
                <a:lnTo>
                  <a:pt x="30480" y="0"/>
                </a:lnTo>
                <a:lnTo>
                  <a:pt x="3048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5D863E7-BB6F-4716-97E4-C17B20DEAF41}"/>
              </a:ext>
            </a:extLst>
          </p:cNvPr>
          <p:cNvSpPr>
            <a:spLocks noGrp="1"/>
          </p:cNvSpPr>
          <p:nvPr/>
        </p:nvSpPr>
        <p:spPr>
          <a:xfrm>
            <a:off x="10007600" y="4419600"/>
            <a:ext cx="5842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Evidence-Linked</a:t>
            </a:r>
            <a:endParaRPr sz="16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3FF5A0F-12DF-4D65-9FD9-7F13EEAF7ECB}"/>
              </a:ext>
            </a:extLst>
          </p:cNvPr>
          <p:cNvSpPr>
            <a:spLocks noGrp="1"/>
          </p:cNvSpPr>
          <p:nvPr/>
        </p:nvSpPr>
        <p:spPr>
          <a:xfrm>
            <a:off x="10007600" y="4775200"/>
            <a:ext cx="58293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Offsets, rationale, confidence, prompt and provider versions</a:t>
            </a:r>
            <a:endParaRPr sz="16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0E82471-155E-4909-AF89-735DBF9E09B2}"/>
              </a:ext>
            </a:extLst>
          </p:cNvPr>
          <p:cNvSpPr>
            <a:spLocks noGrp="1"/>
          </p:cNvSpPr>
          <p:nvPr/>
        </p:nvSpPr>
        <p:spPr>
          <a:xfrm>
            <a:off x="9789160" y="5283200"/>
            <a:ext cx="30480" cy="812800"/>
          </a:xfrm>
          <a:custGeom>
            <a:avLst/>
            <a:gdLst/>
            <a:ahLst/>
            <a:cxnLst/>
            <a:rect l="l" t="t" r="r" b="b"/>
            <a:pathLst>
              <a:path w="30480" h="812800">
                <a:moveTo>
                  <a:pt x="0" y="0"/>
                </a:moveTo>
                <a:lnTo>
                  <a:pt x="30480" y="0"/>
                </a:lnTo>
                <a:lnTo>
                  <a:pt x="3048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4FF2F01-45D7-4305-B3E4-F7E1C5B03627}"/>
              </a:ext>
            </a:extLst>
          </p:cNvPr>
          <p:cNvSpPr>
            <a:spLocks noGrp="1"/>
          </p:cNvSpPr>
          <p:nvPr/>
        </p:nvSpPr>
        <p:spPr>
          <a:xfrm>
            <a:off x="10007600" y="5384800"/>
            <a:ext cx="5842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Lecturer Review</a:t>
            </a:r>
            <a:endParaRPr sz="16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70A5718-04C5-4467-9935-5CE080C7F2F6}"/>
              </a:ext>
            </a:extLst>
          </p:cNvPr>
          <p:cNvSpPr>
            <a:spLocks noGrp="1"/>
          </p:cNvSpPr>
          <p:nvPr/>
        </p:nvSpPr>
        <p:spPr>
          <a:xfrm>
            <a:off x="10007600" y="5740400"/>
            <a:ext cx="58293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Append-only human coding; later reviews supersede, never overwrite</a:t>
            </a:r>
            <a:endParaRPr sz="160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E5E771FB-C43E-4C7B-BC37-92B2899CE131}"/>
              </a:ext>
            </a:extLst>
          </p:cNvPr>
          <p:cNvSpPr>
            <a:spLocks noGrp="1"/>
          </p:cNvSpPr>
          <p:nvPr/>
        </p:nvSpPr>
        <p:spPr>
          <a:xfrm>
            <a:off x="9789160" y="6248400"/>
            <a:ext cx="30480" cy="812800"/>
          </a:xfrm>
          <a:custGeom>
            <a:avLst/>
            <a:gdLst/>
            <a:ahLst/>
            <a:cxnLst/>
            <a:rect l="l" t="t" r="r" b="b"/>
            <a:pathLst>
              <a:path w="30480" h="812800">
                <a:moveTo>
                  <a:pt x="0" y="0"/>
                </a:moveTo>
                <a:lnTo>
                  <a:pt x="30480" y="0"/>
                </a:lnTo>
                <a:lnTo>
                  <a:pt x="3048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0B86A26-57ED-4644-9AC4-85826F9C201F}"/>
              </a:ext>
            </a:extLst>
          </p:cNvPr>
          <p:cNvSpPr>
            <a:spLocks noGrp="1"/>
          </p:cNvSpPr>
          <p:nvPr/>
        </p:nvSpPr>
        <p:spPr>
          <a:xfrm>
            <a:off x="10007600" y="6350000"/>
            <a:ext cx="5842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Access Audit</a:t>
            </a:r>
            <a:endParaRPr sz="16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E0F77D7-C20D-4731-95D2-D1813EA25950}"/>
              </a:ext>
            </a:extLst>
          </p:cNvPr>
          <p:cNvSpPr>
            <a:spLocks noGrp="1"/>
          </p:cNvSpPr>
          <p:nvPr/>
        </p:nvSpPr>
        <p:spPr>
          <a:xfrm>
            <a:off x="10007600" y="6705600"/>
            <a:ext cx="58293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Records staff actor, action, filters, target count and request ID</a:t>
            </a:r>
            <a:endParaRPr sz="160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FC3AFBCB-CE63-4607-A251-0B9A15116BC8}"/>
              </a:ext>
            </a:extLst>
          </p:cNvPr>
          <p:cNvSpPr>
            <a:spLocks noGrp="1"/>
          </p:cNvSpPr>
          <p:nvPr/>
        </p:nvSpPr>
        <p:spPr>
          <a:xfrm>
            <a:off x="508000" y="7340600"/>
            <a:ext cx="4940300" cy="1193800"/>
          </a:xfrm>
          <a:custGeom>
            <a:avLst/>
            <a:gdLst/>
            <a:ahLst/>
            <a:cxnLst/>
            <a:rect l="l" t="t" r="r" b="b"/>
            <a:pathLst>
              <a:path w="4940300" h="1193800">
                <a:moveTo>
                  <a:pt x="0" y="0"/>
                </a:moveTo>
                <a:lnTo>
                  <a:pt x="4940300" y="0"/>
                </a:lnTo>
                <a:lnTo>
                  <a:pt x="4940300" y="1193800"/>
                </a:lnTo>
                <a:lnTo>
                  <a:pt x="0" y="11938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>
              <a:alpha val="1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56110404-F8FE-497B-876F-1AA9F473C0DC}"/>
              </a:ext>
            </a:extLst>
          </p:cNvPr>
          <p:cNvSpPr>
            <a:spLocks noGrp="1"/>
          </p:cNvSpPr>
          <p:nvPr/>
        </p:nvSpPr>
        <p:spPr>
          <a:xfrm>
            <a:off x="508000" y="7340600"/>
            <a:ext cx="4940300" cy="5080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0" y="0"/>
                </a:moveTo>
                <a:lnTo>
                  <a:pt x="4940300" y="0"/>
                </a:lnTo>
                <a:lnTo>
                  <a:pt x="49403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28B122A9-D913-446F-9B23-A1B6FB789389}"/>
              </a:ext>
            </a:extLst>
          </p:cNvPr>
          <p:cNvSpPr>
            <a:spLocks noGrp="1"/>
          </p:cNvSpPr>
          <p:nvPr/>
        </p:nvSpPr>
        <p:spPr>
          <a:xfrm>
            <a:off x="412750" y="7569200"/>
            <a:ext cx="5130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3000" b="1">
                <a:solidFill>
                  <a:srgbClr val="C8A97E"/>
                </a:solidFill>
                <a:latin typeface="Quattrocento Sans"/>
                <a:ea typeface="Quattrocento Sans"/>
                <a:cs typeface="Quattrocento Sans"/>
              </a:rPr>
              <a:t>6</a:t>
            </a:r>
            <a:endParaRPr sz="16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FB08780-2DE5-436C-A78C-2CFAD6A9A130}"/>
              </a:ext>
            </a:extLst>
          </p:cNvPr>
          <p:cNvSpPr>
            <a:spLocks noGrp="1"/>
          </p:cNvSpPr>
          <p:nvPr/>
        </p:nvSpPr>
        <p:spPr>
          <a:xfrm>
            <a:off x="463550" y="8077200"/>
            <a:ext cx="50292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Facione Dimensions</a:t>
            </a:r>
            <a:endParaRPr sz="160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C68D6577-56FE-40EE-8F57-6A4EDBA5E23F}"/>
              </a:ext>
            </a:extLst>
          </p:cNvPr>
          <p:cNvSpPr>
            <a:spLocks noGrp="1"/>
          </p:cNvSpPr>
          <p:nvPr/>
        </p:nvSpPr>
        <p:spPr>
          <a:xfrm>
            <a:off x="5655628" y="7340600"/>
            <a:ext cx="4940300" cy="1193800"/>
          </a:xfrm>
          <a:custGeom>
            <a:avLst/>
            <a:gdLst/>
            <a:ahLst/>
            <a:cxnLst/>
            <a:rect l="l" t="t" r="r" b="b"/>
            <a:pathLst>
              <a:path w="4940300" h="1193800">
                <a:moveTo>
                  <a:pt x="0" y="0"/>
                </a:moveTo>
                <a:lnTo>
                  <a:pt x="4940300" y="0"/>
                </a:lnTo>
                <a:lnTo>
                  <a:pt x="4940300" y="1193800"/>
                </a:lnTo>
                <a:lnTo>
                  <a:pt x="0" y="11938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>
              <a:alpha val="1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AA54C07F-0A06-41C9-94A8-1356BCD7888D}"/>
              </a:ext>
            </a:extLst>
          </p:cNvPr>
          <p:cNvSpPr>
            <a:spLocks noGrp="1"/>
          </p:cNvSpPr>
          <p:nvPr/>
        </p:nvSpPr>
        <p:spPr>
          <a:xfrm>
            <a:off x="5655628" y="7340600"/>
            <a:ext cx="4940300" cy="5080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0" y="0"/>
                </a:moveTo>
                <a:lnTo>
                  <a:pt x="4940300" y="0"/>
                </a:lnTo>
                <a:lnTo>
                  <a:pt x="49403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99245972-EC72-47C2-9F5C-6FDD4B21D608}"/>
              </a:ext>
            </a:extLst>
          </p:cNvPr>
          <p:cNvSpPr>
            <a:spLocks noGrp="1"/>
          </p:cNvSpPr>
          <p:nvPr/>
        </p:nvSpPr>
        <p:spPr>
          <a:xfrm>
            <a:off x="5560378" y="7569200"/>
            <a:ext cx="5130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3000" b="1">
                <a:solidFill>
                  <a:srgbClr val="C8A97E"/>
                </a:solidFill>
                <a:latin typeface="Quattrocento Sans"/>
                <a:ea typeface="Quattrocento Sans"/>
                <a:cs typeface="Quattrocento Sans"/>
              </a:rPr>
              <a:t>5</a:t>
            </a:r>
            <a:endParaRPr sz="160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24157766-8002-483D-8919-C7DD15A9E102}"/>
              </a:ext>
            </a:extLst>
          </p:cNvPr>
          <p:cNvSpPr>
            <a:spLocks noGrp="1"/>
          </p:cNvSpPr>
          <p:nvPr/>
        </p:nvSpPr>
        <p:spPr>
          <a:xfrm>
            <a:off x="5611178" y="8077200"/>
            <a:ext cx="50292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CLEAR Strategies</a:t>
            </a:r>
            <a:endParaRPr sz="160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C77894FC-7655-4616-9290-FD194BA5B1C6}"/>
              </a:ext>
            </a:extLst>
          </p:cNvPr>
          <p:cNvSpPr>
            <a:spLocks noGrp="1"/>
          </p:cNvSpPr>
          <p:nvPr/>
        </p:nvSpPr>
        <p:spPr>
          <a:xfrm>
            <a:off x="10803414" y="7340600"/>
            <a:ext cx="4940300" cy="1193800"/>
          </a:xfrm>
          <a:custGeom>
            <a:avLst/>
            <a:gdLst/>
            <a:ahLst/>
            <a:cxnLst/>
            <a:rect l="l" t="t" r="r" b="b"/>
            <a:pathLst>
              <a:path w="4940300" h="1193800">
                <a:moveTo>
                  <a:pt x="0" y="0"/>
                </a:moveTo>
                <a:lnTo>
                  <a:pt x="4940300" y="0"/>
                </a:lnTo>
                <a:lnTo>
                  <a:pt x="4940300" y="1193800"/>
                </a:lnTo>
                <a:lnTo>
                  <a:pt x="0" y="11938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>
              <a:alpha val="1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9EABCF13-DC4A-442E-8399-A081031F0C10}"/>
              </a:ext>
            </a:extLst>
          </p:cNvPr>
          <p:cNvSpPr>
            <a:spLocks noGrp="1"/>
          </p:cNvSpPr>
          <p:nvPr/>
        </p:nvSpPr>
        <p:spPr>
          <a:xfrm>
            <a:off x="10803414" y="7340600"/>
            <a:ext cx="4940300" cy="5080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0" y="0"/>
                </a:moveTo>
                <a:lnTo>
                  <a:pt x="4940300" y="0"/>
                </a:lnTo>
                <a:lnTo>
                  <a:pt x="49403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9E75ED26-EBB1-41E8-BB3D-21C4AE67A007}"/>
              </a:ext>
            </a:extLst>
          </p:cNvPr>
          <p:cNvSpPr>
            <a:spLocks noGrp="1"/>
          </p:cNvSpPr>
          <p:nvPr/>
        </p:nvSpPr>
        <p:spPr>
          <a:xfrm>
            <a:off x="10708164" y="7569200"/>
            <a:ext cx="5130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3000" b="1">
                <a:solidFill>
                  <a:srgbClr val="C8A97E"/>
                </a:solidFill>
                <a:latin typeface="Quattrocento Sans"/>
                <a:ea typeface="Quattrocento Sans"/>
                <a:cs typeface="Quattrocento Sans"/>
              </a:rPr>
              <a:t>3</a:t>
            </a:r>
            <a:endParaRPr sz="160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B644DE8A-EB06-468A-B485-35EB561AD1B5}"/>
              </a:ext>
            </a:extLst>
          </p:cNvPr>
          <p:cNvSpPr>
            <a:spLocks noGrp="1"/>
          </p:cNvSpPr>
          <p:nvPr/>
        </p:nvSpPr>
        <p:spPr>
          <a:xfrm>
            <a:off x="10758964" y="8077200"/>
            <a:ext cx="50292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4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Decision Layers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875841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EEF59C8-C84A-46FC-922A-38978F885FEC}"/>
              </a:ext>
            </a:extLst>
          </p:cNvPr>
          <p:cNvSpPr>
            <a:spLocks noGrp="1"/>
          </p:cNvSpPr>
          <p:nvPr/>
        </p:nvSpPr>
        <p:spPr>
          <a:xfrm>
            <a:off x="508000" y="5080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55751C-1CFF-4C6A-972E-7EB0C67D49C1}"/>
              </a:ext>
            </a:extLst>
          </p:cNvPr>
          <p:cNvSpPr>
            <a:spLocks noGrp="1"/>
          </p:cNvSpPr>
          <p:nvPr/>
        </p:nvSpPr>
        <p:spPr>
          <a:xfrm>
            <a:off x="711200" y="635000"/>
            <a:ext cx="34036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spc="7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SECURITY &amp; RELIABILITY</a:t>
            </a:r>
            <a:endParaRPr sz="1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90B085B-3EEB-4966-9C57-F6C828AE9421}"/>
              </a:ext>
            </a:extLst>
          </p:cNvPr>
          <p:cNvSpPr>
            <a:spLocks noGrp="1"/>
          </p:cNvSpPr>
          <p:nvPr/>
        </p:nvSpPr>
        <p:spPr>
          <a:xfrm>
            <a:off x="508000" y="11176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90000"/>
              </a:lnSpc>
              <a:buNone/>
            </a:pPr>
            <a:r>
              <a:rPr sz="36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Production Controls Protect Identity, Data and Progression</a:t>
            </a:r>
            <a:endParaRPr sz="16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AB2CE08-80E5-4A0C-AD5A-7E2126ED57DB}"/>
              </a:ext>
            </a:extLst>
          </p:cNvPr>
          <p:cNvSpPr>
            <a:spLocks noGrp="1"/>
          </p:cNvSpPr>
          <p:nvPr/>
        </p:nvSpPr>
        <p:spPr>
          <a:xfrm>
            <a:off x="508000" y="17272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The original prototype risks are now explicit, tested boundaries.</a:t>
            </a:r>
            <a:endParaRPr sz="16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DDFB417-1E3A-4404-8E93-A6317DDB5421}"/>
              </a:ext>
            </a:extLst>
          </p:cNvPr>
          <p:cNvSpPr>
            <a:spLocks noGrp="1"/>
          </p:cNvSpPr>
          <p:nvPr/>
        </p:nvSpPr>
        <p:spPr>
          <a:xfrm>
            <a:off x="554038" y="22987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5009" y="14288"/>
                </a:moveTo>
                <a:lnTo>
                  <a:pt x="10716" y="14288"/>
                </a:lnTo>
                <a:cubicBezTo>
                  <a:pt x="4777" y="14288"/>
                  <a:pt x="0" y="19065"/>
                  <a:pt x="0" y="25003"/>
                </a:cubicBezTo>
                <a:lnTo>
                  <a:pt x="0" y="89297"/>
                </a:lnTo>
                <a:cubicBezTo>
                  <a:pt x="0" y="93628"/>
                  <a:pt x="2590" y="97557"/>
                  <a:pt x="6608" y="99209"/>
                </a:cubicBezTo>
                <a:cubicBezTo>
                  <a:pt x="10626" y="100861"/>
                  <a:pt x="15225" y="99923"/>
                  <a:pt x="18306" y="96887"/>
                </a:cubicBezTo>
                <a:lnTo>
                  <a:pt x="36165" y="79028"/>
                </a:lnTo>
                <a:lnTo>
                  <a:pt x="71438" y="114300"/>
                </a:lnTo>
                <a:lnTo>
                  <a:pt x="36165" y="149572"/>
                </a:lnTo>
                <a:lnTo>
                  <a:pt x="18306" y="131713"/>
                </a:lnTo>
                <a:cubicBezTo>
                  <a:pt x="15225" y="128632"/>
                  <a:pt x="10626" y="127739"/>
                  <a:pt x="6608" y="129391"/>
                </a:cubicBezTo>
                <a:cubicBezTo>
                  <a:pt x="2590" y="131043"/>
                  <a:pt x="0" y="134972"/>
                  <a:pt x="0" y="139303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lnTo>
                  <a:pt x="75009" y="214313"/>
                </a:lnTo>
                <a:cubicBezTo>
                  <a:pt x="79340" y="214313"/>
                  <a:pt x="83269" y="211723"/>
                  <a:pt x="84921" y="207705"/>
                </a:cubicBezTo>
                <a:cubicBezTo>
                  <a:pt x="86573" y="203686"/>
                  <a:pt x="85680" y="199087"/>
                  <a:pt x="82600" y="196007"/>
                </a:cubicBezTo>
                <a:lnTo>
                  <a:pt x="64740" y="178147"/>
                </a:lnTo>
                <a:lnTo>
                  <a:pt x="100013" y="142875"/>
                </a:lnTo>
                <a:lnTo>
                  <a:pt x="135285" y="178147"/>
                </a:lnTo>
                <a:lnTo>
                  <a:pt x="117425" y="196007"/>
                </a:lnTo>
                <a:cubicBezTo>
                  <a:pt x="114345" y="199087"/>
                  <a:pt x="113452" y="203686"/>
                  <a:pt x="115104" y="207705"/>
                </a:cubicBezTo>
                <a:cubicBezTo>
                  <a:pt x="116756" y="211723"/>
                  <a:pt x="120685" y="214313"/>
                  <a:pt x="125016" y="214313"/>
                </a:cubicBezTo>
                <a:lnTo>
                  <a:pt x="189309" y="214313"/>
                </a:lnTo>
                <a:cubicBezTo>
                  <a:pt x="195248" y="214313"/>
                  <a:pt x="200025" y="209535"/>
                  <a:pt x="200025" y="203597"/>
                </a:cubicBezTo>
                <a:lnTo>
                  <a:pt x="200025" y="139303"/>
                </a:lnTo>
                <a:cubicBezTo>
                  <a:pt x="200025" y="134972"/>
                  <a:pt x="197435" y="131043"/>
                  <a:pt x="193417" y="129391"/>
                </a:cubicBezTo>
                <a:cubicBezTo>
                  <a:pt x="189399" y="127739"/>
                  <a:pt x="184800" y="128632"/>
                  <a:pt x="181719" y="131713"/>
                </a:cubicBezTo>
                <a:lnTo>
                  <a:pt x="163860" y="149572"/>
                </a:lnTo>
                <a:lnTo>
                  <a:pt x="128588" y="114300"/>
                </a:lnTo>
                <a:lnTo>
                  <a:pt x="163860" y="79028"/>
                </a:lnTo>
                <a:lnTo>
                  <a:pt x="181719" y="96887"/>
                </a:lnTo>
                <a:cubicBezTo>
                  <a:pt x="184800" y="99968"/>
                  <a:pt x="189399" y="100861"/>
                  <a:pt x="193417" y="99209"/>
                </a:cubicBezTo>
                <a:cubicBezTo>
                  <a:pt x="197435" y="97557"/>
                  <a:pt x="200025" y="93628"/>
                  <a:pt x="200025" y="89297"/>
                </a:cubicBezTo>
                <a:lnTo>
                  <a:pt x="200025" y="25003"/>
                </a:lnTo>
                <a:cubicBezTo>
                  <a:pt x="200025" y="19065"/>
                  <a:pt x="195248" y="14288"/>
                  <a:pt x="189309" y="14288"/>
                </a:cubicBezTo>
                <a:lnTo>
                  <a:pt x="125016" y="14288"/>
                </a:lnTo>
                <a:cubicBezTo>
                  <a:pt x="120685" y="14288"/>
                  <a:pt x="116756" y="16877"/>
                  <a:pt x="115104" y="20895"/>
                </a:cubicBezTo>
                <a:cubicBezTo>
                  <a:pt x="113452" y="24914"/>
                  <a:pt x="114389" y="29513"/>
                  <a:pt x="117425" y="32593"/>
                </a:cubicBezTo>
                <a:lnTo>
                  <a:pt x="135285" y="50453"/>
                </a:lnTo>
                <a:lnTo>
                  <a:pt x="100013" y="85725"/>
                </a:lnTo>
                <a:lnTo>
                  <a:pt x="64740" y="50453"/>
                </a:lnTo>
                <a:lnTo>
                  <a:pt x="82600" y="32593"/>
                </a:lnTo>
                <a:cubicBezTo>
                  <a:pt x="85680" y="29513"/>
                  <a:pt x="86573" y="24914"/>
                  <a:pt x="84921" y="20895"/>
                </a:cubicBezTo>
                <a:cubicBezTo>
                  <a:pt x="83269" y="16877"/>
                  <a:pt x="79340" y="14288"/>
                  <a:pt x="75009" y="14288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49082BD-E7D5-4463-95C7-ACF2676C837A}"/>
              </a:ext>
            </a:extLst>
          </p:cNvPr>
          <p:cNvSpPr>
            <a:spLocks noGrp="1"/>
          </p:cNvSpPr>
          <p:nvPr/>
        </p:nvSpPr>
        <p:spPr>
          <a:xfrm>
            <a:off x="800100" y="2235200"/>
            <a:ext cx="73152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8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Data Boundaries</a:t>
            </a:r>
            <a:endParaRPr sz="1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EDA56C8-50F5-4F85-BCF8-23BA57A87AAE}"/>
              </a:ext>
            </a:extLst>
          </p:cNvPr>
          <p:cNvSpPr>
            <a:spLocks noGrp="1"/>
          </p:cNvSpPr>
          <p:nvPr/>
        </p:nvSpPr>
        <p:spPr>
          <a:xfrm>
            <a:off x="523240" y="2743200"/>
            <a:ext cx="30480" cy="965200"/>
          </a:xfrm>
          <a:custGeom>
            <a:avLst/>
            <a:gdLst/>
            <a:ahLst/>
            <a:cxnLst/>
            <a:rect l="l" t="t" r="r" b="b"/>
            <a:pathLst>
              <a:path w="30480" h="965200">
                <a:moveTo>
                  <a:pt x="0" y="0"/>
                </a:moveTo>
                <a:lnTo>
                  <a:pt x="30480" y="0"/>
                </a:lnTo>
                <a:lnTo>
                  <a:pt x="30480" y="965200"/>
                </a:lnTo>
                <a:lnTo>
                  <a:pt x="0" y="9652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E92902E-7F7F-44DD-B224-F51F8A95AE9A}"/>
              </a:ext>
            </a:extLst>
          </p:cNvPr>
          <p:cNvSpPr>
            <a:spLocks noGrp="1"/>
          </p:cNvSpPr>
          <p:nvPr/>
        </p:nvSpPr>
        <p:spPr>
          <a:xfrm>
            <a:off x="690880" y="2844800"/>
            <a:ext cx="1460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Ownership</a:t>
            </a:r>
            <a:endParaRPr sz="16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6ED9521-F2FD-4FE0-9ABF-99DCEA7420F7}"/>
              </a:ext>
            </a:extLst>
          </p:cNvPr>
          <p:cNvSpPr>
            <a:spLocks noGrp="1"/>
          </p:cNvSpPr>
          <p:nvPr/>
        </p:nvSpPr>
        <p:spPr>
          <a:xfrm>
            <a:off x="7243921" y="2844800"/>
            <a:ext cx="762000" cy="254000"/>
          </a:xfrm>
          <a:custGeom>
            <a:avLst/>
            <a:gdLst/>
            <a:ahLst/>
            <a:cxnLst/>
            <a:rect l="l" t="t" r="r" b="b"/>
            <a:pathLst>
              <a:path w="762000" h="254000">
                <a:moveTo>
                  <a:pt x="50800" y="0"/>
                </a:moveTo>
                <a:lnTo>
                  <a:pt x="711200" y="0"/>
                </a:lnTo>
                <a:cubicBezTo>
                  <a:pt x="739237" y="0"/>
                  <a:pt x="762000" y="22763"/>
                  <a:pt x="762000" y="50800"/>
                </a:cubicBezTo>
                <a:lnTo>
                  <a:pt x="762000" y="203200"/>
                </a:lnTo>
                <a:cubicBezTo>
                  <a:pt x="762000" y="231237"/>
                  <a:pt x="739237" y="254000"/>
                  <a:pt x="7112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88A9C">
              <a:alpha val="3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3F06B7B-5AE7-42EC-A3E7-C27767037014}"/>
              </a:ext>
            </a:extLst>
          </p:cNvPr>
          <p:cNvSpPr>
            <a:spLocks noGrp="1"/>
          </p:cNvSpPr>
          <p:nvPr/>
        </p:nvSpPr>
        <p:spPr>
          <a:xfrm>
            <a:off x="7243921" y="2844800"/>
            <a:ext cx="838200" cy="254000"/>
          </a:xfrm>
          <a:prstGeom prst="rect">
            <a:avLst/>
          </a:prstGeom>
          <a:noFill/>
        </p:spPr>
        <p:txBody>
          <a:bodyPr wrap="square" lIns="101600" tIns="25400" rIns="101600" bIns="25400" anchor="ctr"/>
          <a:lstStyle/>
          <a:p>
            <a:pPr>
              <a:lnSpc>
                <a:spcPct val="110000"/>
              </a:lnSpc>
              <a:buNone/>
            </a:pPr>
            <a:r>
              <a:rPr sz="1200" b="1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OWNED</a:t>
            </a:r>
            <a:endParaRPr sz="16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A9DB4AA-21C7-49A8-BA75-571DD0015295}"/>
              </a:ext>
            </a:extLst>
          </p:cNvPr>
          <p:cNvSpPr>
            <a:spLocks noGrp="1"/>
          </p:cNvSpPr>
          <p:nvPr/>
        </p:nvSpPr>
        <p:spPr>
          <a:xfrm>
            <a:off x="690880" y="3149600"/>
            <a:ext cx="73914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Every protected route resolves the owner server-side</a:t>
            </a:r>
            <a:endParaRPr sz="16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A3BF48B-7370-4274-8F2A-4C3C496EBA7B}"/>
              </a:ext>
            </a:extLst>
          </p:cNvPr>
          <p:cNvSpPr>
            <a:spLocks noGrp="1"/>
          </p:cNvSpPr>
          <p:nvPr/>
        </p:nvSpPr>
        <p:spPr>
          <a:xfrm>
            <a:off x="690880" y="3403439"/>
            <a:ext cx="73914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 b="1">
                <a:solidFill>
                  <a:srgbClr val="C8A97E"/>
                </a:solidFill>
                <a:latin typeface="Quattrocento Sans"/>
                <a:ea typeface="Quattrocento Sans"/>
                <a:cs typeface="Quattrocento Sans"/>
              </a:rPr>
              <a:t>No cross-user notebook or source access</a:t>
            </a:r>
            <a:endParaRPr sz="16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524D91F-7576-4040-A3A3-D40A6EF9D968}"/>
              </a:ext>
            </a:extLst>
          </p:cNvPr>
          <p:cNvSpPr>
            <a:spLocks noGrp="1"/>
          </p:cNvSpPr>
          <p:nvPr/>
        </p:nvSpPr>
        <p:spPr>
          <a:xfrm>
            <a:off x="523240" y="3860484"/>
            <a:ext cx="30480" cy="965200"/>
          </a:xfrm>
          <a:custGeom>
            <a:avLst/>
            <a:gdLst/>
            <a:ahLst/>
            <a:cxnLst/>
            <a:rect l="l" t="t" r="r" b="b"/>
            <a:pathLst>
              <a:path w="30480" h="965200">
                <a:moveTo>
                  <a:pt x="0" y="0"/>
                </a:moveTo>
                <a:lnTo>
                  <a:pt x="30480" y="0"/>
                </a:lnTo>
                <a:lnTo>
                  <a:pt x="30480" y="965200"/>
                </a:lnTo>
                <a:lnTo>
                  <a:pt x="0" y="9652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5F9C677-62F6-49E6-83F0-E6B84CEA0A3C}"/>
              </a:ext>
            </a:extLst>
          </p:cNvPr>
          <p:cNvSpPr>
            <a:spLocks noGrp="1"/>
          </p:cNvSpPr>
          <p:nvPr/>
        </p:nvSpPr>
        <p:spPr>
          <a:xfrm>
            <a:off x="690880" y="3962084"/>
            <a:ext cx="8255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Atomic turns</a:t>
            </a:r>
            <a:endParaRPr sz="16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4E26C37-E33E-4552-82C0-DEA79AFE52F7}"/>
              </a:ext>
            </a:extLst>
          </p:cNvPr>
          <p:cNvSpPr>
            <a:spLocks noGrp="1"/>
          </p:cNvSpPr>
          <p:nvPr/>
        </p:nvSpPr>
        <p:spPr>
          <a:xfrm>
            <a:off x="7013416" y="3962084"/>
            <a:ext cx="990600" cy="254000"/>
          </a:xfrm>
          <a:custGeom>
            <a:avLst/>
            <a:gdLst/>
            <a:ahLst/>
            <a:cxnLst/>
            <a:rect l="l" t="t" r="r" b="b"/>
            <a:pathLst>
              <a:path w="990600" h="254000">
                <a:moveTo>
                  <a:pt x="50800" y="0"/>
                </a:moveTo>
                <a:lnTo>
                  <a:pt x="939800" y="0"/>
                </a:lnTo>
                <a:cubicBezTo>
                  <a:pt x="967837" y="0"/>
                  <a:pt x="990600" y="22763"/>
                  <a:pt x="990600" y="50800"/>
                </a:cubicBezTo>
                <a:lnTo>
                  <a:pt x="990600" y="203200"/>
                </a:lnTo>
                <a:cubicBezTo>
                  <a:pt x="990600" y="231237"/>
                  <a:pt x="967837" y="254000"/>
                  <a:pt x="9398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331E100-45E7-47E0-B58E-7E7932EA184F}"/>
              </a:ext>
            </a:extLst>
          </p:cNvPr>
          <p:cNvSpPr>
            <a:spLocks noGrp="1"/>
          </p:cNvSpPr>
          <p:nvPr/>
        </p:nvSpPr>
        <p:spPr>
          <a:xfrm>
            <a:off x="7013416" y="3962084"/>
            <a:ext cx="1066800" cy="254000"/>
          </a:xfrm>
          <a:prstGeom prst="rect">
            <a:avLst/>
          </a:prstGeom>
          <a:noFill/>
        </p:spPr>
        <p:txBody>
          <a:bodyPr wrap="square" lIns="101600" tIns="25400" rIns="101600" bIns="25400" anchor="ctr"/>
          <a:lstStyle/>
          <a:p>
            <a:pPr>
              <a:lnSpc>
                <a:spcPct val="110000"/>
              </a:lnSpc>
              <a:buNone/>
            </a:pPr>
            <a:r>
              <a:rPr sz="1200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ATOMIC</a:t>
            </a:r>
            <a:endParaRPr sz="16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F110CAA-D33D-41D5-95BD-DC880880ACAA}"/>
              </a:ext>
            </a:extLst>
          </p:cNvPr>
          <p:cNvSpPr>
            <a:spLocks noGrp="1"/>
          </p:cNvSpPr>
          <p:nvPr/>
        </p:nvSpPr>
        <p:spPr>
          <a:xfrm>
            <a:off x="690880" y="4266884"/>
            <a:ext cx="73914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Coach turns and auto-advance commit together</a:t>
            </a:r>
            <a:endParaRPr sz="16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7FD168E-EF05-4BDA-BF83-5B6AB5B2FD48}"/>
              </a:ext>
            </a:extLst>
          </p:cNvPr>
          <p:cNvSpPr>
            <a:spLocks noGrp="1"/>
          </p:cNvSpPr>
          <p:nvPr/>
        </p:nvSpPr>
        <p:spPr>
          <a:xfrm>
            <a:off x="690880" y="4520723"/>
            <a:ext cx="73914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 b="1">
                <a:solidFill>
                  <a:srgbClr val="C8A97E"/>
                </a:solidFill>
                <a:latin typeface="Quattrocento Sans"/>
                <a:ea typeface="Quattrocento Sans"/>
                <a:cs typeface="Quattrocento Sans"/>
              </a:rPr>
              <a:t>OCC retries cover the complete DSQL unit</a:t>
            </a:r>
            <a:endParaRPr sz="16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E6427EA-6804-47BE-B14E-B34E87D4AEC4}"/>
              </a:ext>
            </a:extLst>
          </p:cNvPr>
          <p:cNvSpPr>
            <a:spLocks noGrp="1"/>
          </p:cNvSpPr>
          <p:nvPr/>
        </p:nvSpPr>
        <p:spPr>
          <a:xfrm>
            <a:off x="523240" y="4977761"/>
            <a:ext cx="30480" cy="965200"/>
          </a:xfrm>
          <a:custGeom>
            <a:avLst/>
            <a:gdLst/>
            <a:ahLst/>
            <a:cxnLst/>
            <a:rect l="l" t="t" r="r" b="b"/>
            <a:pathLst>
              <a:path w="30480" h="965200">
                <a:moveTo>
                  <a:pt x="0" y="0"/>
                </a:moveTo>
                <a:lnTo>
                  <a:pt x="30480" y="0"/>
                </a:lnTo>
                <a:lnTo>
                  <a:pt x="30480" y="965200"/>
                </a:lnTo>
                <a:lnTo>
                  <a:pt x="0" y="9652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65692AE-936D-4F04-8412-62D1D3B38888}"/>
              </a:ext>
            </a:extLst>
          </p:cNvPr>
          <p:cNvSpPr>
            <a:spLocks noGrp="1"/>
          </p:cNvSpPr>
          <p:nvPr/>
        </p:nvSpPr>
        <p:spPr>
          <a:xfrm>
            <a:off x="690880" y="5079361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Workflow Contract</a:t>
            </a:r>
            <a:endParaRPr sz="16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AB86808-1604-4D9B-8C06-49C3A36C9A09}"/>
              </a:ext>
            </a:extLst>
          </p:cNvPr>
          <p:cNvSpPr>
            <a:spLocks noGrp="1"/>
          </p:cNvSpPr>
          <p:nvPr/>
        </p:nvSpPr>
        <p:spPr>
          <a:xfrm>
            <a:off x="6931184" y="5079361"/>
            <a:ext cx="1066800" cy="254000"/>
          </a:xfrm>
          <a:custGeom>
            <a:avLst/>
            <a:gdLst/>
            <a:ahLst/>
            <a:cxnLst/>
            <a:rect l="l" t="t" r="r" b="b"/>
            <a:pathLst>
              <a:path w="1066800" h="254000">
                <a:moveTo>
                  <a:pt x="50800" y="0"/>
                </a:moveTo>
                <a:lnTo>
                  <a:pt x="1016000" y="0"/>
                </a:lnTo>
                <a:cubicBezTo>
                  <a:pt x="1044037" y="0"/>
                  <a:pt x="1066800" y="22763"/>
                  <a:pt x="1066800" y="50800"/>
                </a:cubicBezTo>
                <a:lnTo>
                  <a:pt x="1066800" y="203200"/>
                </a:lnTo>
                <a:cubicBezTo>
                  <a:pt x="1066800" y="231237"/>
                  <a:pt x="1044037" y="254000"/>
                  <a:pt x="10160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88A9C">
              <a:alpha val="3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EB66D47-FD89-4394-A599-896A53DBAE40}"/>
              </a:ext>
            </a:extLst>
          </p:cNvPr>
          <p:cNvSpPr>
            <a:spLocks noGrp="1"/>
          </p:cNvSpPr>
          <p:nvPr/>
        </p:nvSpPr>
        <p:spPr>
          <a:xfrm>
            <a:off x="6931184" y="5079361"/>
            <a:ext cx="1143000" cy="254000"/>
          </a:xfrm>
          <a:prstGeom prst="rect">
            <a:avLst/>
          </a:prstGeom>
          <a:noFill/>
        </p:spPr>
        <p:txBody>
          <a:bodyPr wrap="square" lIns="101600" tIns="25400" rIns="101600" bIns="25400" anchor="ctr"/>
          <a:lstStyle/>
          <a:p>
            <a:pPr>
              <a:lnSpc>
                <a:spcPct val="110000"/>
              </a:lnSpc>
              <a:buNone/>
            </a:pPr>
            <a:r>
              <a:rPr sz="1200" b="1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GATED</a:t>
            </a:r>
            <a:endParaRPr sz="16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410485A-EB53-421E-8932-53588499DB82}"/>
              </a:ext>
            </a:extLst>
          </p:cNvPr>
          <p:cNvSpPr>
            <a:spLocks noGrp="1"/>
          </p:cNvSpPr>
          <p:nvPr/>
        </p:nvSpPr>
        <p:spPr>
          <a:xfrm>
            <a:off x="690880" y="5384161"/>
            <a:ext cx="73914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Old six-stage data cannot run silently</a:t>
            </a:r>
            <a:endParaRPr sz="16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FC88A03-D173-46CB-87F5-C18830FF8D48}"/>
              </a:ext>
            </a:extLst>
          </p:cNvPr>
          <p:cNvSpPr>
            <a:spLocks noGrp="1"/>
          </p:cNvSpPr>
          <p:nvPr/>
        </p:nvSpPr>
        <p:spPr>
          <a:xfrm>
            <a:off x="690880" y="5638006"/>
            <a:ext cx="73914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 b="1">
                <a:solidFill>
                  <a:srgbClr val="C8A97E"/>
                </a:solidFill>
                <a:latin typeface="Quattrocento Sans"/>
                <a:ea typeface="Quattrocento Sans"/>
                <a:cs typeface="Quattrocento Sans"/>
              </a:rPr>
              <a:t>Explicit inventory and reset are required</a:t>
            </a:r>
            <a:endParaRPr sz="16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D4677876-5478-4954-8EDE-49D074A656F3}"/>
              </a:ext>
            </a:extLst>
          </p:cNvPr>
          <p:cNvSpPr>
            <a:spLocks noGrp="1"/>
          </p:cNvSpPr>
          <p:nvPr/>
        </p:nvSpPr>
        <p:spPr>
          <a:xfrm>
            <a:off x="8286750" y="2298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2EEF196-0F65-423D-A614-C76EEC25998E}"/>
              </a:ext>
            </a:extLst>
          </p:cNvPr>
          <p:cNvSpPr>
            <a:spLocks noGrp="1"/>
          </p:cNvSpPr>
          <p:nvPr/>
        </p:nvSpPr>
        <p:spPr>
          <a:xfrm>
            <a:off x="8547100" y="2235200"/>
            <a:ext cx="73152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8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Security Controls</a:t>
            </a:r>
            <a:endParaRPr sz="160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A0C61F72-4C2F-4514-AEF6-3713B2F6C93B}"/>
              </a:ext>
            </a:extLst>
          </p:cNvPr>
          <p:cNvSpPr>
            <a:spLocks noGrp="1"/>
          </p:cNvSpPr>
          <p:nvPr/>
        </p:nvSpPr>
        <p:spPr>
          <a:xfrm>
            <a:off x="8270240" y="2743200"/>
            <a:ext cx="30480" cy="711200"/>
          </a:xfrm>
          <a:custGeom>
            <a:avLst/>
            <a:gdLst/>
            <a:ahLst/>
            <a:cxnLst/>
            <a:rect l="l" t="t" r="r" b="b"/>
            <a:pathLst>
              <a:path w="30480" h="711200">
                <a:moveTo>
                  <a:pt x="0" y="0"/>
                </a:moveTo>
                <a:lnTo>
                  <a:pt x="30480" y="0"/>
                </a:lnTo>
                <a:lnTo>
                  <a:pt x="3048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B92BB84-06BE-4FA5-9942-220E3880709C}"/>
              </a:ext>
            </a:extLst>
          </p:cNvPr>
          <p:cNvSpPr>
            <a:spLocks noGrp="1"/>
          </p:cNvSpPr>
          <p:nvPr/>
        </p:nvSpPr>
        <p:spPr>
          <a:xfrm>
            <a:off x="8437880" y="2844800"/>
            <a:ext cx="19431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Cognito + roles</a:t>
            </a:r>
            <a:endParaRPr sz="160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327752C-562B-439F-AF65-06E61CEF4F68}"/>
              </a:ext>
            </a:extLst>
          </p:cNvPr>
          <p:cNvSpPr>
            <a:spLocks noGrp="1"/>
          </p:cNvSpPr>
          <p:nvPr/>
        </p:nvSpPr>
        <p:spPr>
          <a:xfrm>
            <a:off x="15186185" y="2844800"/>
            <a:ext cx="558800" cy="254000"/>
          </a:xfrm>
          <a:custGeom>
            <a:avLst/>
            <a:gdLst/>
            <a:ahLst/>
            <a:cxnLst/>
            <a:rect l="l" t="t" r="r" b="b"/>
            <a:pathLst>
              <a:path w="558800" h="254000">
                <a:moveTo>
                  <a:pt x="50800" y="0"/>
                </a:moveTo>
                <a:lnTo>
                  <a:pt x="508000" y="0"/>
                </a:lnTo>
                <a:cubicBezTo>
                  <a:pt x="536037" y="0"/>
                  <a:pt x="558800" y="22763"/>
                  <a:pt x="558800" y="50800"/>
                </a:cubicBezTo>
                <a:lnTo>
                  <a:pt x="558800" y="203200"/>
                </a:lnTo>
                <a:cubicBezTo>
                  <a:pt x="558800" y="231237"/>
                  <a:pt x="536037" y="254000"/>
                  <a:pt x="5080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204388D-6C7F-4979-81DD-368B962B147B}"/>
              </a:ext>
            </a:extLst>
          </p:cNvPr>
          <p:cNvSpPr>
            <a:spLocks noGrp="1"/>
          </p:cNvSpPr>
          <p:nvPr/>
        </p:nvSpPr>
        <p:spPr>
          <a:xfrm>
            <a:off x="15186185" y="2844800"/>
            <a:ext cx="635000" cy="254000"/>
          </a:xfrm>
          <a:prstGeom prst="rect">
            <a:avLst/>
          </a:prstGeom>
          <a:noFill/>
        </p:spPr>
        <p:txBody>
          <a:bodyPr wrap="square" lIns="101600" tIns="25400" rIns="101600" bIns="25400" anchor="ctr"/>
          <a:lstStyle/>
          <a:p>
            <a:pPr>
              <a:lnSpc>
                <a:spcPct val="110000"/>
              </a:lnSpc>
              <a:buNone/>
            </a:pPr>
            <a:r>
              <a:rPr sz="1200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AUTH</a:t>
            </a:r>
            <a:endParaRPr sz="16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0C18A0A7-5545-458E-A520-3A240D47EE5F}"/>
              </a:ext>
            </a:extLst>
          </p:cNvPr>
          <p:cNvSpPr>
            <a:spLocks noGrp="1"/>
          </p:cNvSpPr>
          <p:nvPr/>
        </p:nvSpPr>
        <p:spPr>
          <a:xfrm>
            <a:off x="8437880" y="3149600"/>
            <a:ext cx="73914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JWT claims verified; lecturer/admin roles persisted</a:t>
            </a:r>
            <a:endParaRPr sz="160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8609EC5A-305B-49C5-A2E7-8BC387064570}"/>
              </a:ext>
            </a:extLst>
          </p:cNvPr>
          <p:cNvSpPr>
            <a:spLocks noGrp="1"/>
          </p:cNvSpPr>
          <p:nvPr/>
        </p:nvSpPr>
        <p:spPr>
          <a:xfrm>
            <a:off x="8270240" y="3606639"/>
            <a:ext cx="30480" cy="711200"/>
          </a:xfrm>
          <a:custGeom>
            <a:avLst/>
            <a:gdLst/>
            <a:ahLst/>
            <a:cxnLst/>
            <a:rect l="l" t="t" r="r" b="b"/>
            <a:pathLst>
              <a:path w="30480" h="711200">
                <a:moveTo>
                  <a:pt x="0" y="0"/>
                </a:moveTo>
                <a:lnTo>
                  <a:pt x="30480" y="0"/>
                </a:lnTo>
                <a:lnTo>
                  <a:pt x="3048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9D4F59A5-18C2-4522-A74D-609F958BEA68}"/>
              </a:ext>
            </a:extLst>
          </p:cNvPr>
          <p:cNvSpPr>
            <a:spLocks noGrp="1"/>
          </p:cNvSpPr>
          <p:nvPr/>
        </p:nvSpPr>
        <p:spPr>
          <a:xfrm>
            <a:off x="8437880" y="3708239"/>
            <a:ext cx="13843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Rate limiting</a:t>
            </a:r>
            <a:endParaRPr sz="160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70C09C59-5A52-44D3-9139-CEDDA3084550}"/>
              </a:ext>
            </a:extLst>
          </p:cNvPr>
          <p:cNvSpPr>
            <a:spLocks noGrp="1"/>
          </p:cNvSpPr>
          <p:nvPr/>
        </p:nvSpPr>
        <p:spPr>
          <a:xfrm>
            <a:off x="14954410" y="3708239"/>
            <a:ext cx="787400" cy="254000"/>
          </a:xfrm>
          <a:custGeom>
            <a:avLst/>
            <a:gdLst/>
            <a:ahLst/>
            <a:cxnLst/>
            <a:rect l="l" t="t" r="r" b="b"/>
            <a:pathLst>
              <a:path w="787400" h="254000">
                <a:moveTo>
                  <a:pt x="50800" y="0"/>
                </a:moveTo>
                <a:lnTo>
                  <a:pt x="736600" y="0"/>
                </a:lnTo>
                <a:cubicBezTo>
                  <a:pt x="764637" y="0"/>
                  <a:pt x="787400" y="22763"/>
                  <a:pt x="787400" y="50800"/>
                </a:cubicBezTo>
                <a:lnTo>
                  <a:pt x="787400" y="203200"/>
                </a:lnTo>
                <a:cubicBezTo>
                  <a:pt x="787400" y="231237"/>
                  <a:pt x="764637" y="254000"/>
                  <a:pt x="7366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88A9C">
              <a:alpha val="5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F2E38027-6EA5-4679-9440-4A06FB7AB5D8}"/>
              </a:ext>
            </a:extLst>
          </p:cNvPr>
          <p:cNvSpPr>
            <a:spLocks noGrp="1"/>
          </p:cNvSpPr>
          <p:nvPr/>
        </p:nvSpPr>
        <p:spPr>
          <a:xfrm>
            <a:off x="14954410" y="3708239"/>
            <a:ext cx="863600" cy="254000"/>
          </a:xfrm>
          <a:prstGeom prst="rect">
            <a:avLst/>
          </a:prstGeom>
          <a:noFill/>
        </p:spPr>
        <p:txBody>
          <a:bodyPr wrap="square" lIns="101600" tIns="25400" rIns="101600" bIns="25400" anchor="ctr"/>
          <a:lstStyle/>
          <a:p>
            <a:pPr>
              <a:lnSpc>
                <a:spcPct val="110000"/>
              </a:lnSpc>
              <a:buNone/>
            </a:pPr>
            <a:r>
              <a:rPr sz="1200" b="1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ACTIVE</a:t>
            </a:r>
            <a:endParaRPr sz="160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428DBCE0-0176-4308-A9D9-5874B97ACF28}"/>
              </a:ext>
            </a:extLst>
          </p:cNvPr>
          <p:cNvSpPr>
            <a:spLocks noGrp="1"/>
          </p:cNvSpPr>
          <p:nvPr/>
        </p:nvSpPr>
        <p:spPr>
          <a:xfrm>
            <a:off x="8437880" y="4013039"/>
            <a:ext cx="73914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Login, global and coaching limits</a:t>
            </a:r>
            <a:endParaRPr sz="160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104CF271-CDD4-4329-ACA3-FACFE1DD004D}"/>
              </a:ext>
            </a:extLst>
          </p:cNvPr>
          <p:cNvSpPr>
            <a:spLocks noGrp="1"/>
          </p:cNvSpPr>
          <p:nvPr/>
        </p:nvSpPr>
        <p:spPr>
          <a:xfrm>
            <a:off x="8270240" y="4470084"/>
            <a:ext cx="30480" cy="711200"/>
          </a:xfrm>
          <a:custGeom>
            <a:avLst/>
            <a:gdLst/>
            <a:ahLst/>
            <a:cxnLst/>
            <a:rect l="l" t="t" r="r" b="b"/>
            <a:pathLst>
              <a:path w="30480" h="711200">
                <a:moveTo>
                  <a:pt x="0" y="0"/>
                </a:moveTo>
                <a:lnTo>
                  <a:pt x="30480" y="0"/>
                </a:lnTo>
                <a:lnTo>
                  <a:pt x="3048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D8AF7D36-CC53-4229-AF75-0D751A37AA60}"/>
              </a:ext>
            </a:extLst>
          </p:cNvPr>
          <p:cNvSpPr>
            <a:spLocks noGrp="1"/>
          </p:cNvSpPr>
          <p:nvPr/>
        </p:nvSpPr>
        <p:spPr>
          <a:xfrm>
            <a:off x="8437880" y="4571684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Privacy</a:t>
            </a:r>
            <a:endParaRPr sz="160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02BFE21A-EA21-4773-9574-4D0E242C40CE}"/>
              </a:ext>
            </a:extLst>
          </p:cNvPr>
          <p:cNvSpPr>
            <a:spLocks noGrp="1"/>
          </p:cNvSpPr>
          <p:nvPr/>
        </p:nvSpPr>
        <p:spPr>
          <a:xfrm>
            <a:off x="14954410" y="4571684"/>
            <a:ext cx="787400" cy="254000"/>
          </a:xfrm>
          <a:custGeom>
            <a:avLst/>
            <a:gdLst/>
            <a:ahLst/>
            <a:cxnLst/>
            <a:rect l="l" t="t" r="r" b="b"/>
            <a:pathLst>
              <a:path w="787400" h="254000">
                <a:moveTo>
                  <a:pt x="50800" y="0"/>
                </a:moveTo>
                <a:lnTo>
                  <a:pt x="736600" y="0"/>
                </a:lnTo>
                <a:cubicBezTo>
                  <a:pt x="764637" y="0"/>
                  <a:pt x="787400" y="22763"/>
                  <a:pt x="787400" y="50800"/>
                </a:cubicBezTo>
                <a:lnTo>
                  <a:pt x="787400" y="203200"/>
                </a:lnTo>
                <a:cubicBezTo>
                  <a:pt x="787400" y="231237"/>
                  <a:pt x="764637" y="254000"/>
                  <a:pt x="7366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88A9C">
              <a:alpha val="5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4754989E-20AE-4644-87C7-16F7CABC5DE2}"/>
              </a:ext>
            </a:extLst>
          </p:cNvPr>
          <p:cNvSpPr>
            <a:spLocks noGrp="1"/>
          </p:cNvSpPr>
          <p:nvPr/>
        </p:nvSpPr>
        <p:spPr>
          <a:xfrm>
            <a:off x="14954410" y="4571684"/>
            <a:ext cx="863600" cy="254000"/>
          </a:xfrm>
          <a:prstGeom prst="rect">
            <a:avLst/>
          </a:prstGeom>
          <a:noFill/>
        </p:spPr>
        <p:txBody>
          <a:bodyPr wrap="square" lIns="101600" tIns="25400" rIns="101600" bIns="25400" anchor="ctr"/>
          <a:lstStyle/>
          <a:p>
            <a:pPr>
              <a:lnSpc>
                <a:spcPct val="110000"/>
              </a:lnSpc>
              <a:buNone/>
            </a:pPr>
            <a:r>
              <a:rPr sz="1200" b="1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AUDIT</a:t>
            </a:r>
            <a:endParaRPr sz="160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AACC2185-CA34-4ECD-89DD-3C4E946F58F7}"/>
              </a:ext>
            </a:extLst>
          </p:cNvPr>
          <p:cNvSpPr>
            <a:spLocks noGrp="1"/>
          </p:cNvSpPr>
          <p:nvPr/>
        </p:nvSpPr>
        <p:spPr>
          <a:xfrm>
            <a:off x="8437880" y="4876484"/>
            <a:ext cx="73914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Transcript views and exports are audited first</a:t>
            </a:r>
            <a:endParaRPr sz="160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1A46D438-631D-4024-8623-797F0041B67D}"/>
              </a:ext>
            </a:extLst>
          </p:cNvPr>
          <p:cNvSpPr>
            <a:spLocks noGrp="1"/>
          </p:cNvSpPr>
          <p:nvPr/>
        </p:nvSpPr>
        <p:spPr>
          <a:xfrm>
            <a:off x="8270240" y="5333523"/>
            <a:ext cx="30480" cy="711200"/>
          </a:xfrm>
          <a:custGeom>
            <a:avLst/>
            <a:gdLst/>
            <a:ahLst/>
            <a:cxnLst/>
            <a:rect l="l" t="t" r="r" b="b"/>
            <a:pathLst>
              <a:path w="30480" h="711200">
                <a:moveTo>
                  <a:pt x="0" y="0"/>
                </a:moveTo>
                <a:lnTo>
                  <a:pt x="30480" y="0"/>
                </a:lnTo>
                <a:lnTo>
                  <a:pt x="3048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1346418F-1A45-4BEF-96EE-7F5E579BBB2E}"/>
              </a:ext>
            </a:extLst>
          </p:cNvPr>
          <p:cNvSpPr>
            <a:spLocks noGrp="1"/>
          </p:cNvSpPr>
          <p:nvPr/>
        </p:nvSpPr>
        <p:spPr>
          <a:xfrm>
            <a:off x="8437880" y="5435123"/>
            <a:ext cx="15113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Secrets</a:t>
            </a:r>
            <a:endParaRPr sz="160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2FCE64C5-7D4D-433F-8CF4-3C90B3E2BB02}"/>
              </a:ext>
            </a:extLst>
          </p:cNvPr>
          <p:cNvSpPr>
            <a:spLocks noGrp="1"/>
          </p:cNvSpPr>
          <p:nvPr/>
        </p:nvSpPr>
        <p:spPr>
          <a:xfrm>
            <a:off x="15190629" y="5435123"/>
            <a:ext cx="558800" cy="254000"/>
          </a:xfrm>
          <a:custGeom>
            <a:avLst/>
            <a:gdLst/>
            <a:ahLst/>
            <a:cxnLst/>
            <a:rect l="l" t="t" r="r" b="b"/>
            <a:pathLst>
              <a:path w="558800" h="254000">
                <a:moveTo>
                  <a:pt x="50800" y="0"/>
                </a:moveTo>
                <a:lnTo>
                  <a:pt x="508000" y="0"/>
                </a:lnTo>
                <a:cubicBezTo>
                  <a:pt x="536037" y="0"/>
                  <a:pt x="558800" y="22763"/>
                  <a:pt x="558800" y="50800"/>
                </a:cubicBezTo>
                <a:lnTo>
                  <a:pt x="558800" y="203200"/>
                </a:lnTo>
                <a:cubicBezTo>
                  <a:pt x="558800" y="231237"/>
                  <a:pt x="536037" y="254000"/>
                  <a:pt x="5080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88A9C">
              <a:alpha val="2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F2D1EB80-61D0-4DE8-9596-043741325852}"/>
              </a:ext>
            </a:extLst>
          </p:cNvPr>
          <p:cNvSpPr>
            <a:spLocks noGrp="1"/>
          </p:cNvSpPr>
          <p:nvPr/>
        </p:nvSpPr>
        <p:spPr>
          <a:xfrm>
            <a:off x="15190629" y="5435123"/>
            <a:ext cx="635000" cy="254000"/>
          </a:xfrm>
          <a:prstGeom prst="rect">
            <a:avLst/>
          </a:prstGeom>
          <a:noFill/>
        </p:spPr>
        <p:txBody>
          <a:bodyPr wrap="square" lIns="101600" tIns="25400" rIns="101600" bIns="25400" anchor="ctr"/>
          <a:lstStyle/>
          <a:p>
            <a:pPr>
              <a:lnSpc>
                <a:spcPct val="110000"/>
              </a:lnSpc>
              <a:buNone/>
            </a:pPr>
            <a:r>
              <a:rPr sz="1200" b="1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ENV</a:t>
            </a:r>
            <a:endParaRPr sz="160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EC3456A9-FA37-4883-BB17-FFD1366BCE10}"/>
              </a:ext>
            </a:extLst>
          </p:cNvPr>
          <p:cNvSpPr>
            <a:spLocks noGrp="1"/>
          </p:cNvSpPr>
          <p:nvPr/>
        </p:nvSpPr>
        <p:spPr>
          <a:xfrm>
            <a:off x="8437880" y="5739923"/>
            <a:ext cx="73914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IAM/environment; no tokens in research records</a:t>
            </a:r>
            <a:endParaRPr sz="160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9E4A5C25-B5F3-4086-B0AD-BAA908E15CBC}"/>
              </a:ext>
            </a:extLst>
          </p:cNvPr>
          <p:cNvSpPr>
            <a:spLocks noGrp="1"/>
          </p:cNvSpPr>
          <p:nvPr/>
        </p:nvSpPr>
        <p:spPr>
          <a:xfrm>
            <a:off x="533400" y="6247761"/>
            <a:ext cx="15214600" cy="1473200"/>
          </a:xfrm>
          <a:custGeom>
            <a:avLst/>
            <a:gdLst/>
            <a:ahLst/>
            <a:cxnLst/>
            <a:rect l="l" t="t" r="r" b="b"/>
            <a:pathLst>
              <a:path w="15214600" h="1473200">
                <a:moveTo>
                  <a:pt x="0" y="0"/>
                </a:moveTo>
                <a:lnTo>
                  <a:pt x="15214600" y="0"/>
                </a:lnTo>
                <a:lnTo>
                  <a:pt x="15214600" y="1473200"/>
                </a:ln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>
              <a:alpha val="5098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CE6832F9-B7E7-44E2-9921-077AD5F7C0F1}"/>
              </a:ext>
            </a:extLst>
          </p:cNvPr>
          <p:cNvSpPr>
            <a:spLocks noGrp="1"/>
          </p:cNvSpPr>
          <p:nvPr/>
        </p:nvSpPr>
        <p:spPr>
          <a:xfrm>
            <a:off x="533400" y="6247761"/>
            <a:ext cx="50800" cy="1473200"/>
          </a:xfrm>
          <a:custGeom>
            <a:avLst/>
            <a:gdLst/>
            <a:ahLst/>
            <a:cxnLst/>
            <a:rect l="l" t="t" r="r" b="b"/>
            <a:pathLst>
              <a:path w="50800" h="1473200">
                <a:moveTo>
                  <a:pt x="0" y="0"/>
                </a:moveTo>
                <a:lnTo>
                  <a:pt x="50800" y="0"/>
                </a:lnTo>
                <a:lnTo>
                  <a:pt x="50800" y="1473200"/>
                </a:ln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40280E74-841D-4D0C-96D7-5262221CA954}"/>
              </a:ext>
            </a:extLst>
          </p:cNvPr>
          <p:cNvSpPr>
            <a:spLocks noGrp="1"/>
          </p:cNvSpPr>
          <p:nvPr/>
        </p:nvSpPr>
        <p:spPr>
          <a:xfrm>
            <a:off x="819150" y="6501761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AD8EECEF-9B05-4449-BE3F-53F6D5DADF48}"/>
              </a:ext>
            </a:extLst>
          </p:cNvPr>
          <p:cNvSpPr>
            <a:spLocks noGrp="1"/>
          </p:cNvSpPr>
          <p:nvPr/>
        </p:nvSpPr>
        <p:spPr>
          <a:xfrm>
            <a:off x="1162844" y="6450961"/>
            <a:ext cx="146939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8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Reliability Evidence</a:t>
            </a:r>
            <a:endParaRPr sz="160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B02BB7B2-73D4-4CC2-90CF-B1415B0E7435}"/>
              </a:ext>
            </a:extLst>
          </p:cNvPr>
          <p:cNvSpPr>
            <a:spLocks noGrp="1"/>
          </p:cNvSpPr>
          <p:nvPr/>
        </p:nvSpPr>
        <p:spPr>
          <a:xfrm>
            <a:off x="1162844" y="6908161"/>
            <a:ext cx="48260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456 deterministic tests: learning journeys, APIs, auth, persistence and UI contracts</a:t>
            </a:r>
            <a:endParaRPr sz="160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4C39EC3C-4153-4D95-86F8-C98657578E89}"/>
              </a:ext>
            </a:extLst>
          </p:cNvPr>
          <p:cNvSpPr>
            <a:spLocks noGrp="1"/>
          </p:cNvSpPr>
          <p:nvPr/>
        </p:nvSpPr>
        <p:spPr>
          <a:xfrm>
            <a:off x="6092190" y="6908161"/>
            <a:ext cx="48260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Readiness checks: database, workflow marker, object storage and configuration</a:t>
            </a:r>
            <a:endParaRPr sz="160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36F36BE5-EDB6-4B91-ABBF-4B579F07388F}"/>
              </a:ext>
            </a:extLst>
          </p:cNvPr>
          <p:cNvSpPr>
            <a:spLocks noGrp="1"/>
          </p:cNvSpPr>
          <p:nvPr/>
        </p:nvSpPr>
        <p:spPr>
          <a:xfrm>
            <a:off x="11021695" y="6908161"/>
            <a:ext cx="48260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Recovery controls: idempotency, revision isolation, backup and quarantine reset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961709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87D15B-424C-4AA9-BB58-FE0C7AF35665}"/>
              </a:ext>
            </a:extLst>
          </p:cNvPr>
          <p:cNvSpPr>
            <a:spLocks noGrp="1"/>
          </p:cNvSpPr>
          <p:nvPr/>
        </p:nvSpPr>
        <p:spPr>
          <a:xfrm>
            <a:off x="508000" y="5080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499B57B-AE1B-4338-837B-2125FFD1ACEF}"/>
              </a:ext>
            </a:extLst>
          </p:cNvPr>
          <p:cNvSpPr>
            <a:spLocks noGrp="1"/>
          </p:cNvSpPr>
          <p:nvPr/>
        </p:nvSpPr>
        <p:spPr>
          <a:xfrm>
            <a:off x="711200" y="635000"/>
            <a:ext cx="28702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spc="7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RESEARCH ROADMAP</a:t>
            </a:r>
            <a:endParaRPr sz="1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CD19812-C91B-49D2-B482-0194056FFAD5}"/>
              </a:ext>
            </a:extLst>
          </p:cNvPr>
          <p:cNvSpPr>
            <a:spLocks noGrp="1"/>
          </p:cNvSpPr>
          <p:nvPr/>
        </p:nvSpPr>
        <p:spPr>
          <a:xfrm>
            <a:off x="508000" y="11176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90000"/>
              </a:lnSpc>
              <a:buNone/>
            </a:pPr>
            <a:r>
              <a:rPr sz="36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What Remains Before a Formal Study</a:t>
            </a:r>
            <a:endParaRPr sz="16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F494722-1869-4EF7-9B3B-A8D13780EBAF}"/>
              </a:ext>
            </a:extLst>
          </p:cNvPr>
          <p:cNvSpPr>
            <a:spLocks noGrp="1"/>
          </p:cNvSpPr>
          <p:nvPr/>
        </p:nvSpPr>
        <p:spPr>
          <a:xfrm>
            <a:off x="508000" y="17272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Technical readiness is not evidence of educational validity.</a:t>
            </a:r>
            <a:endParaRPr sz="16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AF0FFA5-2BB5-408F-A436-11A5D859CEC5}"/>
              </a:ext>
            </a:extLst>
          </p:cNvPr>
          <p:cNvSpPr>
            <a:spLocks noGrp="1"/>
          </p:cNvSpPr>
          <p:nvPr/>
        </p:nvSpPr>
        <p:spPr>
          <a:xfrm>
            <a:off x="539750" y="2298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60722"/>
                </a:moveTo>
                <a:cubicBezTo>
                  <a:pt x="120238" y="60722"/>
                  <a:pt x="125016" y="65499"/>
                  <a:pt x="125016" y="71438"/>
                </a:cubicBezTo>
                <a:lnTo>
                  <a:pt x="125016" y="121444"/>
                </a:lnTo>
                <a:cubicBezTo>
                  <a:pt x="125016" y="127382"/>
                  <a:pt x="120238" y="132159"/>
                  <a:pt x="114300" y="132159"/>
                </a:cubicBezTo>
                <a:cubicBezTo>
                  <a:pt x="108362" y="132159"/>
                  <a:pt x="103584" y="127382"/>
                  <a:pt x="103584" y="121444"/>
                </a:cubicBezTo>
                <a:lnTo>
                  <a:pt x="103584" y="71438"/>
                </a:lnTo>
                <a:cubicBezTo>
                  <a:pt x="103584" y="65499"/>
                  <a:pt x="108362" y="60722"/>
                  <a:pt x="114300" y="60722"/>
                </a:cubicBezTo>
                <a:close/>
                <a:moveTo>
                  <a:pt x="102379" y="157163"/>
                </a:moveTo>
                <a:cubicBezTo>
                  <a:pt x="102108" y="152738"/>
                  <a:pt x="104314" y="148528"/>
                  <a:pt x="108108" y="146233"/>
                </a:cubicBezTo>
                <a:cubicBezTo>
                  <a:pt x="111901" y="143939"/>
                  <a:pt x="116654" y="143939"/>
                  <a:pt x="120448" y="146233"/>
                </a:cubicBezTo>
                <a:cubicBezTo>
                  <a:pt x="124241" y="148528"/>
                  <a:pt x="126448" y="152738"/>
                  <a:pt x="126176" y="157162"/>
                </a:cubicBezTo>
                <a:cubicBezTo>
                  <a:pt x="126448" y="161587"/>
                  <a:pt x="124241" y="165797"/>
                  <a:pt x="120448" y="168092"/>
                </a:cubicBezTo>
                <a:cubicBezTo>
                  <a:pt x="116654" y="170386"/>
                  <a:pt x="111901" y="170386"/>
                  <a:pt x="108108" y="168092"/>
                </a:cubicBezTo>
                <a:cubicBezTo>
                  <a:pt x="104314" y="165797"/>
                  <a:pt x="102108" y="161587"/>
                  <a:pt x="102379" y="157163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0491506-5544-4C7D-A07B-B430C1C108CE}"/>
              </a:ext>
            </a:extLst>
          </p:cNvPr>
          <p:cNvSpPr>
            <a:spLocks noGrp="1"/>
          </p:cNvSpPr>
          <p:nvPr/>
        </p:nvSpPr>
        <p:spPr>
          <a:xfrm>
            <a:off x="800100" y="2235200"/>
            <a:ext cx="47625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8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High Priority</a:t>
            </a:r>
            <a:endParaRPr sz="1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F03F91B-45A7-47F0-AB8F-6B481322B198}"/>
              </a:ext>
            </a:extLst>
          </p:cNvPr>
          <p:cNvSpPr>
            <a:spLocks noGrp="1"/>
          </p:cNvSpPr>
          <p:nvPr/>
        </p:nvSpPr>
        <p:spPr>
          <a:xfrm>
            <a:off x="523240" y="2743200"/>
            <a:ext cx="30480" cy="914400"/>
          </a:xfrm>
          <a:custGeom>
            <a:avLst/>
            <a:gdLst/>
            <a:ahLst/>
            <a:cxnLst/>
            <a:rect l="l" t="t" r="r" b="b"/>
            <a:pathLst>
              <a:path w="30480" h="914400">
                <a:moveTo>
                  <a:pt x="0" y="0"/>
                </a:moveTo>
                <a:lnTo>
                  <a:pt x="30480" y="0"/>
                </a:lnTo>
                <a:lnTo>
                  <a:pt x="3048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8035E76-3BD6-4CB6-8190-26409900F641}"/>
              </a:ext>
            </a:extLst>
          </p:cNvPr>
          <p:cNvSpPr>
            <a:spLocks noGrp="1"/>
          </p:cNvSpPr>
          <p:nvPr/>
        </p:nvSpPr>
        <p:spPr>
          <a:xfrm>
            <a:off x="690880" y="2844800"/>
            <a:ext cx="17907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Human coding protocol</a:t>
            </a:r>
            <a:endParaRPr sz="16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273472C-A54F-484A-BAEC-AE00333BFC68}"/>
              </a:ext>
            </a:extLst>
          </p:cNvPr>
          <p:cNvSpPr>
            <a:spLocks noGrp="1"/>
          </p:cNvSpPr>
          <p:nvPr/>
        </p:nvSpPr>
        <p:spPr>
          <a:xfrm>
            <a:off x="4890611" y="2844800"/>
            <a:ext cx="558800" cy="254000"/>
          </a:xfrm>
          <a:custGeom>
            <a:avLst/>
            <a:gdLst/>
            <a:ahLst/>
            <a:cxnLst/>
            <a:rect l="l" t="t" r="r" b="b"/>
            <a:pathLst>
              <a:path w="558800" h="254000">
                <a:moveTo>
                  <a:pt x="50800" y="0"/>
                </a:moveTo>
                <a:lnTo>
                  <a:pt x="508000" y="0"/>
                </a:lnTo>
                <a:cubicBezTo>
                  <a:pt x="536037" y="0"/>
                  <a:pt x="558800" y="22763"/>
                  <a:pt x="558800" y="50800"/>
                </a:cubicBezTo>
                <a:lnTo>
                  <a:pt x="558800" y="203200"/>
                </a:lnTo>
                <a:cubicBezTo>
                  <a:pt x="558800" y="231237"/>
                  <a:pt x="536037" y="254000"/>
                  <a:pt x="5080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D9F5DEB-6AA0-4673-8DEB-0A152EF507C6}"/>
              </a:ext>
            </a:extLst>
          </p:cNvPr>
          <p:cNvSpPr>
            <a:spLocks noGrp="1"/>
          </p:cNvSpPr>
          <p:nvPr/>
        </p:nvSpPr>
        <p:spPr>
          <a:xfrm>
            <a:off x="4890611" y="2844800"/>
            <a:ext cx="635000" cy="254000"/>
          </a:xfrm>
          <a:prstGeom prst="rect">
            <a:avLst/>
          </a:prstGeom>
          <a:noFill/>
        </p:spPr>
        <p:txBody>
          <a:bodyPr wrap="square" lIns="101600" tIns="25400" rIns="101600" bIns="25400" anchor="ctr"/>
          <a:lstStyle/>
          <a:p>
            <a:pPr>
              <a:lnSpc>
                <a:spcPct val="110000"/>
              </a:lnSpc>
              <a:buNone/>
            </a:pPr>
            <a:r>
              <a:rPr sz="1200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NOW</a:t>
            </a:r>
            <a:endParaRPr sz="16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ED2A948-E15A-4199-851F-6334CE787541}"/>
              </a:ext>
            </a:extLst>
          </p:cNvPr>
          <p:cNvSpPr>
            <a:spLocks noGrp="1"/>
          </p:cNvSpPr>
          <p:nvPr/>
        </p:nvSpPr>
        <p:spPr>
          <a:xfrm>
            <a:off x="690880" y="3149600"/>
            <a:ext cx="48387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Train coders, double-code a sample and calculate agreement</a:t>
            </a:r>
            <a:endParaRPr sz="16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9E3C206-D8F8-4D20-89A0-EFE10FAB7889}"/>
              </a:ext>
            </a:extLst>
          </p:cNvPr>
          <p:cNvSpPr>
            <a:spLocks noGrp="1"/>
          </p:cNvSpPr>
          <p:nvPr/>
        </p:nvSpPr>
        <p:spPr>
          <a:xfrm>
            <a:off x="523240" y="3758878"/>
            <a:ext cx="30480" cy="711200"/>
          </a:xfrm>
          <a:custGeom>
            <a:avLst/>
            <a:gdLst/>
            <a:ahLst/>
            <a:cxnLst/>
            <a:rect l="l" t="t" r="r" b="b"/>
            <a:pathLst>
              <a:path w="30480" h="711200">
                <a:moveTo>
                  <a:pt x="0" y="0"/>
                </a:moveTo>
                <a:lnTo>
                  <a:pt x="30480" y="0"/>
                </a:lnTo>
                <a:lnTo>
                  <a:pt x="3048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A4B9E29-029F-413B-A3EA-ED5ABFE8AAA5}"/>
              </a:ext>
            </a:extLst>
          </p:cNvPr>
          <p:cNvSpPr>
            <a:spLocks noGrp="1"/>
          </p:cNvSpPr>
          <p:nvPr/>
        </p:nvSpPr>
        <p:spPr>
          <a:xfrm>
            <a:off x="690880" y="3860478"/>
            <a:ext cx="1612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Signed-in visual QA</a:t>
            </a:r>
            <a:endParaRPr sz="16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564ECCB-2AE9-47BE-AB8F-115A820CF34A}"/>
              </a:ext>
            </a:extLst>
          </p:cNvPr>
          <p:cNvSpPr>
            <a:spLocks noGrp="1"/>
          </p:cNvSpPr>
          <p:nvPr/>
        </p:nvSpPr>
        <p:spPr>
          <a:xfrm>
            <a:off x="4890611" y="3860478"/>
            <a:ext cx="558800" cy="254000"/>
          </a:xfrm>
          <a:custGeom>
            <a:avLst/>
            <a:gdLst/>
            <a:ahLst/>
            <a:cxnLst/>
            <a:rect l="l" t="t" r="r" b="b"/>
            <a:pathLst>
              <a:path w="558800" h="254000">
                <a:moveTo>
                  <a:pt x="50800" y="0"/>
                </a:moveTo>
                <a:lnTo>
                  <a:pt x="508000" y="0"/>
                </a:lnTo>
                <a:cubicBezTo>
                  <a:pt x="536037" y="0"/>
                  <a:pt x="558800" y="22763"/>
                  <a:pt x="558800" y="50800"/>
                </a:cubicBezTo>
                <a:lnTo>
                  <a:pt x="558800" y="203200"/>
                </a:lnTo>
                <a:cubicBezTo>
                  <a:pt x="558800" y="231237"/>
                  <a:pt x="536037" y="254000"/>
                  <a:pt x="5080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80D433C-CC09-4A45-A166-873E37091A3F}"/>
              </a:ext>
            </a:extLst>
          </p:cNvPr>
          <p:cNvSpPr>
            <a:spLocks noGrp="1"/>
          </p:cNvSpPr>
          <p:nvPr/>
        </p:nvSpPr>
        <p:spPr>
          <a:xfrm>
            <a:off x="4890611" y="3860478"/>
            <a:ext cx="635000" cy="254000"/>
          </a:xfrm>
          <a:prstGeom prst="rect">
            <a:avLst/>
          </a:prstGeom>
          <a:noFill/>
        </p:spPr>
        <p:txBody>
          <a:bodyPr wrap="square" lIns="101600" tIns="25400" rIns="101600" bIns="25400" anchor="ctr"/>
          <a:lstStyle/>
          <a:p>
            <a:pPr>
              <a:lnSpc>
                <a:spcPct val="110000"/>
              </a:lnSpc>
              <a:buNone/>
            </a:pPr>
            <a:r>
              <a:rPr sz="1200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NOW</a:t>
            </a:r>
            <a:endParaRPr sz="16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18D60A4-6311-4BCB-97D4-53F70773CFA8}"/>
              </a:ext>
            </a:extLst>
          </p:cNvPr>
          <p:cNvSpPr>
            <a:spLocks noGrp="1"/>
          </p:cNvSpPr>
          <p:nvPr/>
        </p:nvSpPr>
        <p:spPr>
          <a:xfrm>
            <a:off x="690880" y="4165278"/>
            <a:ext cx="48387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Review student and lecturer screens in both themes</a:t>
            </a:r>
            <a:endParaRPr sz="16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79766C1-A53C-4739-8C6C-135C76A49674}"/>
              </a:ext>
            </a:extLst>
          </p:cNvPr>
          <p:cNvSpPr>
            <a:spLocks noGrp="1"/>
          </p:cNvSpPr>
          <p:nvPr/>
        </p:nvSpPr>
        <p:spPr>
          <a:xfrm>
            <a:off x="523240" y="4571516"/>
            <a:ext cx="30480" cy="711200"/>
          </a:xfrm>
          <a:custGeom>
            <a:avLst/>
            <a:gdLst/>
            <a:ahLst/>
            <a:cxnLst/>
            <a:rect l="l" t="t" r="r" b="b"/>
            <a:pathLst>
              <a:path w="30480" h="711200">
                <a:moveTo>
                  <a:pt x="0" y="0"/>
                </a:moveTo>
                <a:lnTo>
                  <a:pt x="30480" y="0"/>
                </a:lnTo>
                <a:lnTo>
                  <a:pt x="3048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F050F46-5583-4B25-838E-47B33726A4CF}"/>
              </a:ext>
            </a:extLst>
          </p:cNvPr>
          <p:cNvSpPr>
            <a:spLocks noGrp="1"/>
          </p:cNvSpPr>
          <p:nvPr/>
        </p:nvSpPr>
        <p:spPr>
          <a:xfrm>
            <a:off x="690880" y="4673116"/>
            <a:ext cx="11176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Controlled DSQL smoke</a:t>
            </a:r>
            <a:endParaRPr sz="16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2D420C7-363F-4610-968C-E460562C39D5}"/>
              </a:ext>
            </a:extLst>
          </p:cNvPr>
          <p:cNvSpPr>
            <a:spLocks noGrp="1"/>
          </p:cNvSpPr>
          <p:nvPr/>
        </p:nvSpPr>
        <p:spPr>
          <a:xfrm>
            <a:off x="4890611" y="4673116"/>
            <a:ext cx="558800" cy="254000"/>
          </a:xfrm>
          <a:custGeom>
            <a:avLst/>
            <a:gdLst/>
            <a:ahLst/>
            <a:cxnLst/>
            <a:rect l="l" t="t" r="r" b="b"/>
            <a:pathLst>
              <a:path w="558800" h="254000">
                <a:moveTo>
                  <a:pt x="50800" y="0"/>
                </a:moveTo>
                <a:lnTo>
                  <a:pt x="508000" y="0"/>
                </a:lnTo>
                <a:cubicBezTo>
                  <a:pt x="536037" y="0"/>
                  <a:pt x="558800" y="22763"/>
                  <a:pt x="558800" y="50800"/>
                </a:cubicBezTo>
                <a:lnTo>
                  <a:pt x="558800" y="203200"/>
                </a:lnTo>
                <a:cubicBezTo>
                  <a:pt x="558800" y="231237"/>
                  <a:pt x="536037" y="254000"/>
                  <a:pt x="5080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C4AF430-B683-4464-BF92-93B88655F7A4}"/>
              </a:ext>
            </a:extLst>
          </p:cNvPr>
          <p:cNvSpPr>
            <a:spLocks noGrp="1"/>
          </p:cNvSpPr>
          <p:nvPr/>
        </p:nvSpPr>
        <p:spPr>
          <a:xfrm>
            <a:off x="4890611" y="4673116"/>
            <a:ext cx="635000" cy="254000"/>
          </a:xfrm>
          <a:prstGeom prst="rect">
            <a:avLst/>
          </a:prstGeom>
          <a:noFill/>
        </p:spPr>
        <p:txBody>
          <a:bodyPr wrap="square" lIns="101600" tIns="25400" rIns="101600" bIns="25400" anchor="ctr"/>
          <a:lstStyle/>
          <a:p>
            <a:pPr>
              <a:lnSpc>
                <a:spcPct val="110000"/>
              </a:lnSpc>
              <a:buNone/>
            </a:pPr>
            <a:r>
              <a:rPr sz="1200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NOW</a:t>
            </a:r>
            <a:endParaRPr sz="16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42F1175-6D84-427A-8D1C-1C05502C9440}"/>
              </a:ext>
            </a:extLst>
          </p:cNvPr>
          <p:cNvSpPr>
            <a:spLocks noGrp="1"/>
          </p:cNvSpPr>
          <p:nvPr/>
        </p:nvSpPr>
        <p:spPr>
          <a:xfrm>
            <a:off x="690880" y="4977916"/>
            <a:ext cx="48387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Test schema and access audit on a disposable cluster</a:t>
            </a:r>
            <a:endParaRPr sz="16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9BBFBE9-07B6-4B97-BB3F-5104051CAB47}"/>
              </a:ext>
            </a:extLst>
          </p:cNvPr>
          <p:cNvSpPr>
            <a:spLocks noGrp="1"/>
          </p:cNvSpPr>
          <p:nvPr/>
        </p:nvSpPr>
        <p:spPr>
          <a:xfrm>
            <a:off x="5687378" y="2298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80CD094-D3A1-4B92-B476-263B91A5682A}"/>
              </a:ext>
            </a:extLst>
          </p:cNvPr>
          <p:cNvSpPr>
            <a:spLocks noGrp="1"/>
          </p:cNvSpPr>
          <p:nvPr/>
        </p:nvSpPr>
        <p:spPr>
          <a:xfrm>
            <a:off x="5947728" y="2235200"/>
            <a:ext cx="47625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8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Medium-Term</a:t>
            </a:r>
            <a:endParaRPr sz="160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B0684C2-1D6E-4A90-9126-EB3A45104B62}"/>
              </a:ext>
            </a:extLst>
          </p:cNvPr>
          <p:cNvSpPr>
            <a:spLocks noGrp="1"/>
          </p:cNvSpPr>
          <p:nvPr/>
        </p:nvSpPr>
        <p:spPr>
          <a:xfrm>
            <a:off x="5670868" y="2743200"/>
            <a:ext cx="30480" cy="711200"/>
          </a:xfrm>
          <a:custGeom>
            <a:avLst/>
            <a:gdLst/>
            <a:ahLst/>
            <a:cxnLst/>
            <a:rect l="l" t="t" r="r" b="b"/>
            <a:pathLst>
              <a:path w="30480" h="711200">
                <a:moveTo>
                  <a:pt x="0" y="0"/>
                </a:moveTo>
                <a:lnTo>
                  <a:pt x="30480" y="0"/>
                </a:lnTo>
                <a:lnTo>
                  <a:pt x="3048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33908B5-329F-44B3-9403-606C5974DB71}"/>
              </a:ext>
            </a:extLst>
          </p:cNvPr>
          <p:cNvSpPr>
            <a:spLocks noGrp="1"/>
          </p:cNvSpPr>
          <p:nvPr/>
        </p:nvSpPr>
        <p:spPr>
          <a:xfrm>
            <a:off x="5838508" y="2844800"/>
            <a:ext cx="14986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Bedrock adapter</a:t>
            </a:r>
            <a:endParaRPr sz="160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333E4FC-1A37-4B57-93AE-33BA742BE163}"/>
              </a:ext>
            </a:extLst>
          </p:cNvPr>
          <p:cNvSpPr>
            <a:spLocks noGrp="1"/>
          </p:cNvSpPr>
          <p:nvPr/>
        </p:nvSpPr>
        <p:spPr>
          <a:xfrm>
            <a:off x="10081578" y="2844800"/>
            <a:ext cx="520700" cy="254000"/>
          </a:xfrm>
          <a:custGeom>
            <a:avLst/>
            <a:gdLst/>
            <a:ahLst/>
            <a:cxnLst/>
            <a:rect l="l" t="t" r="r" b="b"/>
            <a:pathLst>
              <a:path w="520700" h="254000">
                <a:moveTo>
                  <a:pt x="50800" y="0"/>
                </a:moveTo>
                <a:lnTo>
                  <a:pt x="469900" y="0"/>
                </a:lnTo>
                <a:cubicBezTo>
                  <a:pt x="497937" y="0"/>
                  <a:pt x="520700" y="22763"/>
                  <a:pt x="520700" y="50800"/>
                </a:cubicBezTo>
                <a:lnTo>
                  <a:pt x="520700" y="203200"/>
                </a:lnTo>
                <a:cubicBezTo>
                  <a:pt x="520700" y="231237"/>
                  <a:pt x="497937" y="254000"/>
                  <a:pt x="4699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4A01E440-505B-48EC-9BE7-B0E95AB37E01}"/>
              </a:ext>
            </a:extLst>
          </p:cNvPr>
          <p:cNvSpPr>
            <a:spLocks noGrp="1"/>
          </p:cNvSpPr>
          <p:nvPr/>
        </p:nvSpPr>
        <p:spPr>
          <a:xfrm>
            <a:off x="10081578" y="2844800"/>
            <a:ext cx="596900" cy="254000"/>
          </a:xfrm>
          <a:prstGeom prst="rect">
            <a:avLst/>
          </a:prstGeom>
          <a:noFill/>
        </p:spPr>
        <p:txBody>
          <a:bodyPr wrap="square" lIns="101600" tIns="25400" rIns="101600" bIns="25400" anchor="ctr"/>
          <a:lstStyle/>
          <a:p>
            <a:pPr>
              <a:lnSpc>
                <a:spcPct val="110000"/>
              </a:lnSpc>
              <a:buNone/>
            </a:pPr>
            <a:r>
              <a:rPr sz="12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NXT</a:t>
            </a:r>
            <a:endParaRPr sz="16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1B9CC5F-6721-490A-AB70-BCF23DAFAAB8}"/>
              </a:ext>
            </a:extLst>
          </p:cNvPr>
          <p:cNvSpPr>
            <a:spLocks noGrp="1"/>
          </p:cNvSpPr>
          <p:nvPr/>
        </p:nvSpPr>
        <p:spPr>
          <a:xfrm>
            <a:off x="5838508" y="3149600"/>
            <a:ext cx="48387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Implement the frozen structured contract with a fake SDK</a:t>
            </a:r>
            <a:endParaRPr sz="160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B906FC1-C8AD-4366-831B-5059F2FA3837}"/>
              </a:ext>
            </a:extLst>
          </p:cNvPr>
          <p:cNvSpPr>
            <a:spLocks noGrp="1"/>
          </p:cNvSpPr>
          <p:nvPr/>
        </p:nvSpPr>
        <p:spPr>
          <a:xfrm>
            <a:off x="5670868" y="3555839"/>
            <a:ext cx="30480" cy="711200"/>
          </a:xfrm>
          <a:custGeom>
            <a:avLst/>
            <a:gdLst/>
            <a:ahLst/>
            <a:cxnLst/>
            <a:rect l="l" t="t" r="r" b="b"/>
            <a:pathLst>
              <a:path w="30480" h="711200">
                <a:moveTo>
                  <a:pt x="0" y="0"/>
                </a:moveTo>
                <a:lnTo>
                  <a:pt x="30480" y="0"/>
                </a:lnTo>
                <a:lnTo>
                  <a:pt x="3048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15748E15-3044-4F3D-8DE1-0007B1F75E46}"/>
              </a:ext>
            </a:extLst>
          </p:cNvPr>
          <p:cNvSpPr>
            <a:spLocks noGrp="1"/>
          </p:cNvSpPr>
          <p:nvPr/>
        </p:nvSpPr>
        <p:spPr>
          <a:xfrm>
            <a:off x="5838508" y="3657439"/>
            <a:ext cx="18034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Study governance</a:t>
            </a:r>
            <a:endParaRPr sz="160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C88DB7B8-28A9-4314-AA26-BBA68CFE6A1C}"/>
              </a:ext>
            </a:extLst>
          </p:cNvPr>
          <p:cNvSpPr>
            <a:spLocks noGrp="1"/>
          </p:cNvSpPr>
          <p:nvPr/>
        </p:nvSpPr>
        <p:spPr>
          <a:xfrm>
            <a:off x="10081578" y="3657439"/>
            <a:ext cx="520700" cy="254000"/>
          </a:xfrm>
          <a:custGeom>
            <a:avLst/>
            <a:gdLst/>
            <a:ahLst/>
            <a:cxnLst/>
            <a:rect l="l" t="t" r="r" b="b"/>
            <a:pathLst>
              <a:path w="520700" h="254000">
                <a:moveTo>
                  <a:pt x="50800" y="0"/>
                </a:moveTo>
                <a:lnTo>
                  <a:pt x="469900" y="0"/>
                </a:lnTo>
                <a:cubicBezTo>
                  <a:pt x="497937" y="0"/>
                  <a:pt x="520700" y="22763"/>
                  <a:pt x="520700" y="50800"/>
                </a:cubicBezTo>
                <a:lnTo>
                  <a:pt x="520700" y="203200"/>
                </a:lnTo>
                <a:cubicBezTo>
                  <a:pt x="520700" y="231237"/>
                  <a:pt x="497937" y="254000"/>
                  <a:pt x="4699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10CB757-2F53-41A3-9AE2-9B5EF36805C4}"/>
              </a:ext>
            </a:extLst>
          </p:cNvPr>
          <p:cNvSpPr>
            <a:spLocks noGrp="1"/>
          </p:cNvSpPr>
          <p:nvPr/>
        </p:nvSpPr>
        <p:spPr>
          <a:xfrm>
            <a:off x="10081578" y="3657439"/>
            <a:ext cx="596900" cy="254000"/>
          </a:xfrm>
          <a:prstGeom prst="rect">
            <a:avLst/>
          </a:prstGeom>
          <a:noFill/>
        </p:spPr>
        <p:txBody>
          <a:bodyPr wrap="square" lIns="101600" tIns="25400" rIns="101600" bIns="25400" anchor="ctr"/>
          <a:lstStyle/>
          <a:p>
            <a:pPr>
              <a:lnSpc>
                <a:spcPct val="110000"/>
              </a:lnSpc>
              <a:buNone/>
            </a:pPr>
            <a:r>
              <a:rPr sz="12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NXT</a:t>
            </a:r>
            <a:endParaRPr sz="160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25147E2-B6C4-4E58-94F5-396D8C6FD6CA}"/>
              </a:ext>
            </a:extLst>
          </p:cNvPr>
          <p:cNvSpPr>
            <a:spLocks noGrp="1"/>
          </p:cNvSpPr>
          <p:nvPr/>
        </p:nvSpPr>
        <p:spPr>
          <a:xfrm>
            <a:off x="5838508" y="3962239"/>
            <a:ext cx="48387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Consent, retention, export policy and access review</a:t>
            </a:r>
            <a:endParaRPr sz="160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66D3FD3A-93B3-4C14-B35D-C63853BC29ED}"/>
              </a:ext>
            </a:extLst>
          </p:cNvPr>
          <p:cNvSpPr>
            <a:spLocks noGrp="1"/>
          </p:cNvSpPr>
          <p:nvPr/>
        </p:nvSpPr>
        <p:spPr>
          <a:xfrm>
            <a:off x="5670868" y="4368478"/>
            <a:ext cx="30480" cy="914400"/>
          </a:xfrm>
          <a:custGeom>
            <a:avLst/>
            <a:gdLst/>
            <a:ahLst/>
            <a:cxnLst/>
            <a:rect l="l" t="t" r="r" b="b"/>
            <a:pathLst>
              <a:path w="30480" h="914400">
                <a:moveTo>
                  <a:pt x="0" y="0"/>
                </a:moveTo>
                <a:lnTo>
                  <a:pt x="30480" y="0"/>
                </a:lnTo>
                <a:lnTo>
                  <a:pt x="3048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E368241B-7A53-480D-9295-8B07F2FF1218}"/>
              </a:ext>
            </a:extLst>
          </p:cNvPr>
          <p:cNvSpPr>
            <a:spLocks noGrp="1"/>
          </p:cNvSpPr>
          <p:nvPr/>
        </p:nvSpPr>
        <p:spPr>
          <a:xfrm>
            <a:off x="5838508" y="4470078"/>
            <a:ext cx="12446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Operational monitoring</a:t>
            </a:r>
            <a:endParaRPr sz="160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704C1C96-B89A-4066-9FEA-9546371E7B3A}"/>
              </a:ext>
            </a:extLst>
          </p:cNvPr>
          <p:cNvSpPr>
            <a:spLocks noGrp="1"/>
          </p:cNvSpPr>
          <p:nvPr/>
        </p:nvSpPr>
        <p:spPr>
          <a:xfrm>
            <a:off x="10081578" y="4470078"/>
            <a:ext cx="520700" cy="254000"/>
          </a:xfrm>
          <a:custGeom>
            <a:avLst/>
            <a:gdLst/>
            <a:ahLst/>
            <a:cxnLst/>
            <a:rect l="l" t="t" r="r" b="b"/>
            <a:pathLst>
              <a:path w="520700" h="254000">
                <a:moveTo>
                  <a:pt x="50800" y="0"/>
                </a:moveTo>
                <a:lnTo>
                  <a:pt x="469900" y="0"/>
                </a:lnTo>
                <a:cubicBezTo>
                  <a:pt x="497937" y="0"/>
                  <a:pt x="520700" y="22763"/>
                  <a:pt x="520700" y="50800"/>
                </a:cubicBezTo>
                <a:lnTo>
                  <a:pt x="520700" y="203200"/>
                </a:lnTo>
                <a:cubicBezTo>
                  <a:pt x="520700" y="231237"/>
                  <a:pt x="497937" y="254000"/>
                  <a:pt x="4699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DFC6A61D-53E7-4DC2-8178-F010FFC6A412}"/>
              </a:ext>
            </a:extLst>
          </p:cNvPr>
          <p:cNvSpPr>
            <a:spLocks noGrp="1"/>
          </p:cNvSpPr>
          <p:nvPr/>
        </p:nvSpPr>
        <p:spPr>
          <a:xfrm>
            <a:off x="10081578" y="4470078"/>
            <a:ext cx="596900" cy="254000"/>
          </a:xfrm>
          <a:prstGeom prst="rect">
            <a:avLst/>
          </a:prstGeom>
          <a:noFill/>
        </p:spPr>
        <p:txBody>
          <a:bodyPr wrap="square" lIns="101600" tIns="25400" rIns="101600" bIns="25400" anchor="ctr"/>
          <a:lstStyle/>
          <a:p>
            <a:pPr>
              <a:lnSpc>
                <a:spcPct val="110000"/>
              </a:lnSpc>
              <a:buNone/>
            </a:pPr>
            <a:r>
              <a:rPr sz="12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NXT</a:t>
            </a:r>
            <a:endParaRPr sz="160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D4BDB73E-4ABF-45D0-9F90-ABEF6C7271BC}"/>
              </a:ext>
            </a:extLst>
          </p:cNvPr>
          <p:cNvSpPr>
            <a:spLocks noGrp="1"/>
          </p:cNvSpPr>
          <p:nvPr/>
        </p:nvSpPr>
        <p:spPr>
          <a:xfrm>
            <a:off x="5838508" y="4774878"/>
            <a:ext cx="48387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Resolve framework deprecations and add alerts</a:t>
            </a:r>
            <a:endParaRPr sz="160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91072F7D-657C-4C8F-BDAD-83E286E35661}"/>
              </a:ext>
            </a:extLst>
          </p:cNvPr>
          <p:cNvSpPr>
            <a:spLocks noGrp="1"/>
          </p:cNvSpPr>
          <p:nvPr/>
        </p:nvSpPr>
        <p:spPr>
          <a:xfrm>
            <a:off x="10835164" y="2298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99968" y="14288"/>
                </a:moveTo>
                <a:lnTo>
                  <a:pt x="65946" y="14288"/>
                </a:lnTo>
                <a:cubicBezTo>
                  <a:pt x="52819" y="14288"/>
                  <a:pt x="41344" y="23262"/>
                  <a:pt x="38219" y="35987"/>
                </a:cubicBezTo>
                <a:lnTo>
                  <a:pt x="625" y="187747"/>
                </a:lnTo>
                <a:cubicBezTo>
                  <a:pt x="-2724" y="201231"/>
                  <a:pt x="7501" y="214313"/>
                  <a:pt x="21431" y="214313"/>
                </a:cubicBezTo>
                <a:lnTo>
                  <a:pt x="99968" y="214313"/>
                </a:lnTo>
                <a:lnTo>
                  <a:pt x="99968" y="185738"/>
                </a:lnTo>
                <a:cubicBezTo>
                  <a:pt x="99968" y="177835"/>
                  <a:pt x="106353" y="171450"/>
                  <a:pt x="114255" y="171450"/>
                </a:cubicBezTo>
                <a:cubicBezTo>
                  <a:pt x="122158" y="171450"/>
                  <a:pt x="128543" y="177835"/>
                  <a:pt x="128543" y="185738"/>
                </a:cubicBezTo>
                <a:lnTo>
                  <a:pt x="128543" y="214313"/>
                </a:lnTo>
                <a:lnTo>
                  <a:pt x="207169" y="214313"/>
                </a:lnTo>
                <a:cubicBezTo>
                  <a:pt x="221099" y="214313"/>
                  <a:pt x="231324" y="201231"/>
                  <a:pt x="227975" y="187747"/>
                </a:cubicBezTo>
                <a:lnTo>
                  <a:pt x="190426" y="35987"/>
                </a:lnTo>
                <a:cubicBezTo>
                  <a:pt x="187256" y="23262"/>
                  <a:pt x="175826" y="14288"/>
                  <a:pt x="162654" y="14288"/>
                </a:cubicBezTo>
                <a:lnTo>
                  <a:pt x="128543" y="14288"/>
                </a:lnTo>
                <a:lnTo>
                  <a:pt x="128543" y="42863"/>
                </a:lnTo>
                <a:cubicBezTo>
                  <a:pt x="128543" y="50765"/>
                  <a:pt x="122158" y="57150"/>
                  <a:pt x="114255" y="57150"/>
                </a:cubicBezTo>
                <a:cubicBezTo>
                  <a:pt x="106353" y="57150"/>
                  <a:pt x="99968" y="50765"/>
                  <a:pt x="99968" y="42863"/>
                </a:cubicBezTo>
                <a:lnTo>
                  <a:pt x="99968" y="14288"/>
                </a:lnTo>
                <a:close/>
                <a:moveTo>
                  <a:pt x="128543" y="100013"/>
                </a:moveTo>
                <a:lnTo>
                  <a:pt x="128543" y="128588"/>
                </a:lnTo>
                <a:cubicBezTo>
                  <a:pt x="128543" y="136490"/>
                  <a:pt x="122158" y="142875"/>
                  <a:pt x="114255" y="142875"/>
                </a:cubicBezTo>
                <a:cubicBezTo>
                  <a:pt x="106353" y="142875"/>
                  <a:pt x="99968" y="136490"/>
                  <a:pt x="99968" y="128588"/>
                </a:cubicBezTo>
                <a:lnTo>
                  <a:pt x="99968" y="100013"/>
                </a:lnTo>
                <a:cubicBezTo>
                  <a:pt x="99968" y="92110"/>
                  <a:pt x="106353" y="85725"/>
                  <a:pt x="114255" y="85725"/>
                </a:cubicBezTo>
                <a:cubicBezTo>
                  <a:pt x="122158" y="85725"/>
                  <a:pt x="128543" y="92110"/>
                  <a:pt x="128543" y="100013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E01C4AED-B907-46F3-825A-966D7D92685A}"/>
              </a:ext>
            </a:extLst>
          </p:cNvPr>
          <p:cNvSpPr>
            <a:spLocks noGrp="1"/>
          </p:cNvSpPr>
          <p:nvPr/>
        </p:nvSpPr>
        <p:spPr>
          <a:xfrm>
            <a:off x="11095514" y="2235200"/>
            <a:ext cx="47625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8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Future Research</a:t>
            </a:r>
            <a:endParaRPr sz="160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34A10775-FAFC-4695-9CAC-C20B36A7F586}"/>
              </a:ext>
            </a:extLst>
          </p:cNvPr>
          <p:cNvSpPr>
            <a:spLocks noGrp="1"/>
          </p:cNvSpPr>
          <p:nvPr/>
        </p:nvSpPr>
        <p:spPr>
          <a:xfrm>
            <a:off x="10818654" y="2743200"/>
            <a:ext cx="30480" cy="711200"/>
          </a:xfrm>
          <a:custGeom>
            <a:avLst/>
            <a:gdLst/>
            <a:ahLst/>
            <a:cxnLst/>
            <a:rect l="l" t="t" r="r" b="b"/>
            <a:pathLst>
              <a:path w="30480" h="711200">
                <a:moveTo>
                  <a:pt x="0" y="0"/>
                </a:moveTo>
                <a:lnTo>
                  <a:pt x="30480" y="0"/>
                </a:lnTo>
                <a:lnTo>
                  <a:pt x="3048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6A60AB61-4405-40A2-8B31-6B6A939A9489}"/>
              </a:ext>
            </a:extLst>
          </p:cNvPr>
          <p:cNvSpPr>
            <a:spLocks noGrp="1"/>
          </p:cNvSpPr>
          <p:nvPr/>
        </p:nvSpPr>
        <p:spPr>
          <a:xfrm>
            <a:off x="10986294" y="2844800"/>
            <a:ext cx="18288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Outcome evaluation</a:t>
            </a:r>
            <a:endParaRPr sz="160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A109DACB-8178-4BC8-A132-987BA9ED1820}"/>
              </a:ext>
            </a:extLst>
          </p:cNvPr>
          <p:cNvSpPr>
            <a:spLocks noGrp="1"/>
          </p:cNvSpPr>
          <p:nvPr/>
        </p:nvSpPr>
        <p:spPr>
          <a:xfrm>
            <a:off x="15190470" y="2844800"/>
            <a:ext cx="558800" cy="254000"/>
          </a:xfrm>
          <a:custGeom>
            <a:avLst/>
            <a:gdLst/>
            <a:ahLst/>
            <a:cxnLst/>
            <a:rect l="l" t="t" r="r" b="b"/>
            <a:pathLst>
              <a:path w="558800" h="254000">
                <a:moveTo>
                  <a:pt x="50800" y="0"/>
                </a:moveTo>
                <a:lnTo>
                  <a:pt x="508000" y="0"/>
                </a:lnTo>
                <a:cubicBezTo>
                  <a:pt x="536037" y="0"/>
                  <a:pt x="558800" y="22763"/>
                  <a:pt x="558800" y="50800"/>
                </a:cubicBezTo>
                <a:lnTo>
                  <a:pt x="558800" y="203200"/>
                </a:lnTo>
                <a:cubicBezTo>
                  <a:pt x="558800" y="231237"/>
                  <a:pt x="536037" y="254000"/>
                  <a:pt x="5080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88A9C">
              <a:alpha val="3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2E4BD0C4-5BB9-4BE0-8E4C-0FA3B7F37EB8}"/>
              </a:ext>
            </a:extLst>
          </p:cNvPr>
          <p:cNvSpPr>
            <a:spLocks noGrp="1"/>
          </p:cNvSpPr>
          <p:nvPr/>
        </p:nvSpPr>
        <p:spPr>
          <a:xfrm>
            <a:off x="15190470" y="2844800"/>
            <a:ext cx="635000" cy="254000"/>
          </a:xfrm>
          <a:prstGeom prst="rect">
            <a:avLst/>
          </a:prstGeom>
          <a:noFill/>
        </p:spPr>
        <p:txBody>
          <a:bodyPr wrap="square" lIns="101600" tIns="25400" rIns="101600" bIns="25400" anchor="ctr"/>
          <a:lstStyle/>
          <a:p>
            <a:pPr>
              <a:lnSpc>
                <a:spcPct val="110000"/>
              </a:lnSpc>
              <a:buNone/>
            </a:pPr>
            <a:r>
              <a:rPr sz="1200" b="1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IDEA</a:t>
            </a:r>
            <a:endParaRPr sz="160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998C1389-888D-4BCE-89FA-13F347FDF6DF}"/>
              </a:ext>
            </a:extLst>
          </p:cNvPr>
          <p:cNvSpPr>
            <a:spLocks noGrp="1"/>
          </p:cNvSpPr>
          <p:nvPr/>
        </p:nvSpPr>
        <p:spPr>
          <a:xfrm>
            <a:off x="10986294" y="3149600"/>
            <a:ext cx="48387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Compare observation codes with final project artefacts</a:t>
            </a:r>
            <a:endParaRPr sz="160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9C7B7EC7-8CBB-4E90-8A50-821E6A4C99A2}"/>
              </a:ext>
            </a:extLst>
          </p:cNvPr>
          <p:cNvSpPr>
            <a:spLocks noGrp="1"/>
          </p:cNvSpPr>
          <p:nvPr/>
        </p:nvSpPr>
        <p:spPr>
          <a:xfrm>
            <a:off x="10818654" y="3555839"/>
            <a:ext cx="30480" cy="711200"/>
          </a:xfrm>
          <a:custGeom>
            <a:avLst/>
            <a:gdLst/>
            <a:ahLst/>
            <a:cxnLst/>
            <a:rect l="l" t="t" r="r" b="b"/>
            <a:pathLst>
              <a:path w="30480" h="711200">
                <a:moveTo>
                  <a:pt x="0" y="0"/>
                </a:moveTo>
                <a:lnTo>
                  <a:pt x="30480" y="0"/>
                </a:lnTo>
                <a:lnTo>
                  <a:pt x="3048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3146C38C-B362-44E0-A381-333335680B6C}"/>
              </a:ext>
            </a:extLst>
          </p:cNvPr>
          <p:cNvSpPr>
            <a:spLocks noGrp="1"/>
          </p:cNvSpPr>
          <p:nvPr/>
        </p:nvSpPr>
        <p:spPr>
          <a:xfrm>
            <a:off x="10986294" y="3657439"/>
            <a:ext cx="19304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Longitudinal analysis</a:t>
            </a:r>
            <a:endParaRPr sz="160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4B5C64E1-9979-44D3-AF65-0B095B2ABF79}"/>
              </a:ext>
            </a:extLst>
          </p:cNvPr>
          <p:cNvSpPr>
            <a:spLocks noGrp="1"/>
          </p:cNvSpPr>
          <p:nvPr/>
        </p:nvSpPr>
        <p:spPr>
          <a:xfrm>
            <a:off x="15190470" y="3657439"/>
            <a:ext cx="558800" cy="254000"/>
          </a:xfrm>
          <a:custGeom>
            <a:avLst/>
            <a:gdLst/>
            <a:ahLst/>
            <a:cxnLst/>
            <a:rect l="l" t="t" r="r" b="b"/>
            <a:pathLst>
              <a:path w="558800" h="254000">
                <a:moveTo>
                  <a:pt x="50800" y="0"/>
                </a:moveTo>
                <a:lnTo>
                  <a:pt x="508000" y="0"/>
                </a:lnTo>
                <a:cubicBezTo>
                  <a:pt x="536037" y="0"/>
                  <a:pt x="558800" y="22763"/>
                  <a:pt x="558800" y="50800"/>
                </a:cubicBezTo>
                <a:lnTo>
                  <a:pt x="558800" y="203200"/>
                </a:lnTo>
                <a:cubicBezTo>
                  <a:pt x="558800" y="231237"/>
                  <a:pt x="536037" y="254000"/>
                  <a:pt x="5080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88A9C">
              <a:alpha val="3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E19FFDE0-38D7-49F4-BBDC-C3FDD835F8A4}"/>
              </a:ext>
            </a:extLst>
          </p:cNvPr>
          <p:cNvSpPr>
            <a:spLocks noGrp="1"/>
          </p:cNvSpPr>
          <p:nvPr/>
        </p:nvSpPr>
        <p:spPr>
          <a:xfrm>
            <a:off x="15190470" y="3657439"/>
            <a:ext cx="635000" cy="254000"/>
          </a:xfrm>
          <a:prstGeom prst="rect">
            <a:avLst/>
          </a:prstGeom>
          <a:noFill/>
        </p:spPr>
        <p:txBody>
          <a:bodyPr wrap="square" lIns="101600" tIns="25400" rIns="101600" bIns="25400" anchor="ctr"/>
          <a:lstStyle/>
          <a:p>
            <a:pPr>
              <a:lnSpc>
                <a:spcPct val="110000"/>
              </a:lnSpc>
              <a:buNone/>
            </a:pPr>
            <a:r>
              <a:rPr sz="1200" b="1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IDEA</a:t>
            </a:r>
            <a:endParaRPr sz="160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38E6E821-7475-4629-9434-072720CE0505}"/>
              </a:ext>
            </a:extLst>
          </p:cNvPr>
          <p:cNvSpPr>
            <a:spLocks noGrp="1"/>
          </p:cNvSpPr>
          <p:nvPr/>
        </p:nvSpPr>
        <p:spPr>
          <a:xfrm>
            <a:off x="10986294" y="3962239"/>
            <a:ext cx="48387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Track reasoning development across course milestones</a:t>
            </a:r>
            <a:endParaRPr sz="160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27A38F15-2BC7-408C-B841-0302A9D0EAFB}"/>
              </a:ext>
            </a:extLst>
          </p:cNvPr>
          <p:cNvSpPr>
            <a:spLocks noGrp="1"/>
          </p:cNvSpPr>
          <p:nvPr/>
        </p:nvSpPr>
        <p:spPr>
          <a:xfrm>
            <a:off x="10818654" y="4368478"/>
            <a:ext cx="30480" cy="711200"/>
          </a:xfrm>
          <a:custGeom>
            <a:avLst/>
            <a:gdLst/>
            <a:ahLst/>
            <a:cxnLst/>
            <a:rect l="l" t="t" r="r" b="b"/>
            <a:pathLst>
              <a:path w="30480" h="711200">
                <a:moveTo>
                  <a:pt x="0" y="0"/>
                </a:moveTo>
                <a:lnTo>
                  <a:pt x="30480" y="0"/>
                </a:lnTo>
                <a:lnTo>
                  <a:pt x="3048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B399CAD7-2D20-4B0E-BC9E-34039307A7F1}"/>
              </a:ext>
            </a:extLst>
          </p:cNvPr>
          <p:cNvSpPr>
            <a:spLocks noGrp="1"/>
          </p:cNvSpPr>
          <p:nvPr/>
        </p:nvSpPr>
        <p:spPr>
          <a:xfrm>
            <a:off x="10986294" y="4470078"/>
            <a:ext cx="18288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Team projects</a:t>
            </a:r>
            <a:endParaRPr sz="160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C62BF7B6-D59C-4616-9016-56C1A36291CE}"/>
              </a:ext>
            </a:extLst>
          </p:cNvPr>
          <p:cNvSpPr>
            <a:spLocks noGrp="1"/>
          </p:cNvSpPr>
          <p:nvPr/>
        </p:nvSpPr>
        <p:spPr>
          <a:xfrm>
            <a:off x="15190470" y="4470078"/>
            <a:ext cx="558800" cy="254000"/>
          </a:xfrm>
          <a:custGeom>
            <a:avLst/>
            <a:gdLst/>
            <a:ahLst/>
            <a:cxnLst/>
            <a:rect l="l" t="t" r="r" b="b"/>
            <a:pathLst>
              <a:path w="558800" h="254000">
                <a:moveTo>
                  <a:pt x="50800" y="0"/>
                </a:moveTo>
                <a:lnTo>
                  <a:pt x="508000" y="0"/>
                </a:lnTo>
                <a:cubicBezTo>
                  <a:pt x="536037" y="0"/>
                  <a:pt x="558800" y="22763"/>
                  <a:pt x="558800" y="50800"/>
                </a:cubicBezTo>
                <a:lnTo>
                  <a:pt x="558800" y="203200"/>
                </a:lnTo>
                <a:cubicBezTo>
                  <a:pt x="558800" y="231237"/>
                  <a:pt x="536037" y="254000"/>
                  <a:pt x="5080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88A9C">
              <a:alpha val="3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FFDA89EF-DEE8-4BD0-A43B-58F9EDCC8D6F}"/>
              </a:ext>
            </a:extLst>
          </p:cNvPr>
          <p:cNvSpPr>
            <a:spLocks noGrp="1"/>
          </p:cNvSpPr>
          <p:nvPr/>
        </p:nvSpPr>
        <p:spPr>
          <a:xfrm>
            <a:off x="15190470" y="4470078"/>
            <a:ext cx="635000" cy="254000"/>
          </a:xfrm>
          <a:prstGeom prst="rect">
            <a:avLst/>
          </a:prstGeom>
          <a:noFill/>
        </p:spPr>
        <p:txBody>
          <a:bodyPr wrap="square" lIns="101600" tIns="25400" rIns="101600" bIns="25400" anchor="ctr"/>
          <a:lstStyle/>
          <a:p>
            <a:pPr>
              <a:lnSpc>
                <a:spcPct val="110000"/>
              </a:lnSpc>
              <a:buNone/>
            </a:pPr>
            <a:r>
              <a:rPr sz="1200" b="1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IDEA</a:t>
            </a:r>
            <a:endParaRPr sz="160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F3D50635-464C-4C62-AB1B-F7C259C8354C}"/>
              </a:ext>
            </a:extLst>
          </p:cNvPr>
          <p:cNvSpPr>
            <a:spLocks noGrp="1"/>
          </p:cNvSpPr>
          <p:nvPr/>
        </p:nvSpPr>
        <p:spPr>
          <a:xfrm>
            <a:off x="10986294" y="4774878"/>
            <a:ext cx="48387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10000"/>
              </a:lnSpc>
              <a:buNone/>
            </a:pPr>
            <a:r>
              <a:rPr sz="120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Design separate collaboration semantics and consent</a:t>
            </a:r>
            <a:endParaRPr sz="160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3F4CA3DF-D3A8-4140-A29A-181DC04D3639}"/>
              </a:ext>
            </a:extLst>
          </p:cNvPr>
          <p:cNvSpPr>
            <a:spLocks noGrp="1"/>
          </p:cNvSpPr>
          <p:nvPr/>
        </p:nvSpPr>
        <p:spPr>
          <a:xfrm>
            <a:off x="533400" y="5485767"/>
            <a:ext cx="7493000" cy="1219200"/>
          </a:xfrm>
          <a:custGeom>
            <a:avLst/>
            <a:gdLst/>
            <a:ahLst/>
            <a:cxnLst/>
            <a:rect l="l" t="t" r="r" b="b"/>
            <a:pathLst>
              <a:path w="7493000" h="1219200">
                <a:moveTo>
                  <a:pt x="0" y="0"/>
                </a:moveTo>
                <a:lnTo>
                  <a:pt x="7493000" y="0"/>
                </a:lnTo>
                <a:lnTo>
                  <a:pt x="74930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>
              <a:alpha val="5098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3977A853-9F28-4B53-A50D-9D3E54289C30}"/>
              </a:ext>
            </a:extLst>
          </p:cNvPr>
          <p:cNvSpPr>
            <a:spLocks noGrp="1"/>
          </p:cNvSpPr>
          <p:nvPr/>
        </p:nvSpPr>
        <p:spPr>
          <a:xfrm>
            <a:off x="533400" y="5485767"/>
            <a:ext cx="50800" cy="1219200"/>
          </a:xfrm>
          <a:custGeom>
            <a:avLst/>
            <a:gdLst/>
            <a:ahLst/>
            <a:cxnLst/>
            <a:rect l="l" t="t" r="r" b="b"/>
            <a:pathLst>
              <a:path w="50800" h="1219200">
                <a:moveTo>
                  <a:pt x="0" y="0"/>
                </a:moveTo>
                <a:lnTo>
                  <a:pt x="50800" y="0"/>
                </a:lnTo>
                <a:lnTo>
                  <a:pt x="508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006DBD91-7A76-4503-A874-32FEDEA83D74}"/>
              </a:ext>
            </a:extLst>
          </p:cNvPr>
          <p:cNvSpPr>
            <a:spLocks noGrp="1"/>
          </p:cNvSpPr>
          <p:nvPr/>
        </p:nvSpPr>
        <p:spPr>
          <a:xfrm>
            <a:off x="787400" y="5688967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03426" y="0"/>
                  <a:pt x="105251" y="397"/>
                  <a:pt x="106918" y="1151"/>
                </a:cubicBezTo>
                <a:lnTo>
                  <a:pt x="181689" y="32861"/>
                </a:lnTo>
                <a:cubicBezTo>
                  <a:pt x="190421" y="36552"/>
                  <a:pt x="196929" y="45164"/>
                  <a:pt x="196890" y="55563"/>
                </a:cubicBezTo>
                <a:cubicBezTo>
                  <a:pt x="196691" y="94932"/>
                  <a:pt x="180499" y="166965"/>
                  <a:pt x="112117" y="199708"/>
                </a:cubicBezTo>
                <a:cubicBezTo>
                  <a:pt x="105489" y="202883"/>
                  <a:pt x="97790" y="202883"/>
                  <a:pt x="91162" y="199708"/>
                </a:cubicBezTo>
                <a:cubicBezTo>
                  <a:pt x="22741" y="166965"/>
                  <a:pt x="6588" y="94932"/>
                  <a:pt x="6390" y="55563"/>
                </a:cubicBezTo>
                <a:cubicBezTo>
                  <a:pt x="6350" y="45164"/>
                  <a:pt x="12859" y="36552"/>
                  <a:pt x="21590" y="32861"/>
                </a:cubicBezTo>
                <a:lnTo>
                  <a:pt x="96322" y="1151"/>
                </a:lnTo>
                <a:cubicBezTo>
                  <a:pt x="97988" y="397"/>
                  <a:pt x="99774" y="0"/>
                  <a:pt x="101600" y="0"/>
                </a:cubicBezTo>
                <a:close/>
                <a:moveTo>
                  <a:pt x="101600" y="26511"/>
                </a:moveTo>
                <a:lnTo>
                  <a:pt x="101600" y="176570"/>
                </a:lnTo>
                <a:cubicBezTo>
                  <a:pt x="156369" y="150058"/>
                  <a:pt x="171093" y="91321"/>
                  <a:pt x="171450" y="56158"/>
                </a:cubicBezTo>
                <a:lnTo>
                  <a:pt x="101600" y="26551"/>
                </a:lnTo>
                <a:lnTo>
                  <a:pt x="101600" y="26551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69F99B14-F5B5-4FD9-8768-862F148C3243}"/>
              </a:ext>
            </a:extLst>
          </p:cNvPr>
          <p:cNvSpPr>
            <a:spLocks noGrp="1"/>
          </p:cNvSpPr>
          <p:nvPr/>
        </p:nvSpPr>
        <p:spPr>
          <a:xfrm>
            <a:off x="1016000" y="5638167"/>
            <a:ext cx="7112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Research Impact Assessment</a:t>
            </a:r>
            <a:endParaRPr sz="1600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C15AA348-E4CF-4955-9251-9A7C15EDF7B6}"/>
              </a:ext>
            </a:extLst>
          </p:cNvPr>
          <p:cNvSpPr>
            <a:spLocks noGrp="1"/>
          </p:cNvSpPr>
          <p:nvPr/>
        </p:nvSpPr>
        <p:spPr>
          <a:xfrm>
            <a:off x="762000" y="6044567"/>
            <a:ext cx="73533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Automated codes describe explicit message evidence; they do not measure underlying student ability.</a:t>
            </a:r>
            <a:endParaRPr sz="160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34BCFCE9-5E85-4713-8A0D-740EAF357464}"/>
              </a:ext>
            </a:extLst>
          </p:cNvPr>
          <p:cNvSpPr>
            <a:spLocks noGrp="1"/>
          </p:cNvSpPr>
          <p:nvPr/>
        </p:nvSpPr>
        <p:spPr>
          <a:xfrm>
            <a:off x="8255000" y="5485767"/>
            <a:ext cx="7493000" cy="1219200"/>
          </a:xfrm>
          <a:custGeom>
            <a:avLst/>
            <a:gdLst/>
            <a:ahLst/>
            <a:cxnLst/>
            <a:rect l="l" t="t" r="r" b="b"/>
            <a:pathLst>
              <a:path w="7493000" h="1219200">
                <a:moveTo>
                  <a:pt x="0" y="0"/>
                </a:moveTo>
                <a:lnTo>
                  <a:pt x="7493000" y="0"/>
                </a:lnTo>
                <a:lnTo>
                  <a:pt x="74930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>
              <a:alpha val="5098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5F57EFD8-F3D4-4508-830D-F8265493C5A7}"/>
              </a:ext>
            </a:extLst>
          </p:cNvPr>
          <p:cNvSpPr>
            <a:spLocks noGrp="1"/>
          </p:cNvSpPr>
          <p:nvPr/>
        </p:nvSpPr>
        <p:spPr>
          <a:xfrm>
            <a:off x="8255000" y="5485767"/>
            <a:ext cx="50800" cy="1219200"/>
          </a:xfrm>
          <a:custGeom>
            <a:avLst/>
            <a:gdLst/>
            <a:ahLst/>
            <a:cxnLst/>
            <a:rect l="l" t="t" r="r" b="b"/>
            <a:pathLst>
              <a:path w="50800" h="1219200">
                <a:moveTo>
                  <a:pt x="0" y="0"/>
                </a:moveTo>
                <a:lnTo>
                  <a:pt x="50800" y="0"/>
                </a:lnTo>
                <a:lnTo>
                  <a:pt x="508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9FF641B6-36D9-44D0-8E5D-A36F99E58E8F}"/>
              </a:ext>
            </a:extLst>
          </p:cNvPr>
          <p:cNvSpPr>
            <a:spLocks noGrp="1"/>
          </p:cNvSpPr>
          <p:nvPr/>
        </p:nvSpPr>
        <p:spPr>
          <a:xfrm>
            <a:off x="8483600" y="5688967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27000" y="6350"/>
                </a:moveTo>
                <a:cubicBezTo>
                  <a:pt x="149780" y="6350"/>
                  <a:pt x="168275" y="24845"/>
                  <a:pt x="168275" y="47625"/>
                </a:cubicBezTo>
                <a:cubicBezTo>
                  <a:pt x="168275" y="70405"/>
                  <a:pt x="149780" y="88900"/>
                  <a:pt x="127000" y="88900"/>
                </a:cubicBezTo>
                <a:cubicBezTo>
                  <a:pt x="104220" y="88900"/>
                  <a:pt x="85725" y="70405"/>
                  <a:pt x="85725" y="47625"/>
                </a:cubicBezTo>
                <a:cubicBezTo>
                  <a:pt x="85725" y="24845"/>
                  <a:pt x="104220" y="6350"/>
                  <a:pt x="127000" y="6350"/>
                </a:cubicBezTo>
                <a:close/>
                <a:moveTo>
                  <a:pt x="38100" y="34925"/>
                </a:moveTo>
                <a:cubicBezTo>
                  <a:pt x="53871" y="34925"/>
                  <a:pt x="66675" y="47729"/>
                  <a:pt x="66675" y="63500"/>
                </a:cubicBezTo>
                <a:cubicBezTo>
                  <a:pt x="66675" y="79271"/>
                  <a:pt x="53871" y="92075"/>
                  <a:pt x="38100" y="92075"/>
                </a:cubicBezTo>
                <a:cubicBezTo>
                  <a:pt x="22329" y="92075"/>
                  <a:pt x="9525" y="79271"/>
                  <a:pt x="9525" y="63500"/>
                </a:cubicBezTo>
                <a:cubicBezTo>
                  <a:pt x="9525" y="47729"/>
                  <a:pt x="22329" y="34925"/>
                  <a:pt x="38100" y="34925"/>
                </a:cubicBezTo>
                <a:close/>
                <a:moveTo>
                  <a:pt x="0" y="165100"/>
                </a:moveTo>
                <a:cubicBezTo>
                  <a:pt x="0" y="137041"/>
                  <a:pt x="22741" y="114300"/>
                  <a:pt x="50800" y="114300"/>
                </a:cubicBezTo>
                <a:cubicBezTo>
                  <a:pt x="55880" y="114300"/>
                  <a:pt x="60801" y="115054"/>
                  <a:pt x="65445" y="116443"/>
                </a:cubicBezTo>
                <a:cubicBezTo>
                  <a:pt x="52388" y="131048"/>
                  <a:pt x="44450" y="150336"/>
                  <a:pt x="44450" y="171450"/>
                </a:cubicBezTo>
                <a:lnTo>
                  <a:pt x="44450" y="177800"/>
                </a:lnTo>
                <a:cubicBezTo>
                  <a:pt x="44450" y="182324"/>
                  <a:pt x="45403" y="186611"/>
                  <a:pt x="47109" y="190500"/>
                </a:cubicBezTo>
                <a:lnTo>
                  <a:pt x="12700" y="190500"/>
                </a:lnTo>
                <a:cubicBezTo>
                  <a:pt x="5675" y="190500"/>
                  <a:pt x="0" y="184825"/>
                  <a:pt x="0" y="177800"/>
                </a:cubicBezTo>
                <a:lnTo>
                  <a:pt x="0" y="165100"/>
                </a:lnTo>
                <a:close/>
                <a:moveTo>
                  <a:pt x="206891" y="190500"/>
                </a:moveTo>
                <a:cubicBezTo>
                  <a:pt x="208597" y="186611"/>
                  <a:pt x="209550" y="182324"/>
                  <a:pt x="209550" y="177800"/>
                </a:cubicBezTo>
                <a:lnTo>
                  <a:pt x="209550" y="171450"/>
                </a:lnTo>
                <a:cubicBezTo>
                  <a:pt x="209550" y="150336"/>
                  <a:pt x="201613" y="131048"/>
                  <a:pt x="188555" y="116443"/>
                </a:cubicBezTo>
                <a:cubicBezTo>
                  <a:pt x="193199" y="115054"/>
                  <a:pt x="198120" y="114300"/>
                  <a:pt x="203200" y="114300"/>
                </a:cubicBezTo>
                <a:cubicBezTo>
                  <a:pt x="231259" y="114300"/>
                  <a:pt x="254000" y="137041"/>
                  <a:pt x="254000" y="165100"/>
                </a:cubicBezTo>
                <a:lnTo>
                  <a:pt x="254000" y="177800"/>
                </a:lnTo>
                <a:cubicBezTo>
                  <a:pt x="254000" y="184825"/>
                  <a:pt x="248325" y="190500"/>
                  <a:pt x="241300" y="190500"/>
                </a:cubicBezTo>
                <a:lnTo>
                  <a:pt x="206891" y="190500"/>
                </a:lnTo>
                <a:close/>
                <a:moveTo>
                  <a:pt x="187325" y="63500"/>
                </a:moveTo>
                <a:cubicBezTo>
                  <a:pt x="187325" y="47729"/>
                  <a:pt x="200129" y="34925"/>
                  <a:pt x="215900" y="34925"/>
                </a:cubicBezTo>
                <a:cubicBezTo>
                  <a:pt x="231671" y="34925"/>
                  <a:pt x="244475" y="47729"/>
                  <a:pt x="244475" y="63500"/>
                </a:cubicBezTo>
                <a:cubicBezTo>
                  <a:pt x="244475" y="79271"/>
                  <a:pt x="231671" y="92075"/>
                  <a:pt x="215900" y="92075"/>
                </a:cubicBezTo>
                <a:cubicBezTo>
                  <a:pt x="200129" y="92075"/>
                  <a:pt x="187325" y="79271"/>
                  <a:pt x="187325" y="63500"/>
                </a:cubicBezTo>
                <a:close/>
                <a:moveTo>
                  <a:pt x="63500" y="171450"/>
                </a:moveTo>
                <a:cubicBezTo>
                  <a:pt x="63500" y="136366"/>
                  <a:pt x="91916" y="107950"/>
                  <a:pt x="127000" y="107950"/>
                </a:cubicBezTo>
                <a:cubicBezTo>
                  <a:pt x="162084" y="107950"/>
                  <a:pt x="190500" y="136366"/>
                  <a:pt x="190500" y="171450"/>
                </a:cubicBezTo>
                <a:lnTo>
                  <a:pt x="190500" y="177800"/>
                </a:lnTo>
                <a:cubicBezTo>
                  <a:pt x="190500" y="184825"/>
                  <a:pt x="184825" y="190500"/>
                  <a:pt x="177800" y="190500"/>
                </a:cubicBezTo>
                <a:lnTo>
                  <a:pt x="76200" y="190500"/>
                </a:lnTo>
                <a:cubicBezTo>
                  <a:pt x="69175" y="190500"/>
                  <a:pt x="63500" y="184825"/>
                  <a:pt x="63500" y="177800"/>
                </a:cubicBezTo>
                <a:lnTo>
                  <a:pt x="63500" y="17145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A9E6E8D1-792F-49BD-9DB3-12E6812DB524}"/>
              </a:ext>
            </a:extLst>
          </p:cNvPr>
          <p:cNvSpPr>
            <a:spLocks noGrp="1"/>
          </p:cNvSpPr>
          <p:nvPr/>
        </p:nvSpPr>
        <p:spPr>
          <a:xfrm>
            <a:off x="8737600" y="5638167"/>
            <a:ext cx="7112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600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Deployment Impact</a:t>
            </a:r>
            <a:endParaRPr sz="160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8984A248-D65A-42CD-87B2-B0E7C031D956}"/>
              </a:ext>
            </a:extLst>
          </p:cNvPr>
          <p:cNvSpPr>
            <a:spLocks noGrp="1"/>
          </p:cNvSpPr>
          <p:nvPr/>
        </p:nvSpPr>
        <p:spPr>
          <a:xfrm>
            <a:off x="8483600" y="6044567"/>
            <a:ext cx="73533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400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Local/AWS adapters remain; no live migration or reset was performed.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340552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0"/>
          <p:cNvPicPr>
            <a:picLocks noChangeAspect="1"/>
          </p:cNvPicPr>
          <p:nvPr/>
        </p:nvPicPr>
        <p:blipFill>
          <a:blip r:embed="rId3">
            <a:alphaModFix amt="25000"/>
          </a:blip>
          <a:srcRect t="28115" b="28115"/>
          <a:stretch/>
        </p:blipFill>
        <p:spPr>
          <a:xfrm>
            <a:off x="0" y="0"/>
            <a:ext cx="16256000" cy="9448877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1742A1A1-154A-44B4-B58D-27C686FBE2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6256000" cy="9448877"/>
          </a:xfrm>
          <a:custGeom>
            <a:avLst/>
            <a:gdLst/>
            <a:ahLst/>
            <a:cxnLst/>
            <a:rect l="l" t="t" r="r" b="b"/>
            <a:pathLst>
              <a:path w="16256000" h="9448877">
                <a:moveTo>
                  <a:pt x="0" y="0"/>
                </a:moveTo>
                <a:lnTo>
                  <a:pt x="16256000" y="0"/>
                </a:lnTo>
                <a:lnTo>
                  <a:pt x="16256000" y="9448877"/>
                </a:lnTo>
                <a:lnTo>
                  <a:pt x="0" y="9448877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1A1D21">
                  <a:alpha val="95000"/>
                </a:srgbClr>
              </a:gs>
              <a:gs pos="50000">
                <a:srgbClr val="4A6D8A">
                  <a:alpha val="2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C19A5C61-27C8-4EF9-84EC-7321683B67E5}"/>
              </a:ext>
            </a:extLst>
          </p:cNvPr>
          <p:cNvSpPr>
            <a:spLocks noGrp="1"/>
          </p:cNvSpPr>
          <p:nvPr/>
        </p:nvSpPr>
        <p:spPr>
          <a:xfrm>
            <a:off x="491489" y="638936"/>
            <a:ext cx="49149" cy="589787"/>
          </a:xfrm>
          <a:custGeom>
            <a:avLst/>
            <a:gdLst/>
            <a:ahLst/>
            <a:cxnLst/>
            <a:rect l="l" t="t" r="r" b="b"/>
            <a:pathLst>
              <a:path w="49149" h="589787">
                <a:moveTo>
                  <a:pt x="0" y="0"/>
                </a:moveTo>
                <a:lnTo>
                  <a:pt x="49149" y="0"/>
                </a:lnTo>
                <a:lnTo>
                  <a:pt x="49149" y="589787"/>
                </a:lnTo>
                <a:lnTo>
                  <a:pt x="0" y="589787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34A1C3C-1F95-43DB-AD49-5164DD7ACF58}"/>
              </a:ext>
            </a:extLst>
          </p:cNvPr>
          <p:cNvSpPr>
            <a:spLocks noGrp="1"/>
          </p:cNvSpPr>
          <p:nvPr/>
        </p:nvSpPr>
        <p:spPr>
          <a:xfrm>
            <a:off x="737234" y="491489"/>
            <a:ext cx="2948934" cy="2457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355" spc="68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SYSTEM DOCUMENTATION</a:t>
            </a:r>
            <a:endParaRPr sz="16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A116DB9-000A-4625-8017-8A592C9B204A}"/>
              </a:ext>
            </a:extLst>
          </p:cNvPr>
          <p:cNvSpPr>
            <a:spLocks noGrp="1"/>
          </p:cNvSpPr>
          <p:nvPr/>
        </p:nvSpPr>
        <p:spPr>
          <a:xfrm>
            <a:off x="737235" y="952500"/>
            <a:ext cx="5715000" cy="5897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80000"/>
              </a:lnSpc>
              <a:buNone/>
            </a:pPr>
            <a:r>
              <a:rPr sz="4644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Summary</a:t>
            </a:r>
            <a:endParaRPr sz="16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3D15E56-0F0C-4022-A0BA-A3A7BE1DC211}"/>
              </a:ext>
            </a:extLst>
          </p:cNvPr>
          <p:cNvSpPr>
            <a:spLocks noGrp="1"/>
          </p:cNvSpPr>
          <p:nvPr/>
        </p:nvSpPr>
        <p:spPr>
          <a:xfrm>
            <a:off x="491489" y="1523616"/>
            <a:ext cx="9547175" cy="34404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742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CDE2300 combines Socratic coaching, evidence and reflection with governed research visibility.</a:t>
            </a:r>
            <a:endParaRPr sz="16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B6A2991-D5BF-4FFA-98A2-FF8EF7BBB831}"/>
              </a:ext>
            </a:extLst>
          </p:cNvPr>
          <p:cNvSpPr>
            <a:spLocks noGrp="1"/>
          </p:cNvSpPr>
          <p:nvPr/>
        </p:nvSpPr>
        <p:spPr>
          <a:xfrm>
            <a:off x="516063" y="2162552"/>
            <a:ext cx="7482921" cy="3735317"/>
          </a:xfrm>
          <a:custGeom>
            <a:avLst/>
            <a:gdLst/>
            <a:ahLst/>
            <a:cxnLst/>
            <a:rect l="l" t="t" r="r" b="b"/>
            <a:pathLst>
              <a:path w="7482921" h="3735317">
                <a:moveTo>
                  <a:pt x="0" y="0"/>
                </a:moveTo>
                <a:lnTo>
                  <a:pt x="7482921" y="0"/>
                </a:lnTo>
                <a:lnTo>
                  <a:pt x="7482921" y="3735317"/>
                </a:lnTo>
                <a:lnTo>
                  <a:pt x="0" y="3735317"/>
                </a:lnTo>
                <a:lnTo>
                  <a:pt x="0" y="0"/>
                </a:lnTo>
                <a:close/>
              </a:path>
            </a:pathLst>
          </a:custGeom>
          <a:solidFill>
            <a:srgbClr val="4A6D8A">
              <a:alpha val="1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6711363-970D-44AB-81F0-F6D876028B94}"/>
              </a:ext>
            </a:extLst>
          </p:cNvPr>
          <p:cNvSpPr>
            <a:spLocks noGrp="1"/>
          </p:cNvSpPr>
          <p:nvPr/>
        </p:nvSpPr>
        <p:spPr>
          <a:xfrm>
            <a:off x="516063" y="2162552"/>
            <a:ext cx="49149" cy="3735317"/>
          </a:xfrm>
          <a:custGeom>
            <a:avLst/>
            <a:gdLst/>
            <a:ahLst/>
            <a:cxnLst/>
            <a:rect l="l" t="t" r="r" b="b"/>
            <a:pathLst>
              <a:path w="49149" h="3735317">
                <a:moveTo>
                  <a:pt x="0" y="0"/>
                </a:moveTo>
                <a:lnTo>
                  <a:pt x="49149" y="0"/>
                </a:lnTo>
                <a:lnTo>
                  <a:pt x="49149" y="3735317"/>
                </a:lnTo>
                <a:lnTo>
                  <a:pt x="0" y="3735317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0C8635C2-FA99-475B-84E3-75354ADE1AE5}"/>
              </a:ext>
            </a:extLst>
          </p:cNvPr>
          <p:cNvSpPr>
            <a:spLocks noGrp="1"/>
          </p:cNvSpPr>
          <p:nvPr/>
        </p:nvSpPr>
        <p:spPr>
          <a:xfrm>
            <a:off x="817101" y="2408296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5">
                <a:moveTo>
                  <a:pt x="215026" y="122872"/>
                </a:moveTo>
                <a:cubicBezTo>
                  <a:pt x="215026" y="72011"/>
                  <a:pt x="173734" y="30718"/>
                  <a:pt x="122872" y="30718"/>
                </a:cubicBezTo>
                <a:cubicBezTo>
                  <a:pt x="72011" y="30718"/>
                  <a:pt x="30718" y="72011"/>
                  <a:pt x="30718" y="122872"/>
                </a:cubicBezTo>
                <a:cubicBezTo>
                  <a:pt x="30718" y="173734"/>
                  <a:pt x="72011" y="215026"/>
                  <a:pt x="122872" y="215026"/>
                </a:cubicBezTo>
                <a:cubicBezTo>
                  <a:pt x="173734" y="215026"/>
                  <a:pt x="215026" y="173734"/>
                  <a:pt x="215026" y="122872"/>
                </a:cubicBezTo>
                <a:close/>
                <a:moveTo>
                  <a:pt x="0" y="122872"/>
                </a:moveTo>
                <a:cubicBezTo>
                  <a:pt x="0" y="55057"/>
                  <a:pt x="55057" y="0"/>
                  <a:pt x="122872" y="0"/>
                </a:cubicBezTo>
                <a:cubicBezTo>
                  <a:pt x="190687" y="0"/>
                  <a:pt x="245745" y="55057"/>
                  <a:pt x="245745" y="122872"/>
                </a:cubicBezTo>
                <a:cubicBezTo>
                  <a:pt x="245745" y="190687"/>
                  <a:pt x="190687" y="245745"/>
                  <a:pt x="122872" y="245745"/>
                </a:cubicBezTo>
                <a:cubicBezTo>
                  <a:pt x="55057" y="245745"/>
                  <a:pt x="0" y="190687"/>
                  <a:pt x="0" y="122872"/>
                </a:cubicBezTo>
                <a:close/>
                <a:moveTo>
                  <a:pt x="122872" y="161270"/>
                </a:moveTo>
                <a:cubicBezTo>
                  <a:pt x="144064" y="161270"/>
                  <a:pt x="161270" y="144064"/>
                  <a:pt x="161270" y="122872"/>
                </a:cubicBezTo>
                <a:cubicBezTo>
                  <a:pt x="161270" y="101680"/>
                  <a:pt x="144064" y="84475"/>
                  <a:pt x="122872" y="84475"/>
                </a:cubicBezTo>
                <a:cubicBezTo>
                  <a:pt x="101680" y="84475"/>
                  <a:pt x="84475" y="101680"/>
                  <a:pt x="84475" y="122872"/>
                </a:cubicBezTo>
                <a:cubicBezTo>
                  <a:pt x="84475" y="144064"/>
                  <a:pt x="101680" y="161270"/>
                  <a:pt x="122872" y="161270"/>
                </a:cubicBezTo>
                <a:close/>
                <a:moveTo>
                  <a:pt x="122872" y="53757"/>
                </a:moveTo>
                <a:cubicBezTo>
                  <a:pt x="161018" y="53757"/>
                  <a:pt x="191988" y="84726"/>
                  <a:pt x="191988" y="122872"/>
                </a:cubicBezTo>
                <a:cubicBezTo>
                  <a:pt x="191988" y="161018"/>
                  <a:pt x="161018" y="191988"/>
                  <a:pt x="122872" y="191988"/>
                </a:cubicBezTo>
                <a:cubicBezTo>
                  <a:pt x="84726" y="191988"/>
                  <a:pt x="53757" y="161018"/>
                  <a:pt x="53757" y="122872"/>
                </a:cubicBezTo>
                <a:cubicBezTo>
                  <a:pt x="53757" y="84726"/>
                  <a:pt x="84726" y="53757"/>
                  <a:pt x="122872" y="53757"/>
                </a:cubicBezTo>
                <a:close/>
                <a:moveTo>
                  <a:pt x="107513" y="122872"/>
                </a:moveTo>
                <a:cubicBezTo>
                  <a:pt x="107513" y="114395"/>
                  <a:pt x="114395" y="107513"/>
                  <a:pt x="122872" y="107513"/>
                </a:cubicBezTo>
                <a:cubicBezTo>
                  <a:pt x="131349" y="107513"/>
                  <a:pt x="138231" y="114395"/>
                  <a:pt x="138231" y="122872"/>
                </a:cubicBezTo>
                <a:cubicBezTo>
                  <a:pt x="138231" y="131349"/>
                  <a:pt x="131349" y="138231"/>
                  <a:pt x="122872" y="138231"/>
                </a:cubicBezTo>
                <a:cubicBezTo>
                  <a:pt x="114395" y="138231"/>
                  <a:pt x="107513" y="131349"/>
                  <a:pt x="107513" y="122872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2D81294-1420-4AE5-A8C7-9F05E2214CF1}"/>
              </a:ext>
            </a:extLst>
          </p:cNvPr>
          <p:cNvSpPr>
            <a:spLocks noGrp="1"/>
          </p:cNvSpPr>
          <p:nvPr/>
        </p:nvSpPr>
        <p:spPr>
          <a:xfrm>
            <a:off x="1093563" y="2359147"/>
            <a:ext cx="7028293" cy="34404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935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What Students Receive</a:t>
            </a:r>
            <a:endParaRPr sz="16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57D3AF1A-5535-4CDB-95EF-DE3D5509DF74}"/>
              </a:ext>
            </a:extLst>
          </p:cNvPr>
          <p:cNvSpPr>
            <a:spLocks noGrp="1"/>
          </p:cNvSpPr>
          <p:nvPr/>
        </p:nvSpPr>
        <p:spPr>
          <a:xfrm>
            <a:off x="786382" y="2899785"/>
            <a:ext cx="393191" cy="393191"/>
          </a:xfrm>
          <a:custGeom>
            <a:avLst/>
            <a:gdLst/>
            <a:ahLst/>
            <a:cxnLst/>
            <a:rect l="l" t="t" r="r" b="b"/>
            <a:pathLst>
              <a:path w="393191" h="393191">
                <a:moveTo>
                  <a:pt x="196596" y="0"/>
                </a:moveTo>
                <a:lnTo>
                  <a:pt x="196596" y="0"/>
                </a:lnTo>
                <a:cubicBezTo>
                  <a:pt x="305100" y="0"/>
                  <a:pt x="393191" y="88092"/>
                  <a:pt x="393191" y="196596"/>
                </a:cubicBezTo>
                <a:lnTo>
                  <a:pt x="393191" y="196596"/>
                </a:lnTo>
                <a:cubicBezTo>
                  <a:pt x="393191" y="305100"/>
                  <a:pt x="305100" y="393191"/>
                  <a:pt x="196596" y="393191"/>
                </a:cubicBezTo>
                <a:lnTo>
                  <a:pt x="196596" y="393191"/>
                </a:lnTo>
                <a:cubicBezTo>
                  <a:pt x="88092" y="393191"/>
                  <a:pt x="0" y="305100"/>
                  <a:pt x="0" y="196596"/>
                </a:cubicBezTo>
                <a:lnTo>
                  <a:pt x="0" y="196596"/>
                </a:lnTo>
                <a:cubicBezTo>
                  <a:pt x="0" y="88092"/>
                  <a:pt x="88092" y="0"/>
                  <a:pt x="196596" y="0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3CE63A7-A1BE-48CF-8631-46F5AE027D6A}"/>
              </a:ext>
            </a:extLst>
          </p:cNvPr>
          <p:cNvSpPr>
            <a:spLocks noGrp="1"/>
          </p:cNvSpPr>
          <p:nvPr/>
        </p:nvSpPr>
        <p:spPr>
          <a:xfrm>
            <a:off x="737234" y="2899785"/>
            <a:ext cx="491489" cy="39319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548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1</a:t>
            </a:r>
            <a:endParaRPr sz="16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F35D303-9265-4945-8AFE-992CF53280E2}"/>
              </a:ext>
            </a:extLst>
          </p:cNvPr>
          <p:cNvSpPr>
            <a:spLocks noGrp="1"/>
          </p:cNvSpPr>
          <p:nvPr/>
        </p:nvSpPr>
        <p:spPr>
          <a:xfrm>
            <a:off x="1327020" y="2899785"/>
            <a:ext cx="6770262" cy="29489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548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Guided project reasoning</a:t>
            </a:r>
            <a:endParaRPr sz="16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3BCBEEB-9609-47CE-AD3F-4EF82E3D513C}"/>
              </a:ext>
            </a:extLst>
          </p:cNvPr>
          <p:cNvSpPr>
            <a:spLocks noGrp="1"/>
          </p:cNvSpPr>
          <p:nvPr/>
        </p:nvSpPr>
        <p:spPr>
          <a:xfrm>
            <a:off x="1327020" y="3243828"/>
            <a:ext cx="6757974" cy="49148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355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Five phases structure inquiry without hidden autonomous agents</a:t>
            </a:r>
            <a:endParaRPr sz="160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6D9E400D-E7C4-4085-8C59-B1915C88B2B3}"/>
              </a:ext>
            </a:extLst>
          </p:cNvPr>
          <p:cNvSpPr>
            <a:spLocks noGrp="1"/>
          </p:cNvSpPr>
          <p:nvPr/>
        </p:nvSpPr>
        <p:spPr>
          <a:xfrm>
            <a:off x="786382" y="3882763"/>
            <a:ext cx="393191" cy="393191"/>
          </a:xfrm>
          <a:custGeom>
            <a:avLst/>
            <a:gdLst/>
            <a:ahLst/>
            <a:cxnLst/>
            <a:rect l="l" t="t" r="r" b="b"/>
            <a:pathLst>
              <a:path w="393191" h="393191">
                <a:moveTo>
                  <a:pt x="196596" y="0"/>
                </a:moveTo>
                <a:lnTo>
                  <a:pt x="196596" y="0"/>
                </a:lnTo>
                <a:cubicBezTo>
                  <a:pt x="305100" y="0"/>
                  <a:pt x="393191" y="88092"/>
                  <a:pt x="393191" y="196596"/>
                </a:cubicBezTo>
                <a:lnTo>
                  <a:pt x="393191" y="196596"/>
                </a:lnTo>
                <a:cubicBezTo>
                  <a:pt x="393191" y="305100"/>
                  <a:pt x="305100" y="393191"/>
                  <a:pt x="196596" y="393191"/>
                </a:cubicBezTo>
                <a:lnTo>
                  <a:pt x="196596" y="393191"/>
                </a:lnTo>
                <a:cubicBezTo>
                  <a:pt x="88092" y="393191"/>
                  <a:pt x="0" y="305100"/>
                  <a:pt x="0" y="196596"/>
                </a:cubicBezTo>
                <a:lnTo>
                  <a:pt x="0" y="196596"/>
                </a:lnTo>
                <a:cubicBezTo>
                  <a:pt x="0" y="88092"/>
                  <a:pt x="88092" y="0"/>
                  <a:pt x="196596" y="0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D205A96-7D0A-488B-BAB3-4599DF3383D4}"/>
              </a:ext>
            </a:extLst>
          </p:cNvPr>
          <p:cNvSpPr>
            <a:spLocks noGrp="1"/>
          </p:cNvSpPr>
          <p:nvPr/>
        </p:nvSpPr>
        <p:spPr>
          <a:xfrm>
            <a:off x="737234" y="3882763"/>
            <a:ext cx="491489" cy="39319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548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2</a:t>
            </a:r>
            <a:endParaRPr sz="16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B5121F13-9FCD-45DB-9386-71156CC86658}"/>
              </a:ext>
            </a:extLst>
          </p:cNvPr>
          <p:cNvSpPr>
            <a:spLocks noGrp="1"/>
          </p:cNvSpPr>
          <p:nvPr/>
        </p:nvSpPr>
        <p:spPr>
          <a:xfrm>
            <a:off x="1327020" y="3882763"/>
            <a:ext cx="6770262" cy="29489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548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Evidence-aware coaching</a:t>
            </a:r>
            <a:endParaRPr sz="16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51EF5D9-9171-496D-8704-7F53C451EFAA}"/>
              </a:ext>
            </a:extLst>
          </p:cNvPr>
          <p:cNvSpPr>
            <a:spLocks noGrp="1"/>
          </p:cNvSpPr>
          <p:nvPr/>
        </p:nvSpPr>
        <p:spPr>
          <a:xfrm>
            <a:off x="1327020" y="4226806"/>
            <a:ext cx="6757974" cy="49148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355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Selected sources support claims and questions</a:t>
            </a:r>
            <a:endParaRPr sz="160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15FF8684-7A78-4B76-AB2D-D5A74B055740}"/>
              </a:ext>
            </a:extLst>
          </p:cNvPr>
          <p:cNvSpPr>
            <a:spLocks noGrp="1"/>
          </p:cNvSpPr>
          <p:nvPr/>
        </p:nvSpPr>
        <p:spPr>
          <a:xfrm>
            <a:off x="786382" y="4865741"/>
            <a:ext cx="393191" cy="393191"/>
          </a:xfrm>
          <a:custGeom>
            <a:avLst/>
            <a:gdLst/>
            <a:ahLst/>
            <a:cxnLst/>
            <a:rect l="l" t="t" r="r" b="b"/>
            <a:pathLst>
              <a:path w="393191" h="393191">
                <a:moveTo>
                  <a:pt x="196596" y="0"/>
                </a:moveTo>
                <a:lnTo>
                  <a:pt x="196596" y="0"/>
                </a:lnTo>
                <a:cubicBezTo>
                  <a:pt x="305100" y="0"/>
                  <a:pt x="393191" y="88092"/>
                  <a:pt x="393191" y="196596"/>
                </a:cubicBezTo>
                <a:lnTo>
                  <a:pt x="393191" y="196596"/>
                </a:lnTo>
                <a:cubicBezTo>
                  <a:pt x="393191" y="305100"/>
                  <a:pt x="305100" y="393191"/>
                  <a:pt x="196596" y="393191"/>
                </a:cubicBezTo>
                <a:lnTo>
                  <a:pt x="196596" y="393191"/>
                </a:lnTo>
                <a:cubicBezTo>
                  <a:pt x="88092" y="393191"/>
                  <a:pt x="0" y="305100"/>
                  <a:pt x="0" y="196596"/>
                </a:cubicBezTo>
                <a:lnTo>
                  <a:pt x="0" y="196596"/>
                </a:lnTo>
                <a:cubicBezTo>
                  <a:pt x="0" y="88092"/>
                  <a:pt x="88092" y="0"/>
                  <a:pt x="196596" y="0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13BDE72F-9B4C-4870-A720-A7FEF32D1BE1}"/>
              </a:ext>
            </a:extLst>
          </p:cNvPr>
          <p:cNvSpPr>
            <a:spLocks noGrp="1"/>
          </p:cNvSpPr>
          <p:nvPr/>
        </p:nvSpPr>
        <p:spPr>
          <a:xfrm>
            <a:off x="737234" y="4865741"/>
            <a:ext cx="491489" cy="39319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548" b="1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</a:rPr>
              <a:t>3</a:t>
            </a:r>
            <a:endParaRPr sz="16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6DC7F4C3-4CE0-41AA-8D70-69C37C7E82C0}"/>
              </a:ext>
            </a:extLst>
          </p:cNvPr>
          <p:cNvSpPr>
            <a:spLocks noGrp="1"/>
          </p:cNvSpPr>
          <p:nvPr/>
        </p:nvSpPr>
        <p:spPr>
          <a:xfrm>
            <a:off x="1327020" y="4865741"/>
            <a:ext cx="6770262" cy="29489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548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Reflective progress</a:t>
            </a:r>
            <a:endParaRPr sz="16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DC127A2D-739C-4400-8DD7-D89A535D6D94}"/>
              </a:ext>
            </a:extLst>
          </p:cNvPr>
          <p:cNvSpPr>
            <a:spLocks noGrp="1"/>
          </p:cNvSpPr>
          <p:nvPr/>
        </p:nvSpPr>
        <p:spPr>
          <a:xfrm>
            <a:off x="1327020" y="5209784"/>
            <a:ext cx="6757974" cy="49148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355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Quick/Strict profiles and Review preserve demonstrated evidence</a:t>
            </a:r>
            <a:endParaRPr sz="160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FB492403-63DC-4F06-90A1-3D5221FF9DD9}"/>
              </a:ext>
            </a:extLst>
          </p:cNvPr>
          <p:cNvSpPr>
            <a:spLocks noGrp="1"/>
          </p:cNvSpPr>
          <p:nvPr/>
        </p:nvSpPr>
        <p:spPr>
          <a:xfrm>
            <a:off x="8273297" y="2162552"/>
            <a:ext cx="7482921" cy="3735317"/>
          </a:xfrm>
          <a:custGeom>
            <a:avLst/>
            <a:gdLst/>
            <a:ahLst/>
            <a:cxnLst/>
            <a:rect l="l" t="t" r="r" b="b"/>
            <a:pathLst>
              <a:path w="7482921" h="3735317">
                <a:moveTo>
                  <a:pt x="0" y="0"/>
                </a:moveTo>
                <a:lnTo>
                  <a:pt x="7482921" y="0"/>
                </a:lnTo>
                <a:lnTo>
                  <a:pt x="7482921" y="3735317"/>
                </a:lnTo>
                <a:lnTo>
                  <a:pt x="0" y="3735317"/>
                </a:lnTo>
                <a:lnTo>
                  <a:pt x="0" y="0"/>
                </a:lnTo>
                <a:close/>
              </a:path>
            </a:pathLst>
          </a:custGeom>
          <a:solidFill>
            <a:srgbClr val="4A6D8A">
              <a:alpha val="1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E92B5BBA-8420-412C-80F1-E379B269FE14}"/>
              </a:ext>
            </a:extLst>
          </p:cNvPr>
          <p:cNvSpPr>
            <a:spLocks noGrp="1"/>
          </p:cNvSpPr>
          <p:nvPr/>
        </p:nvSpPr>
        <p:spPr>
          <a:xfrm>
            <a:off x="8273297" y="2162552"/>
            <a:ext cx="49149" cy="3735317"/>
          </a:xfrm>
          <a:custGeom>
            <a:avLst/>
            <a:gdLst/>
            <a:ahLst/>
            <a:cxnLst/>
            <a:rect l="l" t="t" r="r" b="b"/>
            <a:pathLst>
              <a:path w="49149" h="3735317">
                <a:moveTo>
                  <a:pt x="0" y="0"/>
                </a:moveTo>
                <a:lnTo>
                  <a:pt x="49149" y="0"/>
                </a:lnTo>
                <a:lnTo>
                  <a:pt x="49149" y="3735317"/>
                </a:lnTo>
                <a:lnTo>
                  <a:pt x="0" y="3735317"/>
                </a:lnTo>
                <a:lnTo>
                  <a:pt x="0" y="0"/>
                </a:ln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89658DD9-A47F-46E1-850E-36EA2E1CFA80}"/>
              </a:ext>
            </a:extLst>
          </p:cNvPr>
          <p:cNvSpPr>
            <a:spLocks noGrp="1"/>
          </p:cNvSpPr>
          <p:nvPr/>
        </p:nvSpPr>
        <p:spPr>
          <a:xfrm>
            <a:off x="8574334" y="2408296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5">
                <a:moveTo>
                  <a:pt x="61436" y="153590"/>
                </a:moveTo>
                <a:lnTo>
                  <a:pt x="11759" y="153590"/>
                </a:lnTo>
                <a:cubicBezTo>
                  <a:pt x="-192" y="153590"/>
                  <a:pt x="-7536" y="140583"/>
                  <a:pt x="-1392" y="130312"/>
                </a:cubicBezTo>
                <a:lnTo>
                  <a:pt x="23998" y="87978"/>
                </a:lnTo>
                <a:cubicBezTo>
                  <a:pt x="28174" y="81019"/>
                  <a:pt x="35662" y="76795"/>
                  <a:pt x="43773" y="76795"/>
                </a:cubicBezTo>
                <a:lnTo>
                  <a:pt x="89370" y="76795"/>
                </a:lnTo>
                <a:cubicBezTo>
                  <a:pt x="125896" y="14927"/>
                  <a:pt x="180373" y="11807"/>
                  <a:pt x="216802" y="17135"/>
                </a:cubicBezTo>
                <a:cubicBezTo>
                  <a:pt x="222946" y="18047"/>
                  <a:pt x="227746" y="22847"/>
                  <a:pt x="228610" y="28942"/>
                </a:cubicBezTo>
                <a:cubicBezTo>
                  <a:pt x="233937" y="65372"/>
                  <a:pt x="230817" y="119848"/>
                  <a:pt x="168949" y="156374"/>
                </a:cubicBezTo>
                <a:lnTo>
                  <a:pt x="168949" y="201971"/>
                </a:lnTo>
                <a:cubicBezTo>
                  <a:pt x="168949" y="210083"/>
                  <a:pt x="164726" y="217570"/>
                  <a:pt x="157766" y="221746"/>
                </a:cubicBezTo>
                <a:lnTo>
                  <a:pt x="115433" y="247136"/>
                </a:lnTo>
                <a:cubicBezTo>
                  <a:pt x="105209" y="253280"/>
                  <a:pt x="92154" y="245889"/>
                  <a:pt x="92154" y="233985"/>
                </a:cubicBezTo>
                <a:lnTo>
                  <a:pt x="92154" y="184308"/>
                </a:lnTo>
                <a:cubicBezTo>
                  <a:pt x="92154" y="167365"/>
                  <a:pt x="78379" y="153590"/>
                  <a:pt x="61436" y="153590"/>
                </a:cubicBezTo>
                <a:lnTo>
                  <a:pt x="61388" y="153590"/>
                </a:lnTo>
                <a:close/>
                <a:moveTo>
                  <a:pt x="191988" y="76795"/>
                </a:moveTo>
                <a:cubicBezTo>
                  <a:pt x="191988" y="64080"/>
                  <a:pt x="181665" y="53757"/>
                  <a:pt x="168949" y="53757"/>
                </a:cubicBezTo>
                <a:cubicBezTo>
                  <a:pt x="156234" y="53757"/>
                  <a:pt x="145911" y="64080"/>
                  <a:pt x="145911" y="76795"/>
                </a:cubicBezTo>
                <a:cubicBezTo>
                  <a:pt x="145911" y="89510"/>
                  <a:pt x="156234" y="99834"/>
                  <a:pt x="168949" y="99834"/>
                </a:cubicBezTo>
                <a:cubicBezTo>
                  <a:pt x="181665" y="99834"/>
                  <a:pt x="191988" y="89510"/>
                  <a:pt x="191988" y="76795"/>
                </a:cubicBez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0D2892B-35E5-49AD-9BD0-46EA2AE1504D}"/>
              </a:ext>
            </a:extLst>
          </p:cNvPr>
          <p:cNvSpPr>
            <a:spLocks noGrp="1"/>
          </p:cNvSpPr>
          <p:nvPr/>
        </p:nvSpPr>
        <p:spPr>
          <a:xfrm>
            <a:off x="8850796" y="2359147"/>
            <a:ext cx="7028293" cy="34404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935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What Lecturers Receive</a:t>
            </a:r>
            <a:endParaRPr sz="16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C15D558C-F934-48CA-B462-737C2B1C5FDB}"/>
              </a:ext>
            </a:extLst>
          </p:cNvPr>
          <p:cNvSpPr>
            <a:spLocks noGrp="1"/>
          </p:cNvSpPr>
          <p:nvPr/>
        </p:nvSpPr>
        <p:spPr>
          <a:xfrm>
            <a:off x="8543616" y="2899785"/>
            <a:ext cx="393191" cy="393191"/>
          </a:xfrm>
          <a:custGeom>
            <a:avLst/>
            <a:gdLst/>
            <a:ahLst/>
            <a:cxnLst/>
            <a:rect l="l" t="t" r="r" b="b"/>
            <a:pathLst>
              <a:path w="393191" h="393191">
                <a:moveTo>
                  <a:pt x="196596" y="0"/>
                </a:moveTo>
                <a:lnTo>
                  <a:pt x="196596" y="0"/>
                </a:lnTo>
                <a:cubicBezTo>
                  <a:pt x="305100" y="0"/>
                  <a:pt x="393191" y="88092"/>
                  <a:pt x="393191" y="196596"/>
                </a:cubicBezTo>
                <a:lnTo>
                  <a:pt x="393191" y="196596"/>
                </a:lnTo>
                <a:cubicBezTo>
                  <a:pt x="393191" y="305100"/>
                  <a:pt x="305100" y="393191"/>
                  <a:pt x="196596" y="393191"/>
                </a:cubicBezTo>
                <a:lnTo>
                  <a:pt x="196596" y="393191"/>
                </a:lnTo>
                <a:cubicBezTo>
                  <a:pt x="88092" y="393191"/>
                  <a:pt x="0" y="305100"/>
                  <a:pt x="0" y="196596"/>
                </a:cubicBezTo>
                <a:lnTo>
                  <a:pt x="0" y="196596"/>
                </a:lnTo>
                <a:cubicBezTo>
                  <a:pt x="0" y="88092"/>
                  <a:pt x="88092" y="0"/>
                  <a:pt x="196596" y="0"/>
                </a:cubicBez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99A7227A-674C-4B1B-9FB9-1A1342CBA149}"/>
              </a:ext>
            </a:extLst>
          </p:cNvPr>
          <p:cNvSpPr>
            <a:spLocks noGrp="1"/>
          </p:cNvSpPr>
          <p:nvPr/>
        </p:nvSpPr>
        <p:spPr>
          <a:xfrm>
            <a:off x="8494467" y="2899785"/>
            <a:ext cx="491489" cy="39319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548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1</a:t>
            </a:r>
            <a:endParaRPr sz="160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AE323394-D66B-41EF-BFDF-5098915B3092}"/>
              </a:ext>
            </a:extLst>
          </p:cNvPr>
          <p:cNvSpPr>
            <a:spLocks noGrp="1"/>
          </p:cNvSpPr>
          <p:nvPr/>
        </p:nvSpPr>
        <p:spPr>
          <a:xfrm>
            <a:off x="9084254" y="2899785"/>
            <a:ext cx="6770262" cy="29489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548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Attributable evidence</a:t>
            </a:r>
            <a:endParaRPr sz="160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E6B55B83-A629-49CB-8EDB-4472E7CD5BE6}"/>
              </a:ext>
            </a:extLst>
          </p:cNvPr>
          <p:cNvSpPr>
            <a:spLocks noGrp="1"/>
          </p:cNvSpPr>
          <p:nvPr/>
        </p:nvSpPr>
        <p:spPr>
          <a:xfrm>
            <a:off x="9084254" y="3243828"/>
            <a:ext cx="6757974" cy="49148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355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Student and notebook linkage with active transcript context</a:t>
            </a:r>
            <a:endParaRPr sz="1600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9AF1F4FA-2213-4CC4-AA87-61BE629EE4B2}"/>
              </a:ext>
            </a:extLst>
          </p:cNvPr>
          <p:cNvSpPr>
            <a:spLocks noGrp="1"/>
          </p:cNvSpPr>
          <p:nvPr/>
        </p:nvSpPr>
        <p:spPr>
          <a:xfrm>
            <a:off x="8543616" y="3882763"/>
            <a:ext cx="393191" cy="393191"/>
          </a:xfrm>
          <a:custGeom>
            <a:avLst/>
            <a:gdLst/>
            <a:ahLst/>
            <a:cxnLst/>
            <a:rect l="l" t="t" r="r" b="b"/>
            <a:pathLst>
              <a:path w="393191" h="393191">
                <a:moveTo>
                  <a:pt x="196596" y="0"/>
                </a:moveTo>
                <a:lnTo>
                  <a:pt x="196596" y="0"/>
                </a:lnTo>
                <a:cubicBezTo>
                  <a:pt x="305100" y="0"/>
                  <a:pt x="393191" y="88092"/>
                  <a:pt x="393191" y="196596"/>
                </a:cubicBezTo>
                <a:lnTo>
                  <a:pt x="393191" y="196596"/>
                </a:lnTo>
                <a:cubicBezTo>
                  <a:pt x="393191" y="305100"/>
                  <a:pt x="305100" y="393191"/>
                  <a:pt x="196596" y="393191"/>
                </a:cubicBezTo>
                <a:lnTo>
                  <a:pt x="196596" y="393191"/>
                </a:lnTo>
                <a:cubicBezTo>
                  <a:pt x="88092" y="393191"/>
                  <a:pt x="0" y="305100"/>
                  <a:pt x="0" y="196596"/>
                </a:cubicBezTo>
                <a:lnTo>
                  <a:pt x="0" y="196596"/>
                </a:lnTo>
                <a:cubicBezTo>
                  <a:pt x="0" y="88092"/>
                  <a:pt x="88092" y="0"/>
                  <a:pt x="196596" y="0"/>
                </a:cubicBez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E72B9B41-F118-4722-BA69-B52E6D7E62C2}"/>
              </a:ext>
            </a:extLst>
          </p:cNvPr>
          <p:cNvSpPr>
            <a:spLocks noGrp="1"/>
          </p:cNvSpPr>
          <p:nvPr/>
        </p:nvSpPr>
        <p:spPr>
          <a:xfrm>
            <a:off x="8494467" y="3882763"/>
            <a:ext cx="491489" cy="39319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548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2</a:t>
            </a:r>
            <a:endParaRPr sz="160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2CE9F07C-BA46-433C-BB90-81F993F12F59}"/>
              </a:ext>
            </a:extLst>
          </p:cNvPr>
          <p:cNvSpPr>
            <a:spLocks noGrp="1"/>
          </p:cNvSpPr>
          <p:nvPr/>
        </p:nvSpPr>
        <p:spPr>
          <a:xfrm>
            <a:off x="9084254" y="3882763"/>
            <a:ext cx="6770262" cy="29489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548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Human validation</a:t>
            </a:r>
            <a:endParaRPr sz="160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2A415CDE-E104-46E9-8D88-BCD1BAE65CC2}"/>
              </a:ext>
            </a:extLst>
          </p:cNvPr>
          <p:cNvSpPr>
            <a:spLocks noGrp="1"/>
          </p:cNvSpPr>
          <p:nvPr/>
        </p:nvSpPr>
        <p:spPr>
          <a:xfrm>
            <a:off x="9084254" y="4226806"/>
            <a:ext cx="6757974" cy="49148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355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Append-only review and adjudication over provisional codes</a:t>
            </a:r>
            <a:endParaRPr sz="1600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083719A4-4843-4D16-AD95-C41EF0A34F94}"/>
              </a:ext>
            </a:extLst>
          </p:cNvPr>
          <p:cNvSpPr>
            <a:spLocks noGrp="1"/>
          </p:cNvSpPr>
          <p:nvPr/>
        </p:nvSpPr>
        <p:spPr>
          <a:xfrm>
            <a:off x="8543616" y="4865741"/>
            <a:ext cx="393191" cy="393191"/>
          </a:xfrm>
          <a:custGeom>
            <a:avLst/>
            <a:gdLst/>
            <a:ahLst/>
            <a:cxnLst/>
            <a:rect l="l" t="t" r="r" b="b"/>
            <a:pathLst>
              <a:path w="393191" h="393191">
                <a:moveTo>
                  <a:pt x="196596" y="0"/>
                </a:moveTo>
                <a:lnTo>
                  <a:pt x="196596" y="0"/>
                </a:lnTo>
                <a:cubicBezTo>
                  <a:pt x="305100" y="0"/>
                  <a:pt x="393191" y="88092"/>
                  <a:pt x="393191" y="196596"/>
                </a:cubicBezTo>
                <a:lnTo>
                  <a:pt x="393191" y="196596"/>
                </a:lnTo>
                <a:cubicBezTo>
                  <a:pt x="393191" y="305100"/>
                  <a:pt x="305100" y="393191"/>
                  <a:pt x="196596" y="393191"/>
                </a:cubicBezTo>
                <a:lnTo>
                  <a:pt x="196596" y="393191"/>
                </a:lnTo>
                <a:cubicBezTo>
                  <a:pt x="88092" y="393191"/>
                  <a:pt x="0" y="305100"/>
                  <a:pt x="0" y="196596"/>
                </a:cubicBezTo>
                <a:lnTo>
                  <a:pt x="0" y="196596"/>
                </a:lnTo>
                <a:cubicBezTo>
                  <a:pt x="0" y="88092"/>
                  <a:pt x="88092" y="0"/>
                  <a:pt x="196596" y="0"/>
                </a:cubicBezTo>
                <a:close/>
              </a:path>
            </a:pathLst>
          </a:custGeom>
          <a:solidFill>
            <a:srgbClr val="4A6D8A"/>
          </a:solidFill>
        </p:spPr>
        <p:txBody>
          <a:bodyPr/>
          <a:lstStyle/>
          <a:p>
            <a:endParaRPr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9904BB15-DEDD-4C54-A71C-64597D620247}"/>
              </a:ext>
            </a:extLst>
          </p:cNvPr>
          <p:cNvSpPr>
            <a:spLocks noGrp="1"/>
          </p:cNvSpPr>
          <p:nvPr/>
        </p:nvSpPr>
        <p:spPr>
          <a:xfrm>
            <a:off x="8494467" y="4865741"/>
            <a:ext cx="491489" cy="39319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548" b="1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</a:rPr>
              <a:t>3</a:t>
            </a:r>
            <a:endParaRPr sz="160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17DFCE19-7C85-40BE-95BE-8C70879353C6}"/>
              </a:ext>
            </a:extLst>
          </p:cNvPr>
          <p:cNvSpPr>
            <a:spLocks noGrp="1"/>
          </p:cNvSpPr>
          <p:nvPr/>
        </p:nvSpPr>
        <p:spPr>
          <a:xfrm>
            <a:off x="9084254" y="4865741"/>
            <a:ext cx="6770262" cy="29489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548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Research export</a:t>
            </a:r>
            <a:endParaRPr sz="160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C7B78CA1-2CDB-4F87-A5D1-E1AA4CAB2902}"/>
              </a:ext>
            </a:extLst>
          </p:cNvPr>
          <p:cNvSpPr>
            <a:spLocks noGrp="1"/>
          </p:cNvSpPr>
          <p:nvPr/>
        </p:nvSpPr>
        <p:spPr>
          <a:xfrm>
            <a:off x="9084254" y="5209784"/>
            <a:ext cx="6757974" cy="49148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355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Filtered, formula-safe CSV with audited access</a:t>
            </a:r>
            <a:endParaRPr sz="1600"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ECE8814F-17E2-4FDE-8C94-BBE75285906E}"/>
              </a:ext>
            </a:extLst>
          </p:cNvPr>
          <p:cNvSpPr>
            <a:spLocks noGrp="1"/>
          </p:cNvSpPr>
          <p:nvPr/>
        </p:nvSpPr>
        <p:spPr>
          <a:xfrm>
            <a:off x="516063" y="6143613"/>
            <a:ext cx="15248447" cy="2015105"/>
          </a:xfrm>
          <a:custGeom>
            <a:avLst/>
            <a:gdLst/>
            <a:ahLst/>
            <a:cxnLst/>
            <a:rect l="l" t="t" r="r" b="b"/>
            <a:pathLst>
              <a:path w="15248447" h="2015105">
                <a:moveTo>
                  <a:pt x="0" y="0"/>
                </a:moveTo>
                <a:lnTo>
                  <a:pt x="15248447" y="0"/>
                </a:lnTo>
                <a:lnTo>
                  <a:pt x="15248447" y="2015105"/>
                </a:lnTo>
                <a:lnTo>
                  <a:pt x="0" y="2015105"/>
                </a:lnTo>
                <a:lnTo>
                  <a:pt x="0" y="0"/>
                </a:lnTo>
                <a:close/>
              </a:path>
            </a:pathLst>
          </a:custGeom>
          <a:solidFill>
            <a:srgbClr val="4A6D8A">
              <a:alpha val="1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1DBFF588-302A-4BF9-B11B-3FC290DBA252}"/>
              </a:ext>
            </a:extLst>
          </p:cNvPr>
          <p:cNvSpPr>
            <a:spLocks noGrp="1"/>
          </p:cNvSpPr>
          <p:nvPr/>
        </p:nvSpPr>
        <p:spPr>
          <a:xfrm>
            <a:off x="516063" y="6143613"/>
            <a:ext cx="49149" cy="2015105"/>
          </a:xfrm>
          <a:custGeom>
            <a:avLst/>
            <a:gdLst/>
            <a:ahLst/>
            <a:cxnLst/>
            <a:rect l="l" t="t" r="r" b="b"/>
            <a:pathLst>
              <a:path w="49149" h="2015105">
                <a:moveTo>
                  <a:pt x="0" y="0"/>
                </a:moveTo>
                <a:lnTo>
                  <a:pt x="49149" y="0"/>
                </a:lnTo>
                <a:lnTo>
                  <a:pt x="49149" y="2015105"/>
                </a:lnTo>
                <a:lnTo>
                  <a:pt x="0" y="2015105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01936CAC-AA42-4F0E-AA5D-DA40E832F7BD}"/>
              </a:ext>
            </a:extLst>
          </p:cNvPr>
          <p:cNvSpPr>
            <a:spLocks noGrp="1"/>
          </p:cNvSpPr>
          <p:nvPr/>
        </p:nvSpPr>
        <p:spPr>
          <a:xfrm>
            <a:off x="841675" y="6389358"/>
            <a:ext cx="258032" cy="294893"/>
          </a:xfrm>
          <a:custGeom>
            <a:avLst/>
            <a:gdLst/>
            <a:ahLst/>
            <a:cxnLst/>
            <a:rect l="l" t="t" r="r" b="b"/>
            <a:pathLst>
              <a:path w="258032" h="294893">
                <a:moveTo>
                  <a:pt x="18431" y="0"/>
                </a:moveTo>
                <a:cubicBezTo>
                  <a:pt x="28625" y="0"/>
                  <a:pt x="36862" y="8236"/>
                  <a:pt x="36862" y="18431"/>
                </a:cubicBezTo>
                <a:lnTo>
                  <a:pt x="36862" y="27646"/>
                </a:lnTo>
                <a:lnTo>
                  <a:pt x="76603" y="17740"/>
                </a:lnTo>
                <a:cubicBezTo>
                  <a:pt x="98547" y="12268"/>
                  <a:pt x="121701" y="14802"/>
                  <a:pt x="141975" y="24939"/>
                </a:cubicBezTo>
                <a:cubicBezTo>
                  <a:pt x="168642" y="38302"/>
                  <a:pt x="200032" y="38302"/>
                  <a:pt x="226699" y="24939"/>
                </a:cubicBezTo>
                <a:lnTo>
                  <a:pt x="232229" y="22175"/>
                </a:lnTo>
                <a:cubicBezTo>
                  <a:pt x="244093" y="16185"/>
                  <a:pt x="258032" y="24824"/>
                  <a:pt x="258032" y="38071"/>
                </a:cubicBezTo>
                <a:lnTo>
                  <a:pt x="258032" y="199168"/>
                </a:lnTo>
                <a:cubicBezTo>
                  <a:pt x="258032" y="206829"/>
                  <a:pt x="253251" y="213740"/>
                  <a:pt x="246052" y="216447"/>
                </a:cubicBezTo>
                <a:lnTo>
                  <a:pt x="226066" y="223935"/>
                </a:lnTo>
                <a:cubicBezTo>
                  <a:pt x="199456" y="233899"/>
                  <a:pt x="169852" y="232344"/>
                  <a:pt x="144452" y="219673"/>
                </a:cubicBezTo>
                <a:cubicBezTo>
                  <a:pt x="122623" y="208729"/>
                  <a:pt x="97568" y="206022"/>
                  <a:pt x="73896" y="211955"/>
                </a:cubicBezTo>
                <a:lnTo>
                  <a:pt x="36862" y="221170"/>
                </a:lnTo>
                <a:lnTo>
                  <a:pt x="36862" y="276463"/>
                </a:lnTo>
                <a:cubicBezTo>
                  <a:pt x="36862" y="286657"/>
                  <a:pt x="28625" y="294893"/>
                  <a:pt x="18431" y="294893"/>
                </a:cubicBezTo>
                <a:cubicBezTo>
                  <a:pt x="8236" y="294893"/>
                  <a:pt x="0" y="286657"/>
                  <a:pt x="0" y="276463"/>
                </a:cubicBezTo>
                <a:lnTo>
                  <a:pt x="0" y="18431"/>
                </a:lnTo>
                <a:cubicBezTo>
                  <a:pt x="0" y="8236"/>
                  <a:pt x="8236" y="0"/>
                  <a:pt x="18431" y="0"/>
                </a:cubicBezTo>
                <a:close/>
                <a:moveTo>
                  <a:pt x="36862" y="107763"/>
                </a:moveTo>
                <a:lnTo>
                  <a:pt x="73723" y="99757"/>
                </a:lnTo>
                <a:lnTo>
                  <a:pt x="73723" y="137483"/>
                </a:lnTo>
                <a:lnTo>
                  <a:pt x="36862" y="145488"/>
                </a:lnTo>
                <a:lnTo>
                  <a:pt x="36862" y="183214"/>
                </a:lnTo>
                <a:lnTo>
                  <a:pt x="64969" y="176187"/>
                </a:lnTo>
                <a:cubicBezTo>
                  <a:pt x="67906" y="175439"/>
                  <a:pt x="70786" y="174805"/>
                  <a:pt x="73723" y="174287"/>
                </a:cubicBezTo>
                <a:lnTo>
                  <a:pt x="73723" y="137483"/>
                </a:lnTo>
                <a:lnTo>
                  <a:pt x="96128" y="132644"/>
                </a:lnTo>
                <a:cubicBezTo>
                  <a:pt x="100909" y="131608"/>
                  <a:pt x="105747" y="131205"/>
                  <a:pt x="110585" y="131435"/>
                </a:cubicBezTo>
                <a:lnTo>
                  <a:pt x="110585" y="94573"/>
                </a:lnTo>
                <a:cubicBezTo>
                  <a:pt x="118418" y="94804"/>
                  <a:pt x="126251" y="96071"/>
                  <a:pt x="133854" y="98259"/>
                </a:cubicBezTo>
                <a:lnTo>
                  <a:pt x="147447" y="102234"/>
                </a:lnTo>
                <a:lnTo>
                  <a:pt x="147447" y="140650"/>
                </a:lnTo>
                <a:lnTo>
                  <a:pt x="123429" y="133566"/>
                </a:lnTo>
                <a:cubicBezTo>
                  <a:pt x="119224" y="132356"/>
                  <a:pt x="114905" y="131608"/>
                  <a:pt x="110585" y="131377"/>
                </a:cubicBezTo>
                <a:lnTo>
                  <a:pt x="110585" y="172501"/>
                </a:lnTo>
                <a:cubicBezTo>
                  <a:pt x="123141" y="173595"/>
                  <a:pt x="135524" y="176360"/>
                  <a:pt x="147447" y="180795"/>
                </a:cubicBezTo>
                <a:lnTo>
                  <a:pt x="147447" y="140593"/>
                </a:lnTo>
                <a:lnTo>
                  <a:pt x="160521" y="144452"/>
                </a:lnTo>
                <a:cubicBezTo>
                  <a:pt x="168297" y="146756"/>
                  <a:pt x="176245" y="148138"/>
                  <a:pt x="184308" y="148714"/>
                </a:cubicBezTo>
                <a:lnTo>
                  <a:pt x="184308" y="111737"/>
                </a:lnTo>
                <a:cubicBezTo>
                  <a:pt x="179816" y="111276"/>
                  <a:pt x="175323" y="110412"/>
                  <a:pt x="170946" y="109145"/>
                </a:cubicBezTo>
                <a:lnTo>
                  <a:pt x="147447" y="102234"/>
                </a:lnTo>
                <a:lnTo>
                  <a:pt x="147447" y="66524"/>
                </a:lnTo>
                <a:cubicBezTo>
                  <a:pt x="139959" y="64335"/>
                  <a:pt x="132587" y="61455"/>
                  <a:pt x="125445" y="57884"/>
                </a:cubicBezTo>
                <a:cubicBezTo>
                  <a:pt x="120722" y="55523"/>
                  <a:pt x="115711" y="53853"/>
                  <a:pt x="110585" y="52816"/>
                </a:cubicBezTo>
                <a:lnTo>
                  <a:pt x="110585" y="94516"/>
                </a:lnTo>
                <a:cubicBezTo>
                  <a:pt x="103098" y="94285"/>
                  <a:pt x="95610" y="94976"/>
                  <a:pt x="88295" y="96589"/>
                </a:cubicBezTo>
                <a:lnTo>
                  <a:pt x="73723" y="99757"/>
                </a:lnTo>
                <a:lnTo>
                  <a:pt x="73723" y="56444"/>
                </a:lnTo>
                <a:lnTo>
                  <a:pt x="36862" y="65660"/>
                </a:lnTo>
                <a:lnTo>
                  <a:pt x="36862" y="107763"/>
                </a:lnTo>
                <a:close/>
                <a:moveTo>
                  <a:pt x="184308" y="193351"/>
                </a:moveTo>
                <a:cubicBezTo>
                  <a:pt x="193985" y="194215"/>
                  <a:pt x="203834" y="192948"/>
                  <a:pt x="213107" y="189434"/>
                </a:cubicBezTo>
                <a:lnTo>
                  <a:pt x="221170" y="186439"/>
                </a:lnTo>
                <a:lnTo>
                  <a:pt x="221170" y="145143"/>
                </a:lnTo>
                <a:lnTo>
                  <a:pt x="216620" y="146180"/>
                </a:lnTo>
                <a:cubicBezTo>
                  <a:pt x="206022" y="148656"/>
                  <a:pt x="195137" y="149463"/>
                  <a:pt x="184308" y="148771"/>
                </a:cubicBezTo>
                <a:lnTo>
                  <a:pt x="184308" y="193351"/>
                </a:lnTo>
                <a:close/>
                <a:moveTo>
                  <a:pt x="221170" y="107302"/>
                </a:moveTo>
                <a:lnTo>
                  <a:pt x="221170" y="66524"/>
                </a:lnTo>
                <a:cubicBezTo>
                  <a:pt x="209132" y="70037"/>
                  <a:pt x="196749" y="71765"/>
                  <a:pt x="184308" y="71765"/>
                </a:cubicBezTo>
                <a:lnTo>
                  <a:pt x="184308" y="111737"/>
                </a:lnTo>
                <a:cubicBezTo>
                  <a:pt x="192314" y="112543"/>
                  <a:pt x="200435" y="112025"/>
                  <a:pt x="208326" y="110239"/>
                </a:cubicBezTo>
                <a:lnTo>
                  <a:pt x="221170" y="107244"/>
                </a:lnTo>
                <a:close/>
              </a:path>
            </a:pathLst>
          </a:custGeom>
          <a:solidFill>
            <a:srgbClr val="C8A97E"/>
          </a:solidFill>
        </p:spPr>
        <p:txBody>
          <a:bodyPr/>
          <a:lstStyle/>
          <a:p>
            <a:endParaRPr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10FD87CF-FC56-42B1-96EE-0A0A7F9CDA98}"/>
              </a:ext>
            </a:extLst>
          </p:cNvPr>
          <p:cNvSpPr>
            <a:spLocks noGrp="1"/>
          </p:cNvSpPr>
          <p:nvPr/>
        </p:nvSpPr>
        <p:spPr>
          <a:xfrm>
            <a:off x="1302446" y="6340209"/>
            <a:ext cx="11132227" cy="34404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  <a:buNone/>
            </a:pPr>
            <a:r>
              <a:rPr sz="1935" b="1">
                <a:solidFill>
                  <a:srgbClr val="E0E2E5"/>
                </a:solidFill>
                <a:latin typeface="Liter"/>
                <a:ea typeface="Liter"/>
                <a:cs typeface="Liter"/>
              </a:rPr>
              <a:t>Design Principle</a:t>
            </a:r>
            <a:endParaRPr sz="1600"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E5D5E1FD-32C0-440D-BD44-49805C206CC2}"/>
              </a:ext>
            </a:extLst>
          </p:cNvPr>
          <p:cNvSpPr>
            <a:spLocks noGrp="1"/>
          </p:cNvSpPr>
          <p:nvPr/>
        </p:nvSpPr>
        <p:spPr>
          <a:xfrm>
            <a:off x="1302446" y="6782549"/>
            <a:ext cx="11107652" cy="11795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  <a:buNone/>
            </a:pPr>
            <a:r>
              <a:rPr sz="1548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Design this as a CDE2300 learning workspace where AI quietly powers coaching, evidence and reflection.</a:t>
            </a:r>
            <a:endParaRPr sz="1600"/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DF0879CC-FBD1-40C5-A4F6-61DC68143E5A}"/>
              </a:ext>
            </a:extLst>
          </p:cNvPr>
          <p:cNvSpPr>
            <a:spLocks noGrp="1"/>
          </p:cNvSpPr>
          <p:nvPr/>
        </p:nvSpPr>
        <p:spPr>
          <a:xfrm>
            <a:off x="6235153" y="8404463"/>
            <a:ext cx="896967" cy="442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2902" b="1">
                <a:solidFill>
                  <a:srgbClr val="C8A97E"/>
                </a:solidFill>
                <a:latin typeface="Quattrocento Sans"/>
                <a:ea typeface="Quattrocento Sans"/>
                <a:cs typeface="Quattrocento Sans"/>
              </a:rPr>
              <a:t>5</a:t>
            </a:r>
            <a:endParaRPr sz="1600"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1B280DA0-3CD7-4ACB-955C-3B507D3AA815}"/>
              </a:ext>
            </a:extLst>
          </p:cNvPr>
          <p:cNvSpPr>
            <a:spLocks noGrp="1"/>
          </p:cNvSpPr>
          <p:nvPr/>
        </p:nvSpPr>
        <p:spPr>
          <a:xfrm>
            <a:off x="6284302" y="8895952"/>
            <a:ext cx="798670" cy="2457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55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Phases</a:t>
            </a:r>
            <a:endParaRPr sz="1600"/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F1530CEE-E541-4682-A1A2-C70F9BCADAAA}"/>
              </a:ext>
            </a:extLst>
          </p:cNvPr>
          <p:cNvSpPr>
            <a:spLocks noGrp="1"/>
          </p:cNvSpPr>
          <p:nvPr/>
        </p:nvSpPr>
        <p:spPr>
          <a:xfrm>
            <a:off x="7338239" y="8404463"/>
            <a:ext cx="1437605" cy="442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2902" b="1">
                <a:solidFill>
                  <a:srgbClr val="C8A97E"/>
                </a:solidFill>
                <a:latin typeface="Quattrocento Sans"/>
                <a:ea typeface="Quattrocento Sans"/>
                <a:cs typeface="Quattrocento Sans"/>
              </a:rPr>
              <a:t>6</a:t>
            </a:r>
            <a:endParaRPr sz="1600"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D93FA117-6EB8-4380-A977-DE9938C69E90}"/>
              </a:ext>
            </a:extLst>
          </p:cNvPr>
          <p:cNvSpPr>
            <a:spLocks noGrp="1"/>
          </p:cNvSpPr>
          <p:nvPr/>
        </p:nvSpPr>
        <p:spPr>
          <a:xfrm>
            <a:off x="7387388" y="8895952"/>
            <a:ext cx="1339308" cy="2457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55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Facione Lenses</a:t>
            </a:r>
            <a:endParaRPr sz="1600"/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BF618217-2552-4442-BC6E-34FCB4E29C77}"/>
              </a:ext>
            </a:extLst>
          </p:cNvPr>
          <p:cNvSpPr>
            <a:spLocks noGrp="1"/>
          </p:cNvSpPr>
          <p:nvPr/>
        </p:nvSpPr>
        <p:spPr>
          <a:xfrm>
            <a:off x="8979044" y="8404463"/>
            <a:ext cx="1032127" cy="442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2902" b="1">
                <a:solidFill>
                  <a:srgbClr val="C8A97E"/>
                </a:solidFill>
                <a:latin typeface="Quattrocento Sans"/>
                <a:ea typeface="Quattrocento Sans"/>
                <a:cs typeface="Quattrocento Sans"/>
              </a:rPr>
              <a:t>∞</a:t>
            </a:r>
            <a:endParaRPr sz="1600"/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066DA3A8-5CD4-4FBA-92D8-F04CB464F135}"/>
              </a:ext>
            </a:extLst>
          </p:cNvPr>
          <p:cNvSpPr>
            <a:spLocks noGrp="1"/>
          </p:cNvSpPr>
          <p:nvPr/>
        </p:nvSpPr>
        <p:spPr>
          <a:xfrm>
            <a:off x="9028193" y="8895952"/>
            <a:ext cx="933829" cy="2457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55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</a:rPr>
              <a:t>Iterations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55118327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ustom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ustom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2102</Words>
  <Application>Microsoft Macintosh PowerPoint</Application>
  <DocSecurity>0</DocSecurity>
  <PresentationFormat>Custom</PresentationFormat>
  <Paragraphs>469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Liter</vt:lpstr>
      <vt:lpstr>Calibri</vt:lpstr>
      <vt:lpstr>MiSans</vt:lpstr>
      <vt:lpstr>Quattrocento 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Boon Kai Ming</cp:lastModifiedBy>
  <cp:revision>1</cp:revision>
  <dcterms:created xsi:type="dcterms:W3CDTF">2026-08-14T01:46:11Z</dcterms:created>
  <dcterms:modified xsi:type="dcterms:W3CDTF">2026-08-14T02:14:01Z</dcterms:modified>
</cp:coreProperties>
</file>